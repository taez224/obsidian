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301" r:id="rId5"/>
    <p:sldId id="304" r:id="rId6"/>
    <p:sldId id="261" r:id="rId7"/>
    <p:sldId id="265" r:id="rId8"/>
    <p:sldId id="266" r:id="rId9"/>
    <p:sldId id="270" r:id="rId10"/>
    <p:sldId id="277" r:id="rId11"/>
    <p:sldId id="278" r:id="rId12"/>
    <p:sldId id="306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92" r:id="rId23"/>
    <p:sldId id="291" r:id="rId24"/>
    <p:sldId id="294" r:id="rId25"/>
    <p:sldId id="305" r:id="rId26"/>
    <p:sldId id="300" r:id="rId27"/>
    <p:sldId id="30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B8E9"/>
    <a:srgbClr val="F7A7E1"/>
    <a:srgbClr val="2D98AF"/>
    <a:srgbClr val="363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1020"/>
  </p:normalViewPr>
  <p:slideViewPr>
    <p:cSldViewPr snapToGrid="0" snapToObjects="1">
      <p:cViewPr varScale="1">
        <p:scale>
          <a:sx n="116" d="100"/>
          <a:sy n="116" d="100"/>
        </p:scale>
        <p:origin x="11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4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  <a:p>
            <a:pPr rtl="0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</a:p>
          <a:p>
            <a:pPr rtl="0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안녕하세요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조직도상에는 플랫폼 팀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실제로는 삼성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E&amp;A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현장에서 근무하고 있는 허태준 프로입니다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지금부터 “</a:t>
            </a:r>
            <a:r>
              <a:rPr lang="en" altLang="ko-KR" dirty="0"/>
              <a:t>AI </a:t>
            </a:r>
            <a:r>
              <a:rPr lang="ko-KR" altLang="en-US" dirty="0"/>
              <a:t>시대 플랫폼 팀의 역할과 핵심 </a:t>
            </a:r>
            <a:r>
              <a:rPr lang="ko-KR" altLang="en-US" dirty="0" err="1"/>
              <a:t>역량”이라는</a:t>
            </a:r>
            <a:r>
              <a:rPr lang="ko-KR" altLang="en-US" dirty="0"/>
              <a:t> 주제로 이야기하려 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남은 시간이 많지 않은 관계로 조금 빠르게 진행해보도록 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발표 흐름은 크게</a:t>
            </a:r>
            <a:r>
              <a:rPr lang="en-US" altLang="ko-KR" dirty="0"/>
              <a:t>,</a:t>
            </a:r>
            <a:r>
              <a:rPr lang="ko-KR" altLang="en-US" dirty="0"/>
              <a:t> 현재 플랫폼 팀이 왜 중요한지 그리고 무엇에 집중하고 어떻게 실천할지</a:t>
            </a:r>
            <a:r>
              <a:rPr lang="en-US" altLang="ko-KR" dirty="0"/>
              <a:t>,</a:t>
            </a:r>
            <a:r>
              <a:rPr lang="ko-KR" altLang="en-US" dirty="0"/>
              <a:t> 이어서 그러기 위해 필요한 역량까지 차례로 진행해보겠습니다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세션에서 나온 내용이라 간단히 짚어보면</a:t>
            </a:r>
            <a:r>
              <a:rPr lang="en-US" altLang="ko-KR" dirty="0"/>
              <a:t>,</a:t>
            </a:r>
            <a:r>
              <a:rPr lang="ko-KR" altLang="en-US" dirty="0"/>
              <a:t> 지금의 개발 환경은 </a:t>
            </a:r>
            <a:r>
              <a:rPr lang="ko-KR" altLang="en-US" dirty="0" err="1"/>
              <a:t>마이크로서비스</a:t>
            </a:r>
            <a:r>
              <a:rPr lang="en-US" altLang="ko-KR" dirty="0"/>
              <a:t>, </a:t>
            </a:r>
            <a:r>
              <a:rPr lang="ko-KR" altLang="en-US" dirty="0"/>
              <a:t>클라우드</a:t>
            </a:r>
            <a:r>
              <a:rPr lang="en-US" altLang="ko-KR" dirty="0"/>
              <a:t>, </a:t>
            </a:r>
            <a:r>
              <a:rPr lang="ko-KR" altLang="en-US" dirty="0"/>
              <a:t>그리고 이제는 </a:t>
            </a:r>
            <a:r>
              <a:rPr lang="en" altLang="ko-KR" dirty="0"/>
              <a:t>AI</a:t>
            </a:r>
            <a:r>
              <a:rPr lang="ko-KR" altLang="en-US" dirty="0"/>
              <a:t>까지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단순히 기술이 많아진 정도가 아니라</a:t>
            </a:r>
            <a:r>
              <a:rPr lang="en-US" altLang="ko-KR" dirty="0"/>
              <a:t>, </a:t>
            </a:r>
            <a:r>
              <a:rPr lang="ko-KR" altLang="en-US" dirty="0"/>
              <a:t>개발 환경의 </a:t>
            </a:r>
            <a:r>
              <a:rPr lang="ko-KR" altLang="en-US" b="1" dirty="0"/>
              <a:t>복잡성이 폭발적으로 증가했습</a:t>
            </a:r>
            <a:r>
              <a:rPr lang="ko-KR" altLang="en-US" dirty="0"/>
              <a:t>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개발자는 점점 더 많은 시스템과 도구를 다루면서</a:t>
            </a:r>
            <a:r>
              <a:rPr lang="en-US" altLang="ko-KR" dirty="0"/>
              <a:t>, ‘</a:t>
            </a:r>
            <a:r>
              <a:rPr lang="ko-KR" altLang="en-US" dirty="0" err="1"/>
              <a:t>개발’보다</a:t>
            </a:r>
            <a:r>
              <a:rPr lang="ko-KR" altLang="en-US" dirty="0"/>
              <a:t> ‘관리와 추적</a:t>
            </a:r>
            <a:r>
              <a:rPr lang="en-US" altLang="ko-KR" dirty="0"/>
              <a:t>'</a:t>
            </a:r>
            <a:r>
              <a:rPr lang="ko-KR" altLang="en-US" dirty="0"/>
              <a:t>의 비중이 늘어났습니다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" altLang="ko-KR" dirty="0"/>
              <a:t>Stripe </a:t>
            </a:r>
            <a:r>
              <a:rPr lang="ko-KR" altLang="en-US" dirty="0"/>
              <a:t>조사에 따르면</a:t>
            </a:r>
            <a:r>
              <a:rPr lang="en-US" altLang="ko-KR" dirty="0"/>
              <a:t>, </a:t>
            </a:r>
            <a:r>
              <a:rPr lang="ko-KR" altLang="en-US" dirty="0"/>
              <a:t>개발자의 업무 중 </a:t>
            </a:r>
            <a:r>
              <a:rPr lang="en-US" altLang="ko-KR" b="1" dirty="0"/>
              <a:t>40%</a:t>
            </a:r>
            <a:r>
              <a:rPr lang="ko-KR" altLang="en-US" b="1" dirty="0"/>
              <a:t>는 </a:t>
            </a:r>
            <a:r>
              <a:rPr lang="ko-KR" altLang="en-US" b="1" dirty="0" err="1"/>
              <a:t>비개발</a:t>
            </a:r>
            <a:r>
              <a:rPr lang="ko-KR" altLang="en-US" b="1" dirty="0"/>
              <a:t> 업무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회의</a:t>
            </a:r>
            <a:r>
              <a:rPr lang="en-US" altLang="ko-KR" dirty="0"/>
              <a:t>, </a:t>
            </a:r>
            <a:r>
              <a:rPr lang="ko-KR" altLang="en-US" dirty="0"/>
              <a:t>태스크 관리</a:t>
            </a:r>
            <a:r>
              <a:rPr lang="en-US" altLang="ko-KR" dirty="0"/>
              <a:t>, </a:t>
            </a:r>
            <a:r>
              <a:rPr lang="ko-KR" altLang="en-US" dirty="0"/>
              <a:t>문서</a:t>
            </a:r>
            <a:r>
              <a:rPr lang="en-US" altLang="ko-KR" dirty="0"/>
              <a:t>, </a:t>
            </a:r>
            <a:r>
              <a:rPr lang="ko-KR" altLang="en-US" dirty="0"/>
              <a:t>커뮤니케이션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일주일 중 이틀은 비개발업무에만 소모된다는 뜻이죠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Microsoft </a:t>
            </a:r>
            <a:r>
              <a:rPr lang="ko-KR" altLang="en-US" dirty="0"/>
              <a:t>연구에서도 비슷한 내용이 나옵니다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소프트웨어 개발자의 ‘이상적인 근무 </a:t>
            </a:r>
            <a:r>
              <a:rPr lang="ko-KR" altLang="en-US" dirty="0" err="1"/>
              <a:t>주간’과</a:t>
            </a:r>
            <a:r>
              <a:rPr lang="ko-KR" altLang="en-US" dirty="0"/>
              <a:t> ‘실제 근무 </a:t>
            </a:r>
            <a:r>
              <a:rPr lang="ko-KR" altLang="en-US" dirty="0" err="1"/>
              <a:t>주간’을</a:t>
            </a:r>
            <a:r>
              <a:rPr lang="ko-KR" altLang="en-US" dirty="0"/>
              <a:t> 조사했는데요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개발자들은 설계와 코딩 같은 개발 업무에 </a:t>
            </a:r>
            <a:r>
              <a:rPr lang="en-US" altLang="ko-KR" dirty="0"/>
              <a:t>77%</a:t>
            </a:r>
            <a:r>
              <a:rPr lang="ko-KR" altLang="en-US" dirty="0"/>
              <a:t>의 시간을 쓰기를 원하지만</a:t>
            </a:r>
            <a:r>
              <a:rPr lang="en-US" altLang="ko-KR" dirty="0"/>
              <a:t>,</a:t>
            </a:r>
            <a:r>
              <a:rPr lang="ko-KR" altLang="en-US" dirty="0"/>
              <a:t> 실제 개발 업무에 사용되는 시간은 </a:t>
            </a:r>
            <a:r>
              <a:rPr lang="en-US" altLang="ko-KR" dirty="0"/>
              <a:t>58%</a:t>
            </a:r>
            <a:r>
              <a:rPr lang="ko-KR" altLang="en-US" dirty="0" err="1"/>
              <a:t>에</a:t>
            </a:r>
            <a:r>
              <a:rPr lang="ko-KR" altLang="en-US" dirty="0"/>
              <a:t> 불과했습니다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회의와 커뮤니케이션 고객 지원 같은 </a:t>
            </a:r>
            <a:r>
              <a:rPr lang="ko-KR" altLang="en-US" dirty="0" err="1"/>
              <a:t>비개발</a:t>
            </a:r>
            <a:r>
              <a:rPr lang="ko-KR" altLang="en-US" dirty="0"/>
              <a:t> 업무에 개발자의 이상보다 약 </a:t>
            </a:r>
            <a:r>
              <a:rPr lang="en-US" altLang="ko-KR" dirty="0"/>
              <a:t>20%</a:t>
            </a:r>
            <a:r>
              <a:rPr lang="ko-KR" altLang="en-US" dirty="0"/>
              <a:t>포인트 더 많은 시간이 소모된다는 거죠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그리고 </a:t>
            </a:r>
            <a:r>
              <a:rPr lang="en-US" altLang="ko-KR" dirty="0"/>
              <a:t>Microsoft </a:t>
            </a:r>
            <a:r>
              <a:rPr lang="ko-KR" altLang="en-US" dirty="0"/>
              <a:t>리서치의 최종 결론은 다음과 같습니다</a:t>
            </a:r>
            <a:r>
              <a:rPr lang="en-US" altLang="ko-KR" dirty="0"/>
              <a:t>.</a:t>
            </a:r>
            <a:r>
              <a:rPr lang="ko-KR" altLang="en-US" b="0" dirty="0"/>
              <a:t> </a:t>
            </a:r>
            <a:endParaRPr lang="en-US" altLang="ko-KR" b="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이 이상과 현실의 괴리가 </a:t>
            </a:r>
            <a:r>
              <a:rPr lang="ko-KR" altLang="en-US" dirty="0"/>
              <a:t>개발자의 </a:t>
            </a:r>
            <a:r>
              <a:rPr lang="ko-KR" altLang="en-US" b="1" dirty="0"/>
              <a:t>생산성과 업무 만족도에 직접적으로 부정적인 영향을 미치는 핵심 요인</a:t>
            </a:r>
            <a:r>
              <a:rPr lang="ko-KR" altLang="en-US" dirty="0"/>
              <a:t>이라는 겁니다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r>
              <a:rPr lang="ko-KR" altLang="en-US" dirty="0"/>
              <a:t>이건 단순한 업무 효율의 문제가 아니라는 거죠</a:t>
            </a:r>
            <a:r>
              <a:rPr lang="en-US" altLang="ko-KR" dirty="0"/>
              <a:t>.</a:t>
            </a:r>
            <a:r>
              <a:rPr lang="ko-KR" altLang="en-US" dirty="0"/>
              <a:t> 이 괴리는 개발자의 </a:t>
            </a:r>
            <a:r>
              <a:rPr lang="en-US" altLang="ko-KR" dirty="0"/>
              <a:t>‘</a:t>
            </a:r>
            <a:r>
              <a:rPr lang="ko-KR" altLang="en-US" dirty="0"/>
              <a:t>몰입의 시간</a:t>
            </a:r>
            <a:r>
              <a:rPr lang="en-US" altLang="ko-KR" dirty="0"/>
              <a:t>’</a:t>
            </a:r>
            <a:r>
              <a:rPr lang="ko-KR" altLang="en-US" dirty="0"/>
              <a:t>을 빼앗는 주체이고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이러한 상황이 누적되면 프로젝트의 속도와 품질</a:t>
            </a:r>
            <a:r>
              <a:rPr lang="en-US" altLang="ko-KR" dirty="0"/>
              <a:t>,</a:t>
            </a:r>
            <a:r>
              <a:rPr lang="ko-KR" altLang="en-US" dirty="0"/>
              <a:t> 사기가 동시에 흔들릴 수 있다는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https://</a:t>
            </a:r>
            <a:r>
              <a:rPr lang="en-US" altLang="ko-KR" sz="1200" dirty="0" err="1"/>
              <a:t>www.microsoft.com</a:t>
            </a:r>
            <a:r>
              <a:rPr lang="en-US" altLang="ko-KR" sz="1200" dirty="0"/>
              <a:t>/</a:t>
            </a:r>
            <a:r>
              <a:rPr lang="en-US" altLang="ko-KR" sz="1200" dirty="0" err="1"/>
              <a:t>en</a:t>
            </a:r>
            <a:r>
              <a:rPr lang="en-US" altLang="ko-KR" sz="1200" dirty="0"/>
              <a:t>-us/research/wp-content/uploads/2024/11/Time-Warp-Developer-Productivity-</a:t>
            </a:r>
            <a:r>
              <a:rPr lang="en-US" altLang="ko-KR" sz="1200" dirty="0" err="1"/>
              <a:t>Study.pdf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여기서 플랫폼 팀의 미션이 등장합니다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플랫폼팀의 </a:t>
            </a:r>
            <a:r>
              <a:rPr lang="en-US" altLang="ko-KR" b="1" dirty="0"/>
              <a:t>Goal</a:t>
            </a:r>
            <a:r>
              <a:rPr lang="ko-KR" altLang="en-US" b="1" dirty="0"/>
              <a:t>은 단순히 자동화 도구만 제공하는 게 아니라</a:t>
            </a:r>
            <a:r>
              <a:rPr lang="en-US" altLang="ko-KR" b="1" dirty="0"/>
              <a:t>, </a:t>
            </a:r>
            <a:r>
              <a:rPr lang="ko-KR" altLang="en-US" b="1" dirty="0"/>
              <a:t> 이 </a:t>
            </a:r>
            <a:r>
              <a:rPr lang="en-US" altLang="ko-KR" b="1" dirty="0"/>
              <a:t>‘</a:t>
            </a:r>
            <a:r>
              <a:rPr lang="ko-KR" altLang="en-US" b="1" dirty="0"/>
              <a:t>시간적 괴리</a:t>
            </a:r>
            <a:r>
              <a:rPr lang="en-US" altLang="ko-KR" b="1" dirty="0"/>
              <a:t>’</a:t>
            </a:r>
            <a:r>
              <a:rPr lang="ko-KR" altLang="en-US" b="1" dirty="0" err="1"/>
              <a:t>를</a:t>
            </a:r>
            <a:r>
              <a:rPr lang="ko-KR" altLang="en-US" b="1" dirty="0"/>
              <a:t> 줄여서 개발자의 ‘잃어버린 </a:t>
            </a:r>
            <a:r>
              <a:rPr lang="ko-KR" altLang="en-US" b="1" dirty="0" err="1"/>
              <a:t>시간’을</a:t>
            </a:r>
            <a:r>
              <a:rPr lang="ko-KR" altLang="en-US" b="1" dirty="0"/>
              <a:t> 되찾아주는 겁니다</a:t>
            </a:r>
            <a:r>
              <a:rPr lang="en-US" altLang="ko-KR" b="1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그럼 본론으로 들어가기 전에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IT</a:t>
            </a:r>
            <a:r>
              <a:rPr lang="ko-KR" altLang="en-US" dirty="0"/>
              <a:t> 조직에서 플랫폼 팀의 역할과 인식이 어떻게 </a:t>
            </a:r>
            <a:r>
              <a:rPr lang="ko-KR" altLang="en-US" dirty="0" err="1"/>
              <a:t>바뀌어왔는지</a:t>
            </a:r>
            <a:r>
              <a:rPr lang="ko-KR" altLang="en-US" dirty="0"/>
              <a:t> 먼저 짚고 넘어가보겠습니다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플랫폼팀의 진화를 한 장의 로드맵으로 보면 이렇게 정리할 수 있을 것 같습니다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과거엔 </a:t>
            </a:r>
            <a:r>
              <a:rPr lang="en" altLang="ko-KR" b="1" dirty="0"/>
              <a:t>Supporter</a:t>
            </a:r>
            <a:r>
              <a:rPr lang="en" altLang="ko-KR" dirty="0"/>
              <a:t>, </a:t>
            </a:r>
            <a:r>
              <a:rPr lang="ko-KR" altLang="en-US" dirty="0"/>
              <a:t>즉 인프라를 </a:t>
            </a:r>
            <a:r>
              <a:rPr lang="ko-KR" altLang="en-US" dirty="0" err="1"/>
              <a:t>안정화하는</a:t>
            </a:r>
            <a:r>
              <a:rPr lang="ko-KR" altLang="en-US" dirty="0"/>
              <a:t> 운영팀이었죠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현재는 클라우드와 </a:t>
            </a:r>
            <a:r>
              <a:rPr lang="ko-KR" altLang="en-US" dirty="0" err="1"/>
              <a:t>마이크로서비스로</a:t>
            </a:r>
            <a:r>
              <a:rPr lang="ko-KR" altLang="en-US" dirty="0"/>
              <a:t> 전환되면서 </a:t>
            </a:r>
            <a:r>
              <a:rPr lang="en-US" altLang="ko-KR" dirty="0"/>
              <a:t>DevOps</a:t>
            </a:r>
            <a:r>
              <a:rPr lang="ko-KR" altLang="en-US" dirty="0" err="1"/>
              <a:t>를</a:t>
            </a:r>
            <a:r>
              <a:rPr lang="ko-KR" altLang="en-US" dirty="0"/>
              <a:t> 포함한 조직의 효율과 속도를 높이는 가속기 </a:t>
            </a:r>
            <a:r>
              <a:rPr lang="ko-KR" altLang="en-US" b="1" dirty="0"/>
              <a:t>역할을 맡고 있죠</a:t>
            </a:r>
            <a:r>
              <a:rPr lang="en-US" altLang="ko-KR" b="1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그리고 </a:t>
            </a:r>
            <a:r>
              <a:rPr lang="en" altLang="ko-KR" dirty="0"/>
              <a:t>AI </a:t>
            </a:r>
            <a:r>
              <a:rPr lang="ko-KR" altLang="en-US" dirty="0"/>
              <a:t>시대엔 플랫폼팀이 조직의 </a:t>
            </a:r>
            <a:r>
              <a:rPr lang="ko-KR" altLang="en-US" b="1" dirty="0"/>
              <a:t>운영체제</a:t>
            </a:r>
            <a:r>
              <a:rPr lang="en-US" altLang="ko-KR" b="1" dirty="0"/>
              <a:t>(</a:t>
            </a:r>
            <a:r>
              <a:rPr lang="en" altLang="ko-KR" b="1" dirty="0"/>
              <a:t>OS)</a:t>
            </a:r>
            <a:r>
              <a:rPr lang="en" altLang="ko-KR" dirty="0"/>
              <a:t> </a:t>
            </a:r>
            <a:r>
              <a:rPr lang="ko-KR" altLang="en-US" dirty="0"/>
              <a:t>로 확장되고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이제 플랫폼팀은 </a:t>
            </a:r>
            <a:r>
              <a:rPr lang="en-US" altLang="ko-KR" dirty="0"/>
              <a:t>AI</a:t>
            </a:r>
            <a:r>
              <a:rPr lang="ko-KR" altLang="en-US" dirty="0"/>
              <a:t> 기술을</a:t>
            </a:r>
            <a:r>
              <a:rPr lang="en-US" altLang="ko-KR" dirty="0"/>
              <a:t>,</a:t>
            </a:r>
            <a:r>
              <a:rPr lang="ko-KR" altLang="en-US" dirty="0"/>
              <a:t> 조직 전반에 안전하게 내재화되도록</a:t>
            </a:r>
            <a:br>
              <a:rPr lang="en-US" altLang="ko-KR" dirty="0"/>
            </a:br>
            <a:r>
              <a:rPr lang="ko-KR" altLang="en-US" dirty="0"/>
              <a:t>기술</a:t>
            </a:r>
            <a:r>
              <a:rPr lang="en-US" altLang="ko-KR" dirty="0"/>
              <a:t>, </a:t>
            </a:r>
            <a:r>
              <a:rPr lang="ko-KR" altLang="en-US" dirty="0"/>
              <a:t>문화</a:t>
            </a:r>
            <a:r>
              <a:rPr lang="en-US" altLang="ko-KR" dirty="0"/>
              <a:t>, </a:t>
            </a:r>
            <a:r>
              <a:rPr lang="ko-KR" altLang="en-US" dirty="0"/>
              <a:t>협업이 유기적으로 작동하는 </a:t>
            </a:r>
            <a:r>
              <a:rPr lang="ko-KR" altLang="en-US" b="1" dirty="0"/>
              <a:t>환경을 구축하기 위해</a:t>
            </a:r>
            <a:r>
              <a:rPr lang="ko-KR" altLang="en-US" dirty="0"/>
              <a:t> </a:t>
            </a:r>
            <a:r>
              <a:rPr lang="ko-KR" altLang="en-US" dirty="0" err="1"/>
              <a:t>흩어져있고</a:t>
            </a:r>
            <a:r>
              <a:rPr lang="ko-KR" altLang="en-US" dirty="0"/>
              <a:t> 숨어있는 정보를 연결하여</a:t>
            </a:r>
            <a:r>
              <a:rPr lang="en-US" altLang="ko-KR" dirty="0"/>
              <a:t>,</a:t>
            </a:r>
            <a:r>
              <a:rPr lang="ko-KR" altLang="en-US" dirty="0"/>
              <a:t> 혁신과 안정성의 균형을 설계해야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앞으로의 플랫폼팀은 ‘</a:t>
            </a:r>
            <a:r>
              <a:rPr lang="ko-KR" altLang="en-US" dirty="0" err="1"/>
              <a:t>기술팀’을</a:t>
            </a:r>
            <a:r>
              <a:rPr lang="ko-KR" altLang="en-US" dirty="0"/>
              <a:t> 넘어 </a:t>
            </a:r>
            <a:r>
              <a:rPr lang="ko-KR" altLang="en-US" b="1" dirty="0"/>
              <a:t>조직의 지능</a:t>
            </a:r>
            <a:r>
              <a:rPr lang="en-US" altLang="ko-KR" b="1" dirty="0"/>
              <a:t>(</a:t>
            </a:r>
            <a:r>
              <a:rPr lang="en" altLang="ko-KR" b="1" dirty="0"/>
              <a:t>Intelligence)</a:t>
            </a:r>
            <a:r>
              <a:rPr lang="ko-KR" altLang="en-US" b="1" dirty="0"/>
              <a:t>을 설계하는 팀이</a:t>
            </a:r>
            <a:r>
              <a:rPr lang="ko-KR" altLang="en-US" dirty="0"/>
              <a:t> </a:t>
            </a:r>
            <a:r>
              <a:rPr lang="ko-KR" altLang="en-US" dirty="0" err="1"/>
              <a:t>되어야합니다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플랫폼팀이 다루어야 하는 두가지 핵심 축이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하나는 </a:t>
            </a:r>
            <a:r>
              <a:rPr lang="ko-KR" altLang="en-US" b="1" dirty="0"/>
              <a:t>개발자 경험</a:t>
            </a:r>
            <a:r>
              <a:rPr lang="en" altLang="ko-KR" dirty="0"/>
              <a:t> — </a:t>
            </a:r>
            <a:r>
              <a:rPr lang="ko-KR" altLang="en-US" dirty="0"/>
              <a:t>개발자가 얼마나 편리하게 일하느냐</a:t>
            </a:r>
            <a:r>
              <a:rPr lang="en-US" altLang="ko-KR" dirty="0"/>
              <a:t>.</a:t>
            </a:r>
            <a:r>
              <a:rPr lang="ko-KR" altLang="en-US" dirty="0"/>
              <a:t> 여기서 </a:t>
            </a:r>
            <a:r>
              <a:rPr lang="ko-KR" altLang="en-US" dirty="0" err="1"/>
              <a:t>편리하게란</a:t>
            </a:r>
            <a:r>
              <a:rPr lang="ko-KR" altLang="en-US" dirty="0"/>
              <a:t> ‘복잡성을 줄이고 몰입을 회복시키는 </a:t>
            </a:r>
            <a:r>
              <a:rPr lang="ko-KR" altLang="en-US" dirty="0" err="1"/>
              <a:t>경험’을</a:t>
            </a:r>
            <a:r>
              <a:rPr lang="ko-KR" altLang="en-US" dirty="0"/>
              <a:t> 말합니다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또 하나는 요즘 </a:t>
            </a:r>
            <a:r>
              <a:rPr lang="en-US" altLang="ko-KR" dirty="0"/>
              <a:t>DevRel</a:t>
            </a:r>
            <a:r>
              <a:rPr lang="ko-KR" altLang="en-US" dirty="0"/>
              <a:t>이라고 많이들 부르는 </a:t>
            </a:r>
            <a:r>
              <a:rPr lang="ko-KR" altLang="en-US" b="1" dirty="0"/>
              <a:t>개발자 관계</a:t>
            </a:r>
            <a:r>
              <a:rPr lang="en" altLang="ko-KR" dirty="0"/>
              <a:t> — </a:t>
            </a:r>
            <a:r>
              <a:rPr lang="ko-KR" altLang="en-US" dirty="0"/>
              <a:t>개발자 간 협업과 신뢰를 어떻게 구축하고 유지하느냐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플랫폼팀의 진짜 역할은 이 두 축을 연결하는 데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DX</a:t>
            </a:r>
            <a:r>
              <a:rPr lang="ko-KR" altLang="en-US" dirty="0"/>
              <a:t>로 표현되는 기술적인 축과 </a:t>
            </a:r>
            <a:r>
              <a:rPr lang="en-US" altLang="ko-KR" dirty="0"/>
              <a:t>DevRel</a:t>
            </a:r>
            <a:r>
              <a:rPr lang="ko-KR" altLang="en-US" dirty="0"/>
              <a:t>로 표현되는 관계적 신뢰가 결합될 때</a:t>
            </a:r>
            <a:r>
              <a:rPr lang="en-US" altLang="ko-KR" dirty="0"/>
              <a:t>, </a:t>
            </a:r>
            <a:r>
              <a:rPr lang="ko-KR" altLang="en-US" dirty="0"/>
              <a:t>그 조직의 </a:t>
            </a:r>
            <a:r>
              <a:rPr lang="ko-KR" altLang="en-US" b="1" dirty="0"/>
              <a:t>혁신 속도가</a:t>
            </a:r>
            <a:r>
              <a:rPr lang="ko-KR" altLang="en-US" dirty="0"/>
              <a:t> 결정됩니다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이런 </a:t>
            </a:r>
            <a:r>
              <a:rPr lang="en" altLang="ko-KR" dirty="0" err="1"/>
              <a:t>DevEx</a:t>
            </a:r>
            <a:r>
              <a:rPr lang="ko-KR" altLang="en-US" dirty="0"/>
              <a:t>와 </a:t>
            </a:r>
            <a:r>
              <a:rPr lang="en" altLang="ko-KR" dirty="0"/>
              <a:t>DevRel</a:t>
            </a:r>
            <a:r>
              <a:rPr lang="ko-KR" altLang="en-US" dirty="0"/>
              <a:t>을 통합적으로 구현한 대표적인 방식이 바로 </a:t>
            </a:r>
            <a:r>
              <a:rPr lang="ko-KR" altLang="en-US" b="1" dirty="0"/>
              <a:t>내부 개발자 플랫폼</a:t>
            </a:r>
            <a:r>
              <a:rPr lang="en-US" altLang="ko-KR" b="1" dirty="0"/>
              <a:t>(</a:t>
            </a:r>
            <a:r>
              <a:rPr lang="en" altLang="ko-KR" b="1" dirty="0"/>
              <a:t>IDP)</a:t>
            </a:r>
            <a:r>
              <a:rPr lang="en" altLang="ko-KR" dirty="0"/>
              <a:t>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" altLang="ko-KR" dirty="0"/>
              <a:t>IDP</a:t>
            </a:r>
            <a:r>
              <a:rPr lang="ko-KR" altLang="en-US" dirty="0"/>
              <a:t>는 개발자가 셀프서비스 방식으로 환경을 구성할 수 있게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필요한 리소스</a:t>
            </a:r>
            <a:r>
              <a:rPr lang="en-US" altLang="ko-KR" dirty="0"/>
              <a:t>, </a:t>
            </a:r>
            <a:r>
              <a:rPr lang="ko-KR" altLang="en-US" dirty="0"/>
              <a:t>문서</a:t>
            </a:r>
            <a:r>
              <a:rPr lang="en-US" altLang="ko-KR" dirty="0"/>
              <a:t>, </a:t>
            </a:r>
            <a:r>
              <a:rPr lang="ko-KR" altLang="en-US" dirty="0"/>
              <a:t>커뮤니티를 한 곳에 모아놓은 중앙 허브입니다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핵심은 개발자가 인프라를 ‘의식하지 않고 일할 수 있게 해주는 </a:t>
            </a:r>
            <a:r>
              <a:rPr lang="ko-KR" altLang="en-US" b="1" dirty="0" err="1"/>
              <a:t>것’입니다</a:t>
            </a:r>
            <a:r>
              <a:rPr lang="en-US" altLang="ko-KR" b="1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b="1" dirty="0"/>
              <a:t>Golden Path</a:t>
            </a:r>
            <a:r>
              <a:rPr lang="ko-KR" altLang="en-US" b="1" dirty="0"/>
              <a:t>는 </a:t>
            </a:r>
            <a:r>
              <a:rPr lang="en-US" altLang="ko-KR" b="1" dirty="0"/>
              <a:t>Google</a:t>
            </a:r>
            <a:r>
              <a:rPr lang="ko-KR" altLang="en-US" b="1" dirty="0"/>
              <a:t>이나 </a:t>
            </a:r>
            <a:r>
              <a:rPr lang="en-US" altLang="ko-KR" b="1" dirty="0"/>
              <a:t>Netflix</a:t>
            </a:r>
            <a:r>
              <a:rPr lang="ko-KR" altLang="en-US" b="1" dirty="0"/>
              <a:t>의 플랫폼 팀 사례에서 나오는 단어인데요</a:t>
            </a:r>
            <a:br>
              <a:rPr lang="en-US" altLang="ko-KR" dirty="0"/>
            </a:br>
            <a:endParaRPr lang="en-US" altLang="ko-KR" b="1" dirty="0"/>
          </a:p>
          <a:p>
            <a:r>
              <a:rPr lang="ko-KR" altLang="en-US" dirty="0"/>
              <a:t>골든 </a:t>
            </a:r>
            <a:r>
              <a:rPr lang="ko-KR" altLang="en-US" dirty="0" err="1"/>
              <a:t>패스란</a:t>
            </a:r>
            <a:r>
              <a:rPr lang="en-US" altLang="ko-KR" dirty="0"/>
              <a:t>, </a:t>
            </a:r>
            <a:r>
              <a:rPr lang="ko-KR" altLang="en-US" dirty="0"/>
              <a:t>개발자가 빠르고 안전하게 제품을 개발하고 배포할 수 있도록</a:t>
            </a:r>
            <a:br>
              <a:rPr lang="ko-KR" altLang="en-US" dirty="0"/>
            </a:br>
            <a:r>
              <a:rPr lang="ko-KR" altLang="en-US" b="1" dirty="0"/>
              <a:t>표준화된 경로를 미리 설계해둔 개발 루트</a:t>
            </a:r>
            <a:r>
              <a:rPr lang="ko-KR" altLang="en-US" dirty="0"/>
              <a:t>를 말합니다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이들의 핵심 철학은 명확한 기준을 제시하지만 </a:t>
            </a:r>
            <a:r>
              <a:rPr lang="ko-KR" altLang="en-US" dirty="0" err="1"/>
              <a:t>강제하지않고</a:t>
            </a:r>
            <a:r>
              <a:rPr lang="ko-KR" altLang="en-US" dirty="0"/>
              <a:t> 상황에 따른 유연함을 제공하는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여러가지 항목이 있는데 결국 의미하는 것은</a:t>
            </a:r>
            <a:r>
              <a:rPr lang="en-US" altLang="ko-KR" dirty="0"/>
              <a:t>, </a:t>
            </a:r>
            <a:r>
              <a:rPr lang="ko-KR" altLang="en-US" dirty="0"/>
              <a:t>플랫폼팀이 제시해야 할 것은 ‘</a:t>
            </a:r>
            <a:r>
              <a:rPr lang="ko-KR" altLang="en-US" dirty="0" err="1"/>
              <a:t>규칙’이</a:t>
            </a:r>
            <a:r>
              <a:rPr lang="ko-KR" altLang="en-US" dirty="0"/>
              <a:t> 아니라 ‘</a:t>
            </a:r>
            <a:r>
              <a:rPr lang="ko-KR" altLang="en-US" dirty="0" err="1"/>
              <a:t>길’입니다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그 길은 일방통행길이 아니라</a:t>
            </a:r>
            <a:r>
              <a:rPr lang="en-US" altLang="ko-KR" dirty="0"/>
              <a:t>,</a:t>
            </a:r>
            <a:r>
              <a:rPr lang="ko-KR" altLang="en-US" dirty="0"/>
              <a:t> 적절한 우회로나 갓길</a:t>
            </a:r>
            <a:r>
              <a:rPr lang="en-US" altLang="ko-KR" dirty="0"/>
              <a:t>,</a:t>
            </a:r>
            <a:r>
              <a:rPr lang="ko-KR" altLang="en-US" dirty="0"/>
              <a:t> 그리고 명확한 표지판이 </a:t>
            </a:r>
            <a:r>
              <a:rPr lang="ko-KR" altLang="en-US" dirty="0" err="1"/>
              <a:t>존재해야겠죠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비젠드에</a:t>
            </a:r>
            <a:r>
              <a:rPr lang="ko-KR" altLang="en-US" dirty="0"/>
              <a:t> 빗대어보면 우리가 </a:t>
            </a:r>
            <a:r>
              <a:rPr lang="ko-KR" altLang="en-US" dirty="0" err="1"/>
              <a:t>제공해야하는</a:t>
            </a:r>
            <a:r>
              <a:rPr lang="ko-KR" altLang="en-US" dirty="0"/>
              <a:t> 건 </a:t>
            </a:r>
            <a:r>
              <a:rPr lang="ko-KR" altLang="en-US" dirty="0" err="1"/>
              <a:t>비젠드</a:t>
            </a:r>
            <a:r>
              <a:rPr lang="ko-KR" altLang="en-US" dirty="0"/>
              <a:t> </a:t>
            </a:r>
            <a:r>
              <a:rPr lang="ko-KR" altLang="en-US" dirty="0" err="1"/>
              <a:t>룰셋이</a:t>
            </a:r>
            <a:r>
              <a:rPr lang="ko-KR" altLang="en-US" dirty="0"/>
              <a:t> 아니라 </a:t>
            </a:r>
            <a:r>
              <a:rPr lang="ko-KR" altLang="en-US" dirty="0" err="1"/>
              <a:t>비젠드</a:t>
            </a:r>
            <a:r>
              <a:rPr lang="ko-KR" altLang="en-US" dirty="0"/>
              <a:t> </a:t>
            </a:r>
            <a:r>
              <a:rPr lang="en-US" altLang="ko-KR" dirty="0"/>
              <a:t>way </a:t>
            </a:r>
            <a:r>
              <a:rPr lang="ko-KR" altLang="en-US" dirty="0" err="1"/>
              <a:t>라는거죠</a:t>
            </a:r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앞서 말씀드린 것처럼</a:t>
            </a:r>
            <a:r>
              <a:rPr lang="en-US" altLang="ko-KR" dirty="0"/>
              <a:t>,</a:t>
            </a:r>
            <a:r>
              <a:rPr lang="ko-KR" altLang="en-US" dirty="0"/>
              <a:t> 이제 플랫폼팀은 단순히 자동화 시스템을 구축하는 팀이 아니라</a:t>
            </a:r>
            <a:br>
              <a:rPr lang="ko-KR" altLang="en-US" dirty="0"/>
            </a:br>
            <a:r>
              <a:rPr lang="ko-KR" altLang="en-US" b="1" dirty="0"/>
              <a:t>조직의 지능을 설계하는 팀</a:t>
            </a:r>
            <a:r>
              <a:rPr lang="ko-KR" altLang="en-US" dirty="0"/>
              <a:t>으로 진화하고 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그렇다면 이런 역할을 수행하기 위해 필요한 역량은 무엇일까요</a:t>
            </a:r>
            <a:r>
              <a:rPr lang="en-US" altLang="ko-KR" dirty="0"/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흔히 플랫폼팀의 핵심을 ‘</a:t>
            </a:r>
            <a:r>
              <a:rPr lang="ko-KR" altLang="en-US" dirty="0" err="1"/>
              <a:t>기술력’으로</a:t>
            </a:r>
            <a:r>
              <a:rPr lang="ko-KR" altLang="en-US" dirty="0"/>
              <a:t> 생각하실 수 있는데</a:t>
            </a:r>
            <a:r>
              <a:rPr lang="en-US" altLang="ko-KR" dirty="0"/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플랫폼을 작동하게 </a:t>
            </a:r>
            <a:r>
              <a:rPr lang="ko-KR" altLang="en-US" dirty="0" err="1"/>
              <a:t>하는건</a:t>
            </a:r>
            <a:r>
              <a:rPr lang="ko-KR" altLang="en-US" dirty="0"/>
              <a:t> 기술이지만</a:t>
            </a:r>
            <a:r>
              <a:rPr lang="en-US" altLang="ko-KR" dirty="0"/>
              <a:t>,</a:t>
            </a:r>
            <a:r>
              <a:rPr lang="ko-KR" altLang="en-US" dirty="0"/>
              <a:t> 플랫폼의 성공을 좌우하는 것은 비기술적 역량에서 나옵니다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ko-KR" altLang="en-US" dirty="0"/>
          </a:p>
          <a:p>
            <a:r>
              <a:rPr lang="ko-KR" altLang="en-US" dirty="0"/>
              <a:t>물론 기술적 역량이 베이스로 </a:t>
            </a:r>
            <a:r>
              <a:rPr lang="ko-KR" altLang="en-US" dirty="0" err="1"/>
              <a:t>깔려있어야</a:t>
            </a:r>
            <a:r>
              <a:rPr lang="ko-KR" altLang="en-US" dirty="0"/>
              <a:t> 함은 당연합니다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기술적 역량에는 익숙한 키워드들이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클라우드</a:t>
            </a:r>
            <a:r>
              <a:rPr lang="en-US" altLang="ko-KR" dirty="0"/>
              <a:t>, </a:t>
            </a:r>
            <a:r>
              <a:rPr lang="en" altLang="ko-KR" dirty="0" err="1"/>
              <a:t>IaC</a:t>
            </a:r>
            <a:r>
              <a:rPr lang="en" altLang="ko-KR" dirty="0"/>
              <a:t>, CI/CD, </a:t>
            </a:r>
            <a:r>
              <a:rPr lang="ko-KR" altLang="en-US" dirty="0"/>
              <a:t>자동화</a:t>
            </a:r>
            <a:r>
              <a:rPr lang="en-US" altLang="ko-KR" dirty="0"/>
              <a:t>, </a:t>
            </a:r>
            <a:r>
              <a:rPr lang="ko-KR" altLang="en-US" dirty="0"/>
              <a:t>보안</a:t>
            </a:r>
            <a:r>
              <a:rPr lang="en-US" altLang="ko-KR" dirty="0"/>
              <a:t>, </a:t>
            </a:r>
            <a:r>
              <a:rPr lang="ko-KR" altLang="en-US" dirty="0"/>
              <a:t>신뢰성</a:t>
            </a:r>
            <a:r>
              <a:rPr lang="en-US" altLang="ko-KR" dirty="0"/>
              <a:t>, </a:t>
            </a:r>
            <a:r>
              <a:rPr lang="en" altLang="ko-KR" dirty="0"/>
              <a:t>AI </a:t>
            </a:r>
            <a:r>
              <a:rPr lang="ko-KR" altLang="en-US" dirty="0"/>
              <a:t>까지 모두 오늘 앞선 주제로도 나왔던 것들이죠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기술적 역량은 플랫폼의 신뢰를 구축하는 기반입니다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dirty="0"/>
            </a:br>
            <a:r>
              <a:rPr lang="ko-KR" altLang="en-US" dirty="0"/>
              <a:t>하지만 기술만으로는 충분하지 않습니다</a:t>
            </a:r>
            <a:r>
              <a:rPr lang="en-US" altLang="ko-KR" dirty="0"/>
              <a:t>. </a:t>
            </a:r>
            <a:r>
              <a:rPr lang="ko-KR" altLang="en-US" b="1" dirty="0"/>
              <a:t>기술은 플랫폼의 출발점이지</a:t>
            </a:r>
            <a:r>
              <a:rPr lang="en-US" altLang="ko-KR" b="1" dirty="0"/>
              <a:t>, </a:t>
            </a:r>
            <a:r>
              <a:rPr lang="ko-KR" altLang="en-US" b="1" dirty="0"/>
              <a:t>완성은 아닙니다</a:t>
            </a:r>
            <a:r>
              <a:rPr lang="en-US" altLang="ko-KR" b="1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왜냐하면 플랫폼의 채택은</a:t>
            </a:r>
            <a:r>
              <a:rPr lang="en-US" altLang="ko-KR" b="1" dirty="0"/>
              <a:t>,</a:t>
            </a:r>
            <a:r>
              <a:rPr lang="ko-KR" altLang="en-US" b="1" dirty="0"/>
              <a:t> 기술만이 결정하는 것이 아니거든요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1FB6-CB4C-BAA8-6CEE-1D113576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8DB10-0105-3547-AD3B-5B7E3D09F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59033-C815-AA7A-05E0-048D91408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여기서 잠깐 분위기를 환기할 겸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개발자의 생산성을 결정 짓는 진짜 요인에 대해 짚고 넘어가보겠습니다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개발자의 생산성은 무엇으로 결정될까요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흔히 이렇게 생각합니다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좋은 도구</a:t>
            </a:r>
            <a:r>
              <a:rPr lang="en-US" altLang="ko-KR" dirty="0"/>
              <a:t>, </a:t>
            </a:r>
            <a:r>
              <a:rPr lang="ko-KR" altLang="en-US" dirty="0"/>
              <a:t>빠른 </a:t>
            </a:r>
            <a:r>
              <a:rPr lang="en" altLang="ko-KR" dirty="0"/>
              <a:t>CI/CD, </a:t>
            </a:r>
            <a:r>
              <a:rPr lang="ko-KR" altLang="en-US" dirty="0"/>
              <a:t>깔끔한 코드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en" altLang="ko-KR" dirty="0"/>
              <a:t>Google</a:t>
            </a:r>
            <a:r>
              <a:rPr lang="ko-KR" altLang="en-US" dirty="0"/>
              <a:t>이 자사 개발자를 포함한 </a:t>
            </a:r>
            <a:r>
              <a:rPr lang="en-US" altLang="ko-KR" dirty="0"/>
              <a:t>600</a:t>
            </a:r>
            <a:r>
              <a:rPr lang="ko-KR" altLang="en-US" dirty="0"/>
              <a:t>여명을 대상으로 한 연구의 결과는 다릅니다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개발자의 생산성과 가장 높은 상관관계를 보인 요인들은 </a:t>
            </a:r>
            <a:r>
              <a:rPr lang="ko-KR" altLang="en-US" b="1" dirty="0"/>
              <a:t>사람의 심리적 요인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가장 상위 </a:t>
            </a:r>
            <a:r>
              <a:rPr lang="en-US" altLang="ko-KR" dirty="0"/>
              <a:t>3</a:t>
            </a:r>
            <a:r>
              <a:rPr lang="ko-KR" altLang="en-US" dirty="0"/>
              <a:t>가지 항목은</a:t>
            </a:r>
            <a:endParaRPr lang="en-US" altLang="ko-KR" dirty="0"/>
          </a:p>
          <a:p>
            <a:r>
              <a:rPr lang="ko-KR" altLang="en-US" dirty="0"/>
              <a:t>업무에 대한 동기부여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새로운 아이디어를 지지해주는 팀 문화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그리고 실질적이고 건설적인 피드백 유무였고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심지어 상위 </a:t>
            </a:r>
            <a:r>
              <a:rPr lang="en-US" altLang="ko-KR" dirty="0"/>
              <a:t>10</a:t>
            </a:r>
            <a:r>
              <a:rPr lang="ko-KR" altLang="en-US" dirty="0"/>
              <a:t>개의 항목에 기술적 요인은 단 하나도 없었습니다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개발자의 생산성을 결정짓는 건 도구나 기술이 아니라 </a:t>
            </a:r>
            <a:r>
              <a:rPr lang="ko-KR" altLang="en-US" b="1" dirty="0" err="1"/>
              <a:t>사람간의</a:t>
            </a:r>
            <a:r>
              <a:rPr lang="ko-KR" altLang="en-US" b="1" dirty="0"/>
              <a:t> 신뢰와 몰입감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개발자가 스스로 의미를 느끼고</a:t>
            </a:r>
            <a:r>
              <a:rPr lang="en-US" altLang="ko-KR" dirty="0"/>
              <a:t>, </a:t>
            </a:r>
            <a:r>
              <a:rPr lang="ko-KR" altLang="en-US" dirty="0"/>
              <a:t>동료에게 아이디어를 말할 수 있고</a:t>
            </a:r>
            <a:r>
              <a:rPr lang="en-US" altLang="ko-KR" dirty="0"/>
              <a:t>,</a:t>
            </a:r>
            <a:r>
              <a:rPr lang="ko-KR" altLang="en-US" dirty="0"/>
              <a:t> 그 아이디어가 </a:t>
            </a:r>
            <a:r>
              <a:rPr lang="ko-KR" altLang="en-US" dirty="0" err="1"/>
              <a:t>존중받을</a:t>
            </a:r>
            <a:r>
              <a:rPr lang="ko-KR" altLang="en-US" dirty="0"/>
              <a:t> 때</a:t>
            </a:r>
            <a:r>
              <a:rPr lang="en-US" altLang="ko-KR" dirty="0"/>
              <a:t>, </a:t>
            </a:r>
            <a:r>
              <a:rPr lang="ko-KR" altLang="en-US" dirty="0"/>
              <a:t>조직의 생산성이 올라갑니다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기술적 요인은 생산성의 바닥을 다지는 역할을 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하지만 비기술적 요인은 생산성의 천장을 끌어올립니다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따라서 플랫폼팀은 단순히 기술 제공자를 넘어서 </a:t>
            </a:r>
            <a:r>
              <a:rPr lang="ko-KR" altLang="en-US" b="1" dirty="0"/>
              <a:t>조직의 동기와 협업을 증폭시키는 조직 설계자</a:t>
            </a:r>
            <a:r>
              <a:rPr lang="ko-KR" altLang="en-US" dirty="0"/>
              <a:t>가 되어야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그럼</a:t>
            </a:r>
            <a:r>
              <a:rPr lang="en-US" altLang="ko-KR" dirty="0"/>
              <a:t>, </a:t>
            </a:r>
            <a:r>
              <a:rPr lang="ko-KR" altLang="en-US" dirty="0"/>
              <a:t>이런 환경을 만들기 위해</a:t>
            </a:r>
            <a:br>
              <a:rPr lang="ko-KR" altLang="en-US" dirty="0"/>
            </a:br>
            <a:r>
              <a:rPr lang="ko-KR" altLang="en-US" dirty="0"/>
              <a:t>플랫폼팀이 갖춰야 할 비기술적 역량은 무엇일까요</a:t>
            </a:r>
            <a:r>
              <a:rPr lang="en-US" altLang="ko-KR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2F1B1-E8FF-429B-4FDC-60D1C4BFB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14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플랫폼팀은 조직 안에서 독특한 위치에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직접적인 권한은 가지고 있지 않지만</a:t>
            </a:r>
            <a:r>
              <a:rPr lang="en-US" altLang="ko-KR" dirty="0"/>
              <a:t>, </a:t>
            </a:r>
            <a:r>
              <a:rPr lang="ko-KR" altLang="en-US" dirty="0"/>
              <a:t>거의 모든 팀과 연결되어 있죠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플랫폼팀의 설득력은 </a:t>
            </a:r>
            <a:r>
              <a:rPr lang="ko-KR" altLang="en-US" b="1" dirty="0"/>
              <a:t>권위</a:t>
            </a:r>
            <a:r>
              <a:rPr lang="en-US" altLang="ko-KR" b="1" dirty="0"/>
              <a:t>(</a:t>
            </a:r>
            <a:r>
              <a:rPr lang="en" altLang="ko-KR" b="1" dirty="0"/>
              <a:t>authority)</a:t>
            </a:r>
            <a:r>
              <a:rPr lang="en" altLang="ko-KR" dirty="0"/>
              <a:t> </a:t>
            </a:r>
            <a:r>
              <a:rPr lang="ko-KR" altLang="en-US" dirty="0"/>
              <a:t>가 아니라 </a:t>
            </a:r>
            <a:r>
              <a:rPr lang="ko-KR" altLang="en-US" b="1" dirty="0"/>
              <a:t>영향력</a:t>
            </a:r>
            <a:r>
              <a:rPr lang="en-US" altLang="ko-KR" b="1" dirty="0"/>
              <a:t>(</a:t>
            </a:r>
            <a:r>
              <a:rPr lang="en" altLang="ko-KR" b="1" dirty="0"/>
              <a:t>influence)</a:t>
            </a:r>
            <a:r>
              <a:rPr lang="en" altLang="ko-KR" dirty="0"/>
              <a:t> </a:t>
            </a:r>
            <a:r>
              <a:rPr lang="ko-KR" altLang="en-US" dirty="0"/>
              <a:t>에서 나옵니다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우리가 어떤 기술을 만들었는지가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왜 이 기술이 개발자</a:t>
            </a:r>
            <a:r>
              <a:rPr lang="en-US" altLang="ko-KR" dirty="0"/>
              <a:t>/</a:t>
            </a:r>
            <a:r>
              <a:rPr lang="ko-KR" altLang="en-US" dirty="0"/>
              <a:t>팀에게 의미 있는지를 명확히 설명할 수 있어야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플랫폼 팀의 커뮤니케이션은 단순히 정보를 전달하는 행위가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이해의 흐름을 설계하는 일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커뮤니케이션은 플랫폼팀의 모든 </a:t>
            </a:r>
            <a:r>
              <a:rPr lang="ko-KR" altLang="en-US" dirty="0" err="1"/>
              <a:t>비기술</a:t>
            </a:r>
            <a:r>
              <a:rPr lang="ko-KR" altLang="en-US" dirty="0"/>
              <a:t> 역량의 뿌리입니다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다음으로</a:t>
            </a:r>
            <a:r>
              <a:rPr lang="en-US" altLang="ko-KR" dirty="0"/>
              <a:t>, </a:t>
            </a:r>
            <a:r>
              <a:rPr lang="ko-KR" altLang="en-US" dirty="0"/>
              <a:t>그 커뮤니케이션은 ‘</a:t>
            </a:r>
            <a:r>
              <a:rPr lang="ko-KR" altLang="en-US" dirty="0" err="1"/>
              <a:t>제품적</a:t>
            </a:r>
            <a:r>
              <a:rPr lang="ko-KR" altLang="en-US" dirty="0"/>
              <a:t> </a:t>
            </a:r>
            <a:r>
              <a:rPr lang="ko-KR" altLang="en-US" dirty="0" err="1"/>
              <a:t>사고’를</a:t>
            </a:r>
            <a:r>
              <a:rPr lang="ko-KR" altLang="en-US" dirty="0"/>
              <a:t> </a:t>
            </a:r>
            <a:r>
              <a:rPr lang="ko-KR" altLang="en-US" dirty="0" err="1"/>
              <a:t>바탕으로해야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플랫폼 팀이 흔히 빠지는 함정이 </a:t>
            </a:r>
            <a:r>
              <a:rPr lang="ko-KR" altLang="en-US" b="1" dirty="0"/>
              <a:t>“우리는 기술팀이다</a:t>
            </a:r>
            <a:r>
              <a:rPr lang="en-US" altLang="ko-KR" b="1" dirty="0"/>
              <a:t>.”</a:t>
            </a:r>
            <a:r>
              <a:rPr lang="ko-KR" altLang="en-US" dirty="0"/>
              <a:t> 라는 인식입니다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하지만 플랫폼 팀은 내부 개발자를 고객으로 두는 제품팀이라고 스스로를 </a:t>
            </a:r>
            <a:r>
              <a:rPr lang="ko-KR" altLang="en-US" dirty="0" err="1"/>
              <a:t>인식해야합니다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플랫폼은 내부 개발자라는 고객을 가진 제품이다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이러한 </a:t>
            </a:r>
            <a:r>
              <a:rPr lang="en-US" altLang="ko-KR" dirty="0"/>
              <a:t>Product</a:t>
            </a:r>
            <a:r>
              <a:rPr lang="ko-KR" altLang="en-US" dirty="0"/>
              <a:t> 마인드셋이 플랫폼 팀에 </a:t>
            </a:r>
            <a:r>
              <a:rPr lang="ko-KR" altLang="en-US" dirty="0" err="1"/>
              <a:t>내재되어있어야합니다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플랫폼팀은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“이 기능이 기술적으로 가능한지에 앞서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이걸 개발자가 쓸까</a:t>
            </a:r>
            <a:r>
              <a:rPr lang="en-US" altLang="ko-KR" dirty="0"/>
              <a:t>?’</a:t>
            </a:r>
            <a:r>
              <a:rPr lang="ko-KR" altLang="en-US" dirty="0" err="1"/>
              <a:t>를</a:t>
            </a:r>
            <a:r>
              <a:rPr lang="ko-KR" altLang="en-US" dirty="0"/>
              <a:t> 먼저 물어야 합니다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플랫폼은 ‘기능의 </a:t>
            </a:r>
            <a:r>
              <a:rPr lang="ko-KR" altLang="en-US" dirty="0" err="1"/>
              <a:t>총합’이</a:t>
            </a:r>
            <a:r>
              <a:rPr lang="ko-KR" altLang="en-US" dirty="0"/>
              <a:t> 아니라 ‘경험의 </a:t>
            </a:r>
            <a:r>
              <a:rPr lang="ko-KR" altLang="en-US" dirty="0" err="1"/>
              <a:t>총체’입니다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개발자가 플랫폼을 ‘써야 해서’ </a:t>
            </a:r>
            <a:r>
              <a:rPr lang="ko-KR" altLang="en-US" dirty="0" err="1"/>
              <a:t>쓰는게</a:t>
            </a:r>
            <a:r>
              <a:rPr lang="ko-KR" altLang="en-US" dirty="0"/>
              <a:t> 아니라 ‘쓰고 싶어서’ 사용하게 만드는 것 </a:t>
            </a:r>
            <a:r>
              <a:rPr lang="en-US" altLang="ko-KR" dirty="0"/>
              <a:t>—</a:t>
            </a:r>
            <a:br>
              <a:rPr lang="en-US" altLang="ko-KR" dirty="0"/>
            </a:br>
            <a:r>
              <a:rPr lang="ko-KR" altLang="en-US" dirty="0"/>
              <a:t>그게 바로 제품 마인드셋의 지향점입니다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번째 역량은 </a:t>
            </a:r>
            <a:r>
              <a:rPr lang="ko-KR" altLang="en-US" b="1" dirty="0"/>
              <a:t>문서화와 교육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그리고 그 핵심은 “지식의 </a:t>
            </a:r>
            <a:r>
              <a:rPr lang="ko-KR" altLang="en-US" dirty="0" err="1"/>
              <a:t>시스템화”입니다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흔히 문서화를 ‘개발이 끝난 뒤의 부수 </a:t>
            </a:r>
            <a:r>
              <a:rPr lang="ko-KR" altLang="en-US" dirty="0" err="1"/>
              <a:t>작업’으로</a:t>
            </a:r>
            <a:r>
              <a:rPr lang="ko-KR" altLang="en-US" dirty="0"/>
              <a:t> 생각하는데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문서화는 단순한 기록이 아닙니다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b="1" dirty="0"/>
              <a:t>조직의 기억을 설계하는 일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" altLang="ko-KR" dirty="0"/>
              <a:t>AI </a:t>
            </a:r>
            <a:r>
              <a:rPr lang="ko-KR" altLang="en-US" dirty="0"/>
              <a:t>시대의 플랫폼팀은 세 가지 레벨에서 지식의 시스템 설계해야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입문자부터 시니어까지 같은 흐름으로 학습할 수 있게 하는 지식의 구조화</a:t>
            </a:r>
            <a:endParaRPr lang="en-US" altLang="ko-KR" dirty="0"/>
          </a:p>
          <a:p>
            <a:r>
              <a:rPr lang="ko-KR" altLang="en-US" dirty="0"/>
              <a:t>학습이 개인이 아니라 조직의 자산이 되도록 하는 </a:t>
            </a:r>
            <a:r>
              <a:rPr lang="ko-KR" altLang="en-US" b="1" dirty="0"/>
              <a:t>학습의 내재화</a:t>
            </a:r>
            <a:endParaRPr lang="en-US" altLang="ko-KR" dirty="0"/>
          </a:p>
          <a:p>
            <a:r>
              <a:rPr lang="ko-KR" altLang="en-US" b="1" dirty="0"/>
              <a:t>그리고 이제 </a:t>
            </a:r>
            <a:r>
              <a:rPr lang="en" altLang="ko-KR" b="1" dirty="0"/>
              <a:t>AI</a:t>
            </a:r>
            <a:r>
              <a:rPr lang="ko-KR" altLang="en-US" b="1" dirty="0" err="1"/>
              <a:t>를</a:t>
            </a:r>
            <a:r>
              <a:rPr lang="ko-KR" altLang="en-US" b="1" dirty="0"/>
              <a:t> 통해 그 가치를 극대화해 나가야 합니다</a:t>
            </a:r>
            <a:r>
              <a:rPr lang="en-US" altLang="ko-KR" b="1" dirty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그리고 이 모든 것을 아우르는 것이 바로 개발자 </a:t>
            </a:r>
            <a:r>
              <a:rPr lang="ko-KR" altLang="en-US" dirty="0" err="1"/>
              <a:t>공감력입니다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 논문에 따르면 </a:t>
            </a:r>
            <a:r>
              <a:rPr lang="en-US" altLang="ko-KR" dirty="0"/>
              <a:t>“</a:t>
            </a:r>
            <a:r>
              <a:rPr lang="ko-KR" altLang="en-US" dirty="0"/>
              <a:t>기술 도입의 성공과 실패는 기술 자체의 우수성보다 조직 구성원이 어떻게 </a:t>
            </a:r>
            <a:r>
              <a:rPr lang="ko-KR" altLang="en-US" dirty="0" err="1"/>
              <a:t>받아들이냐에</a:t>
            </a:r>
            <a:r>
              <a:rPr lang="ko-KR" altLang="en-US" dirty="0"/>
              <a:t> 달려있다</a:t>
            </a:r>
            <a:r>
              <a:rPr lang="en-US" altLang="ko-KR" dirty="0"/>
              <a:t>.</a:t>
            </a:r>
            <a:r>
              <a:rPr lang="ko-KR" altLang="en-US" dirty="0" err="1"/>
              <a:t>라</a:t>
            </a:r>
            <a:r>
              <a:rPr lang="ko-KR" altLang="en-US" b="1" dirty="0" err="1"/>
              <a:t>고</a:t>
            </a:r>
            <a:r>
              <a:rPr lang="ko-KR" altLang="en-US" b="1" dirty="0"/>
              <a:t> 합니다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아무리 뛰어난 플랫폼을 만들어도 그 기술을 사용하는 사람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즉 </a:t>
            </a:r>
            <a:r>
              <a:rPr lang="ko-KR" altLang="en-US" b="1" dirty="0"/>
              <a:t>개발자의 마음을 이해하지 못하면 실패합니다</a:t>
            </a:r>
            <a:r>
              <a:rPr lang="en-US" altLang="ko-KR" b="1" dirty="0"/>
              <a:t>.</a:t>
            </a:r>
            <a:endParaRPr lang="ko-KR" altLang="en-US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공감은 플랫폼 성공의 숨은 핵심 역량입니다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기술로 문제를 해결하기 전에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b="1" dirty="0"/>
              <a:t>왜 그 문제가 개발자에게 고통이 </a:t>
            </a:r>
            <a:r>
              <a:rPr lang="ko-KR" altLang="en-US" b="1" dirty="0" err="1"/>
              <a:t>되는지</a:t>
            </a:r>
            <a:r>
              <a:rPr lang="ko-KR" altLang="en-US" dirty="0" err="1"/>
              <a:t>부터</a:t>
            </a:r>
            <a:r>
              <a:rPr lang="ko-KR" altLang="en-US" dirty="0"/>
              <a:t> 이해해야 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여기서 말하는 공감은 감정이 아닙니다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ko-KR" altLang="en-US" b="1" dirty="0"/>
              <a:t>인지적 이해와 구조적 설계의 능력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우리는 개발자의 실제 여정을 관찰하며</a:t>
            </a:r>
            <a:r>
              <a:rPr lang="en-US" altLang="ko-KR" dirty="0"/>
              <a:t>,</a:t>
            </a:r>
            <a:r>
              <a:rPr lang="ko-KR" altLang="en-US" dirty="0"/>
              <a:t> 그들의 </a:t>
            </a:r>
            <a:r>
              <a:rPr lang="en-US" altLang="ko-KR" dirty="0"/>
              <a:t>Pain Point</a:t>
            </a:r>
            <a:r>
              <a:rPr lang="ko-KR" altLang="en-US" dirty="0" err="1"/>
              <a:t>를</a:t>
            </a:r>
            <a:r>
              <a:rPr lang="ko-KR" altLang="en-US" dirty="0"/>
              <a:t> 수집해야 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우리가 만든 플랫폼을 처음부터 직접 사용해보고</a:t>
            </a:r>
            <a:r>
              <a:rPr lang="en-US" altLang="ko-KR" dirty="0"/>
              <a:t>,</a:t>
            </a:r>
            <a:r>
              <a:rPr lang="ko-KR" altLang="en-US" dirty="0"/>
              <a:t> 사용하는 개발자 옆에서 어떻게 쓰는지 관찰하면서 발견된 마찰을 모두 기록합니다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이런 활동을 통해 플랫폼팀은 진짜 개발자의 삶을 구체적으로 </a:t>
            </a:r>
            <a:r>
              <a:rPr lang="ko-KR" altLang="en-US" dirty="0" err="1"/>
              <a:t>이해해야합니다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그러면</a:t>
            </a:r>
            <a:r>
              <a:rPr lang="en-US" altLang="ko-KR" dirty="0"/>
              <a:t>, </a:t>
            </a:r>
            <a:r>
              <a:rPr lang="ko-KR" altLang="en-US" dirty="0"/>
              <a:t>플랫폼 팀이 이 모든 노력을 </a:t>
            </a:r>
            <a:r>
              <a:rPr lang="ko-KR" altLang="en-US" b="1" dirty="0"/>
              <a:t>어떻게 측정하고 증명할 수 있을까요</a:t>
            </a:r>
            <a:r>
              <a:rPr lang="en-US" altLang="ko-KR" b="1" dirty="0"/>
              <a:t>?</a:t>
            </a:r>
            <a:endParaRPr lang="en-US" altLang="ko-KR" dirty="0"/>
          </a:p>
          <a:p>
            <a:br>
              <a:rPr lang="ko-KR" altLang="en-US" dirty="0"/>
            </a:br>
            <a:r>
              <a:rPr lang="ko-KR" altLang="en-US" dirty="0"/>
              <a:t>플랫폼의 성과는 하나의 숫자로 나타나지 않습니다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b="1" dirty="0"/>
              <a:t>기술의 언어와 감정의 언어</a:t>
            </a:r>
            <a:r>
              <a:rPr lang="en-US" altLang="ko-KR" dirty="0"/>
              <a:t>,</a:t>
            </a:r>
            <a:r>
              <a:rPr lang="ko-KR" altLang="en-US" dirty="0"/>
              <a:t> 이 두 가지를 함께 읽어야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중심에 있는 두 프레임워크가 바로</a:t>
            </a:r>
            <a:br>
              <a:rPr lang="ko-KR" altLang="en-US" dirty="0"/>
            </a:br>
            <a:r>
              <a:rPr lang="en" altLang="ko-KR" b="1" dirty="0"/>
              <a:t>DORA</a:t>
            </a:r>
            <a:r>
              <a:rPr lang="ko-KR" altLang="en-US" dirty="0"/>
              <a:t>와 </a:t>
            </a:r>
            <a:r>
              <a:rPr lang="en" altLang="ko-KR" b="1" dirty="0"/>
              <a:t>HEART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" altLang="ko-KR" b="1" dirty="0"/>
              <a:t>DORA</a:t>
            </a:r>
            <a:r>
              <a:rPr lang="ko-KR" altLang="en-US" dirty="0"/>
              <a:t>는 플랫폼의 기술적 신뢰도를</a:t>
            </a:r>
            <a:r>
              <a:rPr lang="en-US" altLang="ko-KR" dirty="0"/>
              <a:t>,</a:t>
            </a:r>
          </a:p>
          <a:p>
            <a:r>
              <a:rPr lang="en" altLang="ko-KR" b="1" dirty="0"/>
              <a:t>HEART</a:t>
            </a:r>
            <a:r>
              <a:rPr lang="ko-KR" altLang="en-US" dirty="0"/>
              <a:t>는 플랫폼 경험과 사용하는 개발자의 만족도를 측정합니다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---</a:t>
            </a:r>
          </a:p>
          <a:p>
            <a:br>
              <a:rPr lang="en-US" altLang="ko-KR" dirty="0"/>
            </a:br>
            <a:r>
              <a:rPr lang="ko-KR" altLang="en-US" dirty="0"/>
              <a:t>여기까지는 “플랫폼 팀의 </a:t>
            </a:r>
            <a:r>
              <a:rPr lang="ko-KR" altLang="en-US" dirty="0" err="1"/>
              <a:t>역량”에</a:t>
            </a:r>
            <a:r>
              <a:rPr lang="ko-KR" altLang="en-US" dirty="0"/>
              <a:t> 초점을 맞췄습니다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다음 파트에서는 이 역량을 가진 </a:t>
            </a:r>
            <a:r>
              <a:rPr lang="ko-KR" altLang="en-US" b="1" dirty="0"/>
              <a:t>사람</a:t>
            </a:r>
            <a:r>
              <a:rPr lang="en-US" altLang="ko-KR" b="1" dirty="0"/>
              <a:t>, </a:t>
            </a:r>
            <a:r>
              <a:rPr lang="ko-KR" altLang="en-US" b="1" dirty="0"/>
              <a:t>즉 플랫폼 엔지니어의 인재상</a:t>
            </a:r>
            <a:r>
              <a:rPr lang="ko-KR" altLang="en-US" dirty="0"/>
              <a:t>을 살펴보겠습니다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플랫폼 엔지니어의 가치는 한국인이 좋아하는 단어인 </a:t>
            </a:r>
            <a:r>
              <a:rPr lang="ko-KR" altLang="en-US" b="1" dirty="0"/>
              <a:t>레버리지</a:t>
            </a:r>
            <a:r>
              <a:rPr lang="en-US" altLang="ko-KR" b="1" dirty="0"/>
              <a:t>(</a:t>
            </a:r>
            <a:r>
              <a:rPr lang="en" altLang="ko-KR" b="1" dirty="0"/>
              <a:t>Leverage)</a:t>
            </a:r>
            <a:r>
              <a:rPr lang="en" altLang="ko-KR" dirty="0"/>
              <a:t> </a:t>
            </a:r>
            <a:r>
              <a:rPr lang="ko-KR" altLang="en-US" dirty="0" err="1"/>
              <a:t>에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단 한 번의 개선이 수십 명의 개발자에게 파급되죠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플랫폼 엔지니어는 “내 팀의 </a:t>
            </a:r>
            <a:r>
              <a:rPr lang="ko-KR" altLang="en-US" dirty="0" err="1"/>
              <a:t>문제”가</a:t>
            </a:r>
            <a:r>
              <a:rPr lang="ko-KR" altLang="en-US" dirty="0"/>
              <a:t> 아니라</a:t>
            </a:r>
            <a:br>
              <a:rPr lang="ko-KR" altLang="en-US" dirty="0"/>
            </a:br>
            <a:r>
              <a:rPr lang="ko-KR" altLang="en-US" b="1" dirty="0"/>
              <a:t>“이게 모든 팀이 겪는 공통 문제인가</a:t>
            </a:r>
            <a:r>
              <a:rPr lang="en-US" altLang="ko-KR" b="1" dirty="0"/>
              <a:t>?”</a:t>
            </a:r>
            <a:r>
              <a:rPr lang="ko-KR" altLang="en-US" dirty="0"/>
              <a:t> </a:t>
            </a:r>
            <a:r>
              <a:rPr lang="ko-KR" altLang="en-US" dirty="0" err="1"/>
              <a:t>를</a:t>
            </a:r>
            <a:r>
              <a:rPr lang="ko-KR" altLang="en-US" dirty="0"/>
              <a:t> 먼저 묻습니다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질문 하나가 플랫폼 엔지니어의 사고를 </a:t>
            </a:r>
            <a:r>
              <a:rPr lang="ko-KR" altLang="en-US" b="1" dirty="0"/>
              <a:t>‘개별 문제 </a:t>
            </a:r>
            <a:r>
              <a:rPr lang="ko-KR" altLang="en-US" b="1" dirty="0" err="1"/>
              <a:t>해결’에서</a:t>
            </a:r>
            <a:r>
              <a:rPr lang="ko-KR" altLang="en-US" b="1" dirty="0"/>
              <a:t> ‘조직의 </a:t>
            </a:r>
            <a:r>
              <a:rPr lang="ko-KR" altLang="en-US" b="1" dirty="0" err="1"/>
              <a:t>최적화’로</a:t>
            </a:r>
            <a:r>
              <a:rPr lang="ko-KR" altLang="en-US" dirty="0"/>
              <a:t> </a:t>
            </a:r>
            <a:r>
              <a:rPr lang="ko-KR" altLang="en-US" dirty="0" err="1"/>
              <a:t>확장시킵니다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 개발자는 외부 고객이 사용할 기능을 만드는 사람입니다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하지만 플랫폼 엔지니어는 </a:t>
            </a:r>
            <a:r>
              <a:rPr lang="ko-KR" altLang="en-US" b="1" dirty="0"/>
              <a:t>기능을 더 잘 만들게 하는 사람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즉 </a:t>
            </a:r>
            <a:r>
              <a:rPr lang="ko-KR" altLang="en-US" b="1" dirty="0"/>
              <a:t>내부 개발자가 고객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일반 개발자의 결과물은 코드이고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플랫폼 엔지니어의 결과물은 </a:t>
            </a:r>
            <a:r>
              <a:rPr lang="ko-KR" altLang="en-US" b="1" dirty="0"/>
              <a:t>시스템과 도구</a:t>
            </a:r>
            <a:r>
              <a:rPr lang="en-US" altLang="ko-KR" b="1" dirty="0"/>
              <a:t>, </a:t>
            </a:r>
            <a:r>
              <a:rPr lang="ko-KR" altLang="en-US" b="1" dirty="0"/>
              <a:t>그리고 문화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두 역할의 차이는 기술이 아니라 </a:t>
            </a:r>
            <a:r>
              <a:rPr lang="ko-KR" altLang="en-US" b="1" dirty="0"/>
              <a:t>시야의 차이입니다</a:t>
            </a:r>
            <a:r>
              <a:rPr lang="en-US" altLang="ko-KR" b="1" dirty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이어지는 내용인데</a:t>
            </a:r>
            <a:endParaRPr lang="en-US" altLang="ko-KR" dirty="0"/>
          </a:p>
          <a:p>
            <a:r>
              <a:rPr lang="ko-KR" altLang="en-US" dirty="0"/>
              <a:t>일반 개발자는 </a:t>
            </a:r>
            <a:r>
              <a:rPr lang="en" altLang="ko-KR" b="1" dirty="0"/>
              <a:t>Output </a:t>
            </a:r>
            <a:r>
              <a:rPr lang="ko-KR" altLang="en-US" b="1" dirty="0" err="1"/>
              <a:t>으로</a:t>
            </a:r>
            <a:r>
              <a:rPr lang="ko-KR" altLang="en-US" b="1" dirty="0"/>
              <a:t> 가치가 측정된다면</a:t>
            </a:r>
            <a:r>
              <a:rPr lang="en-US" altLang="ko-KR" dirty="0"/>
              <a:t>,</a:t>
            </a:r>
            <a:r>
              <a:rPr lang="ko-KR" altLang="en-US" dirty="0"/>
              <a:t> 플랫폼 엔지니어는 </a:t>
            </a:r>
            <a:r>
              <a:rPr lang="en" altLang="ko-KR" b="1" dirty="0"/>
              <a:t>Outcome </a:t>
            </a:r>
            <a:r>
              <a:rPr lang="ko-KR" altLang="en-US" b="1" dirty="0" err="1"/>
              <a:t>으로</a:t>
            </a:r>
            <a:r>
              <a:rPr lang="ko-KR" altLang="en-US" b="1" dirty="0"/>
              <a:t> 나타납</a:t>
            </a:r>
            <a:r>
              <a:rPr lang="ko-KR" altLang="en-US" dirty="0"/>
              <a:t>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단순히 ‘무엇을 </a:t>
            </a:r>
            <a:r>
              <a:rPr lang="ko-KR" altLang="en-US" dirty="0" err="1"/>
              <a:t>만들었는가’보다</a:t>
            </a:r>
            <a:r>
              <a:rPr lang="ko-KR" altLang="en-US" dirty="0"/>
              <a:t> ‘그것이 조직에 어떤 변화를 </a:t>
            </a:r>
            <a:r>
              <a:rPr lang="ko-KR" altLang="en-US" dirty="0" err="1"/>
              <a:t>가져왔는가’를</a:t>
            </a:r>
            <a:r>
              <a:rPr lang="ko-KR" altLang="en-US" dirty="0"/>
              <a:t> </a:t>
            </a:r>
            <a:r>
              <a:rPr lang="ko-KR" altLang="en-US" dirty="0" err="1"/>
              <a:t>보는거죠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그렇기 때문에 플랫폼 팀의 시간은 다른 개발자의 시간과 약간은 다른 부분이 존재합니다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r>
              <a:rPr lang="ko-KR" altLang="en-US" dirty="0"/>
              <a:t>플랫폼 엔지니어의 하루는 기술과 사람 사이를 오가며 균형을 잡는 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코드 작성을 포함한 플랫폼 구축</a:t>
            </a:r>
            <a:r>
              <a:rPr lang="en-US" altLang="ko-KR" dirty="0"/>
              <a:t>,</a:t>
            </a:r>
            <a:r>
              <a:rPr lang="ko-KR" altLang="en-US" dirty="0"/>
              <a:t> 소통과 교육</a:t>
            </a:r>
            <a:r>
              <a:rPr lang="en-US" altLang="ko-KR" dirty="0"/>
              <a:t>,</a:t>
            </a:r>
            <a:r>
              <a:rPr lang="ko-KR" altLang="en-US" dirty="0"/>
              <a:t> 피드백과 개선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결국 플랫폼팀은 </a:t>
            </a:r>
            <a:r>
              <a:rPr lang="ko-KR" altLang="en-US" b="1" dirty="0"/>
              <a:t>‘기술과 사람의 간극을 메우는 하이브리드 역량을 </a:t>
            </a:r>
            <a:r>
              <a:rPr lang="ko-KR" altLang="en-US" b="1" dirty="0" err="1"/>
              <a:t>가져야합</a:t>
            </a:r>
            <a:r>
              <a:rPr lang="ko-KR" altLang="en-US" dirty="0" err="1"/>
              <a:t>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그렇다면 이런 역량을 가진 인재를 어떻게 찾을 수 있을까요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지금까지의 흐름에 빗추어보면 당연히</a:t>
            </a:r>
            <a:r>
              <a:rPr lang="en-US" altLang="ko-KR" dirty="0"/>
              <a:t>, </a:t>
            </a:r>
            <a:r>
              <a:rPr lang="ko-KR" altLang="en-US" dirty="0"/>
              <a:t>완벽한 기술 스펙을 가진 사람보다는</a:t>
            </a:r>
            <a:br>
              <a:rPr lang="ko-KR" altLang="en-US" dirty="0"/>
            </a:br>
            <a:r>
              <a:rPr lang="ko-KR" altLang="en-US" b="1" dirty="0"/>
              <a:t>조직의 맥락을 이해하고</a:t>
            </a:r>
            <a:r>
              <a:rPr lang="en-US" altLang="ko-KR" b="1" dirty="0"/>
              <a:t>, </a:t>
            </a:r>
            <a:r>
              <a:rPr lang="ko-KR" altLang="en-US" b="1" dirty="0"/>
              <a:t>변화에 공감할 수 있는 사람을</a:t>
            </a:r>
            <a:r>
              <a:rPr lang="ko-KR" altLang="en-US" dirty="0"/>
              <a:t> 우선 탐색해야 합니다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dirty="0"/>
              <a:t>그럼 내부에서는 어떤 사람이 플랫폼팀에 적합할까요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주목해야 할 몇 가지 ‘</a:t>
            </a:r>
            <a:r>
              <a:rPr lang="ko-KR" altLang="en-US" dirty="0" err="1"/>
              <a:t>시그널’이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누가 시키지 않아도 먼저 팀 내 비효율을 스스로 개선하는 사람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신입의 </a:t>
            </a:r>
            <a:r>
              <a:rPr lang="ko-KR" altLang="en-US" dirty="0" err="1"/>
              <a:t>온보딩을</a:t>
            </a:r>
            <a:r>
              <a:rPr lang="ko-KR" altLang="en-US" dirty="0"/>
              <a:t> 도와주며 문서를 정리하거나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오늘 같은 기술 세미나에 적극적으로 참여하는 사람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불만만 </a:t>
            </a:r>
            <a:r>
              <a:rPr lang="ko-KR" altLang="en-US" dirty="0" err="1"/>
              <a:t>말하는게</a:t>
            </a:r>
            <a:r>
              <a:rPr lang="ko-KR" altLang="en-US" dirty="0"/>
              <a:t> 아니라</a:t>
            </a:r>
            <a:r>
              <a:rPr lang="en-US" altLang="ko-KR" dirty="0"/>
              <a:t>,</a:t>
            </a:r>
            <a:r>
              <a:rPr lang="ko-KR" altLang="en-US" dirty="0"/>
              <a:t> ‘개선점을</a:t>
            </a:r>
            <a:r>
              <a:rPr lang="en-US" altLang="ko-KR" dirty="0"/>
              <a:t> </a:t>
            </a:r>
            <a:r>
              <a:rPr lang="ko-KR" altLang="en-US" dirty="0"/>
              <a:t>함께 제안</a:t>
            </a:r>
            <a:r>
              <a:rPr lang="en-US" altLang="ko-KR" dirty="0"/>
              <a:t>’</a:t>
            </a:r>
            <a:r>
              <a:rPr lang="ko-KR" altLang="en-US" dirty="0"/>
              <a:t>하는 사람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그리고 팀과 팀 사이의 다리를 놓아주는 </a:t>
            </a:r>
            <a:r>
              <a:rPr lang="ko-KR" altLang="en-US" b="1" dirty="0" err="1"/>
              <a:t>연결자</a:t>
            </a:r>
            <a:r>
              <a:rPr lang="ko-KR" altLang="en-US" dirty="0"/>
              <a:t> 같은 사람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이런 사람들은 이미 </a:t>
            </a:r>
            <a:r>
              <a:rPr lang="ko-KR" altLang="en-US" b="1" dirty="0"/>
              <a:t>플랫폼적 사고</a:t>
            </a:r>
            <a:r>
              <a:rPr lang="ko-KR" altLang="en-US" dirty="0"/>
              <a:t>를 하고 있는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물론 외부 인재도 필요합니다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외부에서는 현재 조직에 필요한 새로운 관점을 제시할 수 있는데</a:t>
            </a:r>
            <a:r>
              <a:rPr lang="en-US" altLang="ko-KR" dirty="0"/>
              <a:t>,</a:t>
            </a:r>
            <a:r>
              <a:rPr lang="ko-KR" altLang="en-US" dirty="0"/>
              <a:t> 거기에 전문성까지 보완할 수 있으면 </a:t>
            </a:r>
            <a:r>
              <a:rPr lang="ko-KR" altLang="en-US" dirty="0" err="1"/>
              <a:t>금상첨화겠죠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이렇게 다양한 역량이 필요하기 때문에</a:t>
            </a:r>
            <a:r>
              <a:rPr lang="en-US" altLang="ko-KR" dirty="0"/>
              <a:t>,</a:t>
            </a:r>
            <a:r>
              <a:rPr lang="ko-KR" altLang="en-US" dirty="0"/>
              <a:t> 플랫폼 팀은 한 사람의 슈퍼맨이 아니라 다양한 역량을 가진 팀원들의 조합이 필요합니다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즉 예를 들어 이런 식의 </a:t>
            </a:r>
            <a:r>
              <a:rPr lang="ko-KR" altLang="en-US" b="1" dirty="0"/>
              <a:t>서로 보완되는 소수정예 팀</a:t>
            </a:r>
            <a:r>
              <a:rPr lang="ko-KR" altLang="en-US" dirty="0"/>
              <a:t>이 필요합니다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아키텍처</a:t>
            </a:r>
            <a:r>
              <a:rPr lang="en-US" altLang="ko-KR" dirty="0"/>
              <a:t>·</a:t>
            </a:r>
            <a:r>
              <a:rPr lang="ko-KR" altLang="en-US" dirty="0"/>
              <a:t>가드레일을 설계하는 </a:t>
            </a:r>
            <a:r>
              <a:rPr lang="ko-KR" altLang="en-US" dirty="0" err="1"/>
              <a:t>테크</a:t>
            </a:r>
            <a:r>
              <a:rPr lang="ko-KR" altLang="en-US" dirty="0"/>
              <a:t> 리드</a:t>
            </a:r>
            <a:r>
              <a:rPr lang="en-US" altLang="ko-KR" dirty="0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자동화와 안정성을 책임지는 </a:t>
            </a:r>
            <a:r>
              <a:rPr lang="en-US" altLang="ko-KR" dirty="0"/>
              <a:t>DevOps</a:t>
            </a:r>
            <a:r>
              <a:rPr lang="en" altLang="ko-KR" dirty="0"/>
              <a:t> </a:t>
            </a:r>
            <a:r>
              <a:rPr lang="ko-KR" altLang="en-US" dirty="0"/>
              <a:t>전문가</a:t>
            </a:r>
            <a:r>
              <a:rPr lang="en-US" altLang="ko-KR" dirty="0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로드맵과 각종 지표를 관리하는 프로덕트 엔지니어</a:t>
            </a:r>
            <a:r>
              <a:rPr lang="en-US" altLang="ko-KR" dirty="0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문서와 교육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데브렐의</a:t>
            </a:r>
            <a:r>
              <a:rPr lang="ko-KR" altLang="en-US" dirty="0"/>
              <a:t> 커뮤니티 매니저</a:t>
            </a:r>
            <a:r>
              <a:rPr lang="en-US" altLang="ko-KR" dirty="0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그리고 </a:t>
            </a:r>
            <a:r>
              <a:rPr lang="ko-KR" altLang="en-US" dirty="0" err="1"/>
              <a:t>멘토이자</a:t>
            </a:r>
            <a:r>
              <a:rPr lang="ko-KR" altLang="en-US" dirty="0"/>
              <a:t> </a:t>
            </a:r>
            <a:r>
              <a:rPr lang="ko-KR" altLang="en-US" dirty="0" err="1"/>
              <a:t>브릿지</a:t>
            </a:r>
            <a:r>
              <a:rPr lang="ko-KR" altLang="en-US" dirty="0"/>
              <a:t> 역할을 해주는 시니어 제너럴리스트 등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dirty="0"/>
            </a:br>
            <a:r>
              <a:rPr lang="ko-KR" altLang="en-US" dirty="0"/>
              <a:t>각자의 강점은 다르지만</a:t>
            </a:r>
            <a:r>
              <a:rPr lang="en-US" altLang="ko-KR" dirty="0"/>
              <a:t>, </a:t>
            </a:r>
            <a:r>
              <a:rPr lang="ko-KR" altLang="en-US" dirty="0"/>
              <a:t>공통점은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폭넓은 기술 이해와 자기 분야의 깊은 전문성</a:t>
            </a:r>
            <a:r>
              <a:rPr lang="en-US" altLang="ko-KR" dirty="0"/>
              <a:t>, </a:t>
            </a:r>
            <a:r>
              <a:rPr lang="ko-KR" altLang="en-US" dirty="0"/>
              <a:t>그리고 사람을 연결하는 능력입니다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그러면</a:t>
            </a:r>
            <a:r>
              <a:rPr lang="en-US" altLang="ko-KR" dirty="0"/>
              <a:t>, </a:t>
            </a:r>
            <a:r>
              <a:rPr lang="ko-KR" altLang="en-US" dirty="0"/>
              <a:t>이렇게 선발된 인재를 </a:t>
            </a:r>
            <a:r>
              <a:rPr lang="ko-KR" altLang="en-US" b="1" dirty="0"/>
              <a:t>어떻게 육성할 것인가</a:t>
            </a:r>
            <a:r>
              <a:rPr lang="ko-KR" altLang="en-US" dirty="0"/>
              <a:t>를 살펴보겠습니다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우선 크게 네 단계로 나눠봤는데요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앞서 말한 기술 역량과 제품 마인드셋 함양</a:t>
            </a:r>
            <a:r>
              <a:rPr lang="en-US" altLang="ko-KR" dirty="0"/>
              <a:t>,</a:t>
            </a:r>
            <a:r>
              <a:rPr lang="ko-KR" altLang="en-US" dirty="0"/>
              <a:t> 그리고 소통 능력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그리고 마지막은 개인적인 경험에서 </a:t>
            </a:r>
            <a:r>
              <a:rPr lang="ko-KR" altLang="en-US" dirty="0" err="1"/>
              <a:t>나온건데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플랫폼을 사용하는 현장 개발팀에 임베디드 되어서 실제 환경에서 직접 플랫폼을 써보는 경험이 필요합니다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자의반</a:t>
            </a:r>
            <a:r>
              <a:rPr lang="ko-KR" altLang="en-US" dirty="0"/>
              <a:t> 타의반으로 제가 삼성</a:t>
            </a:r>
            <a:r>
              <a:rPr lang="en-US" altLang="ko-KR" dirty="0"/>
              <a:t>E&amp;A</a:t>
            </a:r>
            <a:r>
              <a:rPr lang="ko-KR" altLang="en-US" dirty="0"/>
              <a:t> 현장에서 이 역할을 하고 있는데</a:t>
            </a:r>
            <a:r>
              <a:rPr lang="en-US" altLang="ko-KR" dirty="0"/>
              <a:t>,</a:t>
            </a:r>
            <a:r>
              <a:rPr lang="ko-KR" altLang="en-US" dirty="0"/>
              <a:t> 오늘 제가 이 주제로 발표할 수 있었던 것도</a:t>
            </a:r>
            <a:endParaRPr lang="en-US" altLang="ko-KR" dirty="0"/>
          </a:p>
          <a:p>
            <a:r>
              <a:rPr lang="ko-KR" altLang="en-US" dirty="0"/>
              <a:t>삼성</a:t>
            </a:r>
            <a:r>
              <a:rPr lang="en-US" altLang="ko-KR" dirty="0"/>
              <a:t>E&amp;A</a:t>
            </a:r>
            <a:r>
              <a:rPr lang="ko-KR" altLang="en-US" dirty="0"/>
              <a:t>에서의 경험이 그 밑바탕이 된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이제 마지막으로</a:t>
            </a:r>
            <a:r>
              <a:rPr lang="en-US" altLang="ko-KR" dirty="0"/>
              <a:t>, </a:t>
            </a:r>
            <a:r>
              <a:rPr lang="en" altLang="ko-KR" dirty="0"/>
              <a:t>AI </a:t>
            </a:r>
            <a:r>
              <a:rPr lang="ko-KR" altLang="en-US" dirty="0"/>
              <a:t>시대를 맞은 플랫폼팀이</a:t>
            </a:r>
            <a:br>
              <a:rPr lang="ko-KR" altLang="en-US" dirty="0"/>
            </a:br>
            <a:r>
              <a:rPr lang="ko-KR" altLang="en-US" dirty="0"/>
              <a:t>어떻게 역할을 확장해야 하는지를 살펴보겠습니다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rgbClr val="D1D5DB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rPr lang="ko-KR" altLang="en-US" dirty="0"/>
              <a:t>첫 번째</a:t>
            </a:r>
            <a:r>
              <a:rPr lang="en-US" altLang="ko-KR" dirty="0"/>
              <a:t>, </a:t>
            </a:r>
            <a:r>
              <a:rPr lang="en" altLang="ko-KR" b="1" dirty="0"/>
              <a:t>Tech Enabler.</a:t>
            </a:r>
            <a:br>
              <a:rPr lang="en" altLang="ko-KR" dirty="0"/>
            </a:br>
            <a:r>
              <a:rPr lang="ko-KR" altLang="en-US" dirty="0"/>
              <a:t>기술의 표준화와 민첩성</a:t>
            </a:r>
            <a:r>
              <a:rPr lang="en-US" altLang="ko-KR" dirty="0"/>
              <a:t>, </a:t>
            </a:r>
            <a:r>
              <a:rPr lang="ko-KR" altLang="en-US" dirty="0"/>
              <a:t>그리고 유연성을 동시에 이뤄내는 팀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조직 전체가 </a:t>
            </a:r>
            <a:r>
              <a:rPr lang="en" altLang="ko-KR" dirty="0"/>
              <a:t>AI </a:t>
            </a:r>
            <a:r>
              <a:rPr lang="ko-KR" altLang="en-US" dirty="0"/>
              <a:t>등 적절한 기반으로 움직일 수 있도록 기술적 토대를 제공합니다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번째</a:t>
            </a:r>
            <a:r>
              <a:rPr lang="en-US" altLang="ko-KR" dirty="0"/>
              <a:t>, </a:t>
            </a:r>
            <a:r>
              <a:rPr lang="en" altLang="ko-KR" b="1" dirty="0"/>
              <a:t>Culture Builder.</a:t>
            </a:r>
            <a:br>
              <a:rPr lang="en-US" altLang="ko-KR" dirty="0"/>
            </a:br>
            <a:r>
              <a:rPr lang="ko-KR" altLang="en-US" dirty="0"/>
              <a:t>투명한 협업</a:t>
            </a:r>
            <a:r>
              <a:rPr lang="en-US" altLang="ko-KR" dirty="0"/>
              <a:t>, </a:t>
            </a:r>
            <a:r>
              <a:rPr lang="ko-KR" altLang="en-US" dirty="0"/>
              <a:t>자율적 실행</a:t>
            </a:r>
            <a:r>
              <a:rPr lang="en-US" altLang="ko-KR" dirty="0"/>
              <a:t>, </a:t>
            </a:r>
            <a:r>
              <a:rPr lang="ko-KR" altLang="en-US" dirty="0"/>
              <a:t>지속적 학습의 문화를 만들어야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세 번째</a:t>
            </a:r>
            <a:r>
              <a:rPr lang="en-US" altLang="ko-KR" dirty="0"/>
              <a:t>, </a:t>
            </a:r>
            <a:r>
              <a:rPr lang="en" altLang="ko-KR" b="1" dirty="0"/>
              <a:t>AI Integrator.</a:t>
            </a:r>
            <a:endParaRPr lang="en-US" altLang="ko-KR" sz="1200" dirty="0">
              <a:solidFill>
                <a:srgbClr val="D1D5DB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단순히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Copilot을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도입하는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수준을 넘어서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
</a:t>
            </a:r>
            <a:r>
              <a:rPr lang="en" altLang="ko-KR" dirty="0"/>
              <a:t>AI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b="1" dirty="0"/>
              <a:t>조직의 두 번째 두뇌</a:t>
            </a:r>
            <a:r>
              <a:rPr lang="en-US" altLang="ko-KR" b="1" dirty="0"/>
              <a:t>(</a:t>
            </a:r>
            <a:r>
              <a:rPr lang="en" altLang="ko-KR" b="1" dirty="0"/>
              <a:t>Second Brain)</a:t>
            </a:r>
            <a:r>
              <a:rPr lang="en" altLang="ko-KR" dirty="0"/>
              <a:t> </a:t>
            </a:r>
            <a:r>
              <a:rPr lang="ko-KR" altLang="en-US" dirty="0"/>
              <a:t>로 만들고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두뇌가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올바르게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작동하도록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b="1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정보의</a:t>
            </a:r>
            <a:r>
              <a:rPr lang="en-US" altLang="ko-KR" sz="12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b="1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흐름을</a:t>
            </a:r>
            <a:r>
              <a:rPr lang="en-US" altLang="ko-KR" sz="12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b="1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설계하는</a:t>
            </a:r>
            <a:r>
              <a:rPr lang="en-US" altLang="ko-KR" sz="12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b="1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신경망</a:t>
            </a:r>
            <a:r>
              <a:rPr lang="en-US" altLang="ko-KR" sz="12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(Network)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</a:t>
            </a:r>
            <a:r>
              <a:rPr lang="ko-KR" alt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구축해야합니다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200" dirty="0"/>
          </a:p>
          <a:p>
            <a:endParaRPr lang="en-US" dirty="0"/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시대의 플랫폼 팀은 이렇게 정의할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기술을 연결하고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문화를 세우며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지능을 확장하는 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그럼 오늘 발표를 정리해보겠습니다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기술 중심의 플랫폼은 언젠가 한계에 부딪히지만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사람 중심의 플랫폼은 끝없이 진화합니다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플랫폼의 미래는 코드가 아니라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b="1" dirty="0"/>
              <a:t>사람과 문화 위에 세워집니다</a:t>
            </a:r>
            <a:r>
              <a:rPr lang="en-US" altLang="ko-KR" b="1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우리의 플랫폼이 조직 혁신의 가속기가 될 지</a:t>
            </a:r>
            <a:r>
              <a:rPr lang="en-US" altLang="ko-KR" dirty="0"/>
              <a:t>,</a:t>
            </a:r>
            <a:r>
              <a:rPr lang="ko-KR" altLang="en-US" dirty="0"/>
              <a:t> 반대로 족쇄가 될지</a:t>
            </a:r>
            <a:br>
              <a:rPr lang="ko-KR" altLang="en-US" dirty="0"/>
            </a:br>
            <a:r>
              <a:rPr lang="ko-KR" altLang="en-US" dirty="0"/>
              <a:t>그 방향을 정하는 건 </a:t>
            </a:r>
            <a:r>
              <a:rPr lang="en-US" altLang="ko-KR" dirty="0"/>
              <a:t>— </a:t>
            </a:r>
            <a:r>
              <a:rPr lang="ko-KR" altLang="en-US" dirty="0"/>
              <a:t>바로 우리들입니다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그럼 발표를 마치기 전에</a:t>
            </a:r>
            <a:r>
              <a:rPr lang="en-US" altLang="ko-KR" dirty="0"/>
              <a:t>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사실 이번 발표의 원래 주제는</a:t>
            </a:r>
            <a:br>
              <a:rPr lang="ko-KR" altLang="en-US" dirty="0"/>
            </a:br>
            <a:r>
              <a:rPr lang="ko-KR" altLang="en-US" dirty="0"/>
              <a:t>“</a:t>
            </a:r>
            <a:r>
              <a:rPr lang="en" altLang="ko-KR" dirty="0"/>
              <a:t>AI </a:t>
            </a:r>
            <a:r>
              <a:rPr lang="ko-KR" altLang="en-US" dirty="0"/>
              <a:t>시대에 개발자와 조직이 어떻게 성장하고 생존할 수 </a:t>
            </a:r>
            <a:r>
              <a:rPr lang="ko-KR" altLang="en-US" dirty="0" err="1"/>
              <a:t>있을까”였습니다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다루다 보니 그 범위가 너무 넓고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준비하는 동안에도 새로운 기술이 계속 등장했습니다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어떤 스킬을 중심으로 설명하기보다는 방향을 좁혀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플랫폼 팀이라는 구체적인 관점에서 이야기</a:t>
            </a:r>
            <a:r>
              <a:rPr lang="ko-KR" altLang="en-US" dirty="0"/>
              <a:t>를 정리했습니다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솔직히 말씀드리면 </a:t>
            </a:r>
            <a:r>
              <a:rPr lang="en-US" altLang="ko-KR" dirty="0"/>
              <a:t>—</a:t>
            </a:r>
            <a:br>
              <a:rPr lang="en-US" altLang="ko-KR" dirty="0"/>
            </a:br>
            <a:r>
              <a:rPr lang="ko-KR" altLang="en-US" b="1" dirty="0"/>
              <a:t>이 발표도 </a:t>
            </a:r>
            <a:r>
              <a:rPr lang="en" altLang="ko-KR" b="1" dirty="0"/>
              <a:t>AI </a:t>
            </a:r>
            <a:r>
              <a:rPr lang="ko-KR" altLang="en-US" b="1" dirty="0"/>
              <a:t>없이는 완성될 수 없었습니다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en" altLang="ko-KR" dirty="0"/>
              <a:t>ChatGPT, Claude, Perplexity </a:t>
            </a:r>
            <a:r>
              <a:rPr lang="ko-KR" altLang="en-US" dirty="0"/>
              <a:t>같은 </a:t>
            </a:r>
            <a:r>
              <a:rPr lang="en" altLang="ko-KR" dirty="0"/>
              <a:t>AI</a:t>
            </a:r>
            <a:r>
              <a:rPr lang="ko-KR" altLang="en-US" dirty="0"/>
              <a:t>가</a:t>
            </a:r>
            <a:br>
              <a:rPr lang="ko-KR" altLang="en-US" dirty="0"/>
            </a:br>
            <a:r>
              <a:rPr lang="ko-KR" altLang="en-US" dirty="0"/>
              <a:t>방대한 자료를 정리해줬고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저는 그걸 우리 맥락에 맞게 재구성했습니다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발표는 </a:t>
            </a:r>
            <a:r>
              <a:rPr lang="ko-KR" altLang="en-US" b="1" dirty="0"/>
              <a:t>제가 혼자 만든 결과물이 아니고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AI</a:t>
            </a:r>
            <a:r>
              <a:rPr lang="ko-KR" altLang="en-US" b="1" dirty="0"/>
              <a:t>로만 생성한 것도 아닌</a:t>
            </a:r>
            <a:r>
              <a:rPr lang="en-US" altLang="ko-KR" b="1" dirty="0"/>
              <a:t>,</a:t>
            </a:r>
            <a:br>
              <a:rPr lang="en-US" altLang="ko-KR" b="1" dirty="0"/>
            </a:br>
            <a:r>
              <a:rPr lang="en" altLang="ko-KR" b="1" dirty="0"/>
              <a:t>AI</a:t>
            </a:r>
            <a:r>
              <a:rPr lang="ko-KR" altLang="en-US" b="1" dirty="0"/>
              <a:t>와 사람이 함께 완성한 결과물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제가 이번 발표를 </a:t>
            </a:r>
            <a:r>
              <a:rPr lang="en" altLang="ko-KR" dirty="0"/>
              <a:t>AI</a:t>
            </a:r>
            <a:r>
              <a:rPr lang="ko-KR" altLang="en-US" dirty="0"/>
              <a:t>와 함께 빠르게 준비할 수 있었던 것처럼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플랫폼 팀은 </a:t>
            </a:r>
            <a:r>
              <a:rPr lang="en" altLang="ko-KR" b="1" dirty="0"/>
              <a:t>AI </a:t>
            </a:r>
            <a:r>
              <a:rPr lang="ko-KR" altLang="en-US" b="1" dirty="0"/>
              <a:t>시대에 조직이 더 지능적으로 일하고</a:t>
            </a:r>
            <a:r>
              <a:rPr lang="en-US" altLang="ko-KR" b="1" dirty="0"/>
              <a:t>, </a:t>
            </a:r>
            <a:r>
              <a:rPr lang="ko-KR" altLang="en-US" b="1" dirty="0"/>
              <a:t>더 빠르게 성장하도록 만드는 촉매</a:t>
            </a:r>
            <a:r>
              <a:rPr lang="ko-KR" altLang="en-US" dirty="0"/>
              <a:t>가 되어야 할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그럼 진짜 발표를 마치겠습니다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5.png"/><Relationship Id="rId18" Type="http://schemas.openxmlformats.org/officeDocument/2006/relationships/image" Target="../media/image38.png"/><Relationship Id="rId3" Type="http://schemas.openxmlformats.org/officeDocument/2006/relationships/image" Target="../media/image1.png"/><Relationship Id="rId21" Type="http://schemas.openxmlformats.org/officeDocument/2006/relationships/image" Target="../media/image41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5.png"/><Relationship Id="rId10" Type="http://schemas.openxmlformats.org/officeDocument/2006/relationships/image" Target="../media/image31.png"/><Relationship Id="rId19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3.png"/><Relationship Id="rId21" Type="http://schemas.openxmlformats.org/officeDocument/2006/relationships/image" Target="../media/image59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5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26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6.png"/><Relationship Id="rId18" Type="http://schemas.openxmlformats.org/officeDocument/2006/relationships/image" Target="../media/image69.png"/><Relationship Id="rId3" Type="http://schemas.openxmlformats.org/officeDocument/2006/relationships/image" Target="../media/image60.png"/><Relationship Id="rId21" Type="http://schemas.openxmlformats.org/officeDocument/2006/relationships/image" Target="../media/image71.png"/><Relationship Id="rId7" Type="http://schemas.openxmlformats.org/officeDocument/2006/relationships/image" Target="../media/image46.png"/><Relationship Id="rId12" Type="http://schemas.openxmlformats.org/officeDocument/2006/relationships/image" Target="../media/image65.png"/><Relationship Id="rId17" Type="http://schemas.openxmlformats.org/officeDocument/2006/relationships/image" Target="../media/image68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7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64.png"/><Relationship Id="rId24" Type="http://schemas.openxmlformats.org/officeDocument/2006/relationships/image" Target="../media/image74.png"/><Relationship Id="rId5" Type="http://schemas.openxmlformats.org/officeDocument/2006/relationships/image" Target="../media/image26.png"/><Relationship Id="rId15" Type="http://schemas.openxmlformats.org/officeDocument/2006/relationships/image" Target="../media/image54.png"/><Relationship Id="rId23" Type="http://schemas.openxmlformats.org/officeDocument/2006/relationships/image" Target="../media/image73.png"/><Relationship Id="rId10" Type="http://schemas.openxmlformats.org/officeDocument/2006/relationships/image" Target="../media/image63.png"/><Relationship Id="rId19" Type="http://schemas.openxmlformats.org/officeDocument/2006/relationships/image" Target="../media/image70.png"/><Relationship Id="rId4" Type="http://schemas.openxmlformats.org/officeDocument/2006/relationships/image" Target="../media/image61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Relationship Id="rId22" Type="http://schemas.openxmlformats.org/officeDocument/2006/relationships/image" Target="../media/image7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18" Type="http://schemas.openxmlformats.org/officeDocument/2006/relationships/image" Target="../media/image88.png"/><Relationship Id="rId3" Type="http://schemas.openxmlformats.org/officeDocument/2006/relationships/image" Target="../media/image75.png"/><Relationship Id="rId21" Type="http://schemas.openxmlformats.org/officeDocument/2006/relationships/image" Target="../media/image91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7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77.png"/><Relationship Id="rId15" Type="http://schemas.openxmlformats.org/officeDocument/2006/relationships/image" Target="../media/image86.png"/><Relationship Id="rId10" Type="http://schemas.openxmlformats.org/officeDocument/2006/relationships/image" Target="../media/image26.png"/><Relationship Id="rId19" Type="http://schemas.openxmlformats.org/officeDocument/2006/relationships/image" Target="../media/image89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32.png"/><Relationship Id="rId1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26.png"/><Relationship Id="rId15" Type="http://schemas.openxmlformats.org/officeDocument/2006/relationships/image" Target="../media/image100.png"/><Relationship Id="rId10" Type="http://schemas.openxmlformats.org/officeDocument/2006/relationships/image" Target="../media/image96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5.png"/><Relationship Id="rId14" Type="http://schemas.openxmlformats.org/officeDocument/2006/relationships/image" Target="../media/image9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09.png"/><Relationship Id="rId18" Type="http://schemas.openxmlformats.org/officeDocument/2006/relationships/image" Target="../media/image12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40.png"/><Relationship Id="rId17" Type="http://schemas.openxmlformats.org/officeDocument/2006/relationships/image" Target="../media/image11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74.png"/><Relationship Id="rId5" Type="http://schemas.openxmlformats.org/officeDocument/2006/relationships/image" Target="../media/image105.png"/><Relationship Id="rId15" Type="http://schemas.openxmlformats.org/officeDocument/2006/relationships/image" Target="../media/image111.png"/><Relationship Id="rId10" Type="http://schemas.openxmlformats.org/officeDocument/2006/relationships/image" Target="../media/image73.png"/><Relationship Id="rId4" Type="http://schemas.openxmlformats.org/officeDocument/2006/relationships/image" Target="../media/image104.png"/><Relationship Id="rId9" Type="http://schemas.openxmlformats.org/officeDocument/2006/relationships/image" Target="../media/image72.png"/><Relationship Id="rId14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0.png"/><Relationship Id="rId18" Type="http://schemas.openxmlformats.org/officeDocument/2006/relationships/image" Target="../media/image124.png"/><Relationship Id="rId26" Type="http://schemas.openxmlformats.org/officeDocument/2006/relationships/image" Target="../media/image40.png"/><Relationship Id="rId3" Type="http://schemas.openxmlformats.org/officeDocument/2006/relationships/image" Target="../media/image1.png"/><Relationship Id="rId21" Type="http://schemas.openxmlformats.org/officeDocument/2006/relationships/image" Target="../media/image127.png"/><Relationship Id="rId7" Type="http://schemas.openxmlformats.org/officeDocument/2006/relationships/image" Target="../media/image115.png"/><Relationship Id="rId12" Type="http://schemas.openxmlformats.org/officeDocument/2006/relationships/image" Target="../media/image119.png"/><Relationship Id="rId17" Type="http://schemas.openxmlformats.org/officeDocument/2006/relationships/image" Target="../media/image123.png"/><Relationship Id="rId25" Type="http://schemas.openxmlformats.org/officeDocument/2006/relationships/image" Target="../media/image1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2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18.png"/><Relationship Id="rId24" Type="http://schemas.openxmlformats.org/officeDocument/2006/relationships/image" Target="../media/image130.png"/><Relationship Id="rId5" Type="http://schemas.openxmlformats.org/officeDocument/2006/relationships/image" Target="../media/image26.png"/><Relationship Id="rId15" Type="http://schemas.openxmlformats.org/officeDocument/2006/relationships/image" Target="../media/image121.png"/><Relationship Id="rId23" Type="http://schemas.openxmlformats.org/officeDocument/2006/relationships/image" Target="../media/image129.png"/><Relationship Id="rId10" Type="http://schemas.openxmlformats.org/officeDocument/2006/relationships/image" Target="../media/image4.png"/><Relationship Id="rId19" Type="http://schemas.openxmlformats.org/officeDocument/2006/relationships/image" Target="../media/image125.png"/><Relationship Id="rId4" Type="http://schemas.openxmlformats.org/officeDocument/2006/relationships/image" Target="../media/image2.png"/><Relationship Id="rId9" Type="http://schemas.openxmlformats.org/officeDocument/2006/relationships/image" Target="../media/image117.png"/><Relationship Id="rId14" Type="http://schemas.openxmlformats.org/officeDocument/2006/relationships/image" Target="../media/image12.png"/><Relationship Id="rId22" Type="http://schemas.openxmlformats.org/officeDocument/2006/relationships/image" Target="../media/image128.png"/><Relationship Id="rId27" Type="http://schemas.openxmlformats.org/officeDocument/2006/relationships/image" Target="../media/image132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144.png"/><Relationship Id="rId26" Type="http://schemas.openxmlformats.org/officeDocument/2006/relationships/image" Target="../media/image152.png"/><Relationship Id="rId3" Type="http://schemas.openxmlformats.org/officeDocument/2006/relationships/image" Target="../media/image1.png"/><Relationship Id="rId21" Type="http://schemas.openxmlformats.org/officeDocument/2006/relationships/image" Target="../media/image147.png"/><Relationship Id="rId34" Type="http://schemas.openxmlformats.org/officeDocument/2006/relationships/image" Target="../media/image160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17" Type="http://schemas.openxmlformats.org/officeDocument/2006/relationships/image" Target="../media/image143.png"/><Relationship Id="rId25" Type="http://schemas.openxmlformats.org/officeDocument/2006/relationships/image" Target="../media/image151.png"/><Relationship Id="rId33" Type="http://schemas.openxmlformats.org/officeDocument/2006/relationships/image" Target="../media/image15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29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24" Type="http://schemas.openxmlformats.org/officeDocument/2006/relationships/image" Target="../media/image150.png"/><Relationship Id="rId32" Type="http://schemas.openxmlformats.org/officeDocument/2006/relationships/image" Target="../media/image158.png"/><Relationship Id="rId5" Type="http://schemas.openxmlformats.org/officeDocument/2006/relationships/image" Target="../media/image26.png"/><Relationship Id="rId15" Type="http://schemas.openxmlformats.org/officeDocument/2006/relationships/image" Target="../media/image141.png"/><Relationship Id="rId23" Type="http://schemas.openxmlformats.org/officeDocument/2006/relationships/image" Target="../media/image149.png"/><Relationship Id="rId28" Type="http://schemas.openxmlformats.org/officeDocument/2006/relationships/image" Target="../media/image154.png"/><Relationship Id="rId10" Type="http://schemas.openxmlformats.org/officeDocument/2006/relationships/image" Target="../media/image137.png"/><Relationship Id="rId19" Type="http://schemas.openxmlformats.org/officeDocument/2006/relationships/image" Target="../media/image145.png"/><Relationship Id="rId31" Type="http://schemas.openxmlformats.org/officeDocument/2006/relationships/image" Target="../media/image157.png"/><Relationship Id="rId4" Type="http://schemas.openxmlformats.org/officeDocument/2006/relationships/image" Target="../media/image2.png"/><Relationship Id="rId9" Type="http://schemas.openxmlformats.org/officeDocument/2006/relationships/image" Target="../media/image136.png"/><Relationship Id="rId14" Type="http://schemas.openxmlformats.org/officeDocument/2006/relationships/image" Target="../media/image140.png"/><Relationship Id="rId22" Type="http://schemas.openxmlformats.org/officeDocument/2006/relationships/image" Target="../media/image148.png"/><Relationship Id="rId27" Type="http://schemas.openxmlformats.org/officeDocument/2006/relationships/image" Target="../media/image153.png"/><Relationship Id="rId30" Type="http://schemas.openxmlformats.org/officeDocument/2006/relationships/image" Target="../media/image156.png"/><Relationship Id="rId8" Type="http://schemas.openxmlformats.org/officeDocument/2006/relationships/image" Target="../media/image1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18" Type="http://schemas.openxmlformats.org/officeDocument/2006/relationships/image" Target="../media/image172.png"/><Relationship Id="rId3" Type="http://schemas.openxmlformats.org/officeDocument/2006/relationships/image" Target="../media/image1.png"/><Relationship Id="rId21" Type="http://schemas.openxmlformats.org/officeDocument/2006/relationships/image" Target="../media/image40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17" Type="http://schemas.openxmlformats.org/officeDocument/2006/relationships/image" Target="../media/image17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.png"/><Relationship Id="rId20" Type="http://schemas.openxmlformats.org/officeDocument/2006/relationships/image" Target="../media/image1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26.png"/><Relationship Id="rId15" Type="http://schemas.openxmlformats.org/officeDocument/2006/relationships/image" Target="../media/image170.png"/><Relationship Id="rId10" Type="http://schemas.openxmlformats.org/officeDocument/2006/relationships/image" Target="../media/image165.png"/><Relationship Id="rId19" Type="http://schemas.openxmlformats.org/officeDocument/2006/relationships/image" Target="../media/image173.png"/><Relationship Id="rId4" Type="http://schemas.openxmlformats.org/officeDocument/2006/relationships/image" Target="../media/image2.png"/><Relationship Id="rId9" Type="http://schemas.openxmlformats.org/officeDocument/2006/relationships/image" Target="../media/image164.png"/><Relationship Id="rId14" Type="http://schemas.openxmlformats.org/officeDocument/2006/relationships/image" Target="../media/image169.png"/><Relationship Id="rId22" Type="http://schemas.openxmlformats.org/officeDocument/2006/relationships/image" Target="../media/image1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3.png"/><Relationship Id="rId18" Type="http://schemas.openxmlformats.org/officeDocument/2006/relationships/image" Target="../media/image187.png"/><Relationship Id="rId3" Type="http://schemas.openxmlformats.org/officeDocument/2006/relationships/image" Target="../media/image1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26.png"/><Relationship Id="rId15" Type="http://schemas.openxmlformats.org/officeDocument/2006/relationships/image" Target="../media/image185.png"/><Relationship Id="rId10" Type="http://schemas.openxmlformats.org/officeDocument/2006/relationships/image" Target="../media/image180.png"/><Relationship Id="rId4" Type="http://schemas.openxmlformats.org/officeDocument/2006/relationships/image" Target="../media/image2.png"/><Relationship Id="rId9" Type="http://schemas.openxmlformats.org/officeDocument/2006/relationships/image" Target="../media/image179.png"/><Relationship Id="rId14" Type="http://schemas.openxmlformats.org/officeDocument/2006/relationships/image" Target="../media/image184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4.png"/><Relationship Id="rId18" Type="http://schemas.openxmlformats.org/officeDocument/2006/relationships/image" Target="../media/image199.png"/><Relationship Id="rId26" Type="http://schemas.openxmlformats.org/officeDocument/2006/relationships/image" Target="../media/image207.png"/><Relationship Id="rId3" Type="http://schemas.openxmlformats.org/officeDocument/2006/relationships/image" Target="../media/image1.png"/><Relationship Id="rId21" Type="http://schemas.openxmlformats.org/officeDocument/2006/relationships/image" Target="../media/image202.png"/><Relationship Id="rId34" Type="http://schemas.openxmlformats.org/officeDocument/2006/relationships/image" Target="../media/image215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17" Type="http://schemas.openxmlformats.org/officeDocument/2006/relationships/image" Target="../media/image198.png"/><Relationship Id="rId25" Type="http://schemas.openxmlformats.org/officeDocument/2006/relationships/image" Target="../media/image206.png"/><Relationship Id="rId33" Type="http://schemas.openxmlformats.org/officeDocument/2006/relationships/image" Target="../media/image21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97.png"/><Relationship Id="rId20" Type="http://schemas.openxmlformats.org/officeDocument/2006/relationships/image" Target="../media/image201.png"/><Relationship Id="rId29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192.png"/><Relationship Id="rId24" Type="http://schemas.openxmlformats.org/officeDocument/2006/relationships/image" Target="../media/image205.png"/><Relationship Id="rId32" Type="http://schemas.openxmlformats.org/officeDocument/2006/relationships/image" Target="../media/image213.png"/><Relationship Id="rId5" Type="http://schemas.openxmlformats.org/officeDocument/2006/relationships/image" Target="../media/image26.png"/><Relationship Id="rId15" Type="http://schemas.openxmlformats.org/officeDocument/2006/relationships/image" Target="../media/image196.png"/><Relationship Id="rId23" Type="http://schemas.openxmlformats.org/officeDocument/2006/relationships/image" Target="../media/image204.png"/><Relationship Id="rId28" Type="http://schemas.openxmlformats.org/officeDocument/2006/relationships/image" Target="../media/image209.png"/><Relationship Id="rId10" Type="http://schemas.openxmlformats.org/officeDocument/2006/relationships/image" Target="../media/image191.png"/><Relationship Id="rId19" Type="http://schemas.openxmlformats.org/officeDocument/2006/relationships/image" Target="../media/image200.png"/><Relationship Id="rId31" Type="http://schemas.openxmlformats.org/officeDocument/2006/relationships/image" Target="../media/image212.png"/><Relationship Id="rId4" Type="http://schemas.openxmlformats.org/officeDocument/2006/relationships/image" Target="../media/image2.png"/><Relationship Id="rId9" Type="http://schemas.openxmlformats.org/officeDocument/2006/relationships/image" Target="../media/image190.png"/><Relationship Id="rId14" Type="http://schemas.openxmlformats.org/officeDocument/2006/relationships/image" Target="../media/image195.png"/><Relationship Id="rId22" Type="http://schemas.openxmlformats.org/officeDocument/2006/relationships/image" Target="../media/image203.png"/><Relationship Id="rId27" Type="http://schemas.openxmlformats.org/officeDocument/2006/relationships/image" Target="../media/image208.png"/><Relationship Id="rId30" Type="http://schemas.openxmlformats.org/officeDocument/2006/relationships/image" Target="../media/image211.png"/><Relationship Id="rId35" Type="http://schemas.openxmlformats.org/officeDocument/2006/relationships/image" Target="../media/image216.png"/><Relationship Id="rId8" Type="http://schemas.openxmlformats.org/officeDocument/2006/relationships/image" Target="../media/image1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2.png"/><Relationship Id="rId18" Type="http://schemas.openxmlformats.org/officeDocument/2006/relationships/image" Target="../media/image227.png"/><Relationship Id="rId26" Type="http://schemas.openxmlformats.org/officeDocument/2006/relationships/image" Target="../media/image235.png"/><Relationship Id="rId3" Type="http://schemas.openxmlformats.org/officeDocument/2006/relationships/image" Target="../media/image1.png"/><Relationship Id="rId21" Type="http://schemas.openxmlformats.org/officeDocument/2006/relationships/image" Target="../media/image230.png"/><Relationship Id="rId7" Type="http://schemas.openxmlformats.org/officeDocument/2006/relationships/image" Target="../media/image188.png"/><Relationship Id="rId12" Type="http://schemas.openxmlformats.org/officeDocument/2006/relationships/image" Target="../media/image221.png"/><Relationship Id="rId17" Type="http://schemas.openxmlformats.org/officeDocument/2006/relationships/image" Target="../media/image226.png"/><Relationship Id="rId25" Type="http://schemas.openxmlformats.org/officeDocument/2006/relationships/image" Target="../media/image23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25.png"/><Relationship Id="rId20" Type="http://schemas.openxmlformats.org/officeDocument/2006/relationships/image" Target="../media/image2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220.png"/><Relationship Id="rId24" Type="http://schemas.openxmlformats.org/officeDocument/2006/relationships/image" Target="../media/image233.png"/><Relationship Id="rId5" Type="http://schemas.openxmlformats.org/officeDocument/2006/relationships/image" Target="../media/image26.png"/><Relationship Id="rId15" Type="http://schemas.openxmlformats.org/officeDocument/2006/relationships/image" Target="../media/image224.png"/><Relationship Id="rId23" Type="http://schemas.openxmlformats.org/officeDocument/2006/relationships/image" Target="../media/image232.png"/><Relationship Id="rId10" Type="http://schemas.openxmlformats.org/officeDocument/2006/relationships/image" Target="../media/image219.png"/><Relationship Id="rId19" Type="http://schemas.openxmlformats.org/officeDocument/2006/relationships/image" Target="../media/image228.png"/><Relationship Id="rId4" Type="http://schemas.openxmlformats.org/officeDocument/2006/relationships/image" Target="../media/image2.png"/><Relationship Id="rId9" Type="http://schemas.openxmlformats.org/officeDocument/2006/relationships/image" Target="../media/image218.png"/><Relationship Id="rId14" Type="http://schemas.openxmlformats.org/officeDocument/2006/relationships/image" Target="../media/image223.png"/><Relationship Id="rId22" Type="http://schemas.openxmlformats.org/officeDocument/2006/relationships/image" Target="../media/image231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1.png"/><Relationship Id="rId18" Type="http://schemas.openxmlformats.org/officeDocument/2006/relationships/image" Target="../media/image246.png"/><Relationship Id="rId26" Type="http://schemas.openxmlformats.org/officeDocument/2006/relationships/image" Target="../media/image254.png"/><Relationship Id="rId21" Type="http://schemas.openxmlformats.org/officeDocument/2006/relationships/image" Target="../media/image249.png"/><Relationship Id="rId34" Type="http://schemas.openxmlformats.org/officeDocument/2006/relationships/image" Target="../media/image262.png"/><Relationship Id="rId7" Type="http://schemas.openxmlformats.org/officeDocument/2006/relationships/image" Target="../media/image236.png"/><Relationship Id="rId12" Type="http://schemas.openxmlformats.org/officeDocument/2006/relationships/image" Target="../media/image240.png"/><Relationship Id="rId17" Type="http://schemas.openxmlformats.org/officeDocument/2006/relationships/image" Target="../media/image245.png"/><Relationship Id="rId25" Type="http://schemas.openxmlformats.org/officeDocument/2006/relationships/image" Target="../media/image253.png"/><Relationship Id="rId33" Type="http://schemas.openxmlformats.org/officeDocument/2006/relationships/image" Target="../media/image261.png"/><Relationship Id="rId38" Type="http://schemas.openxmlformats.org/officeDocument/2006/relationships/image" Target="../media/image26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44.png"/><Relationship Id="rId20" Type="http://schemas.openxmlformats.org/officeDocument/2006/relationships/image" Target="../media/image248.png"/><Relationship Id="rId29" Type="http://schemas.openxmlformats.org/officeDocument/2006/relationships/image" Target="../media/image2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239.png"/><Relationship Id="rId24" Type="http://schemas.openxmlformats.org/officeDocument/2006/relationships/image" Target="../media/image252.png"/><Relationship Id="rId32" Type="http://schemas.openxmlformats.org/officeDocument/2006/relationships/image" Target="../media/image260.png"/><Relationship Id="rId37" Type="http://schemas.openxmlformats.org/officeDocument/2006/relationships/image" Target="../media/image265.png"/><Relationship Id="rId5" Type="http://schemas.openxmlformats.org/officeDocument/2006/relationships/image" Target="../media/image26.png"/><Relationship Id="rId15" Type="http://schemas.openxmlformats.org/officeDocument/2006/relationships/image" Target="../media/image243.png"/><Relationship Id="rId23" Type="http://schemas.openxmlformats.org/officeDocument/2006/relationships/image" Target="../media/image251.png"/><Relationship Id="rId28" Type="http://schemas.openxmlformats.org/officeDocument/2006/relationships/image" Target="../media/image256.png"/><Relationship Id="rId36" Type="http://schemas.openxmlformats.org/officeDocument/2006/relationships/image" Target="../media/image264.png"/><Relationship Id="rId10" Type="http://schemas.openxmlformats.org/officeDocument/2006/relationships/image" Target="../media/image74.png"/><Relationship Id="rId19" Type="http://schemas.openxmlformats.org/officeDocument/2006/relationships/image" Target="../media/image247.png"/><Relationship Id="rId31" Type="http://schemas.openxmlformats.org/officeDocument/2006/relationships/image" Target="../media/image259.png"/><Relationship Id="rId4" Type="http://schemas.openxmlformats.org/officeDocument/2006/relationships/image" Target="../media/image2.png"/><Relationship Id="rId9" Type="http://schemas.openxmlformats.org/officeDocument/2006/relationships/image" Target="../media/image238.png"/><Relationship Id="rId14" Type="http://schemas.openxmlformats.org/officeDocument/2006/relationships/image" Target="../media/image242.png"/><Relationship Id="rId22" Type="http://schemas.openxmlformats.org/officeDocument/2006/relationships/image" Target="../media/image250.png"/><Relationship Id="rId27" Type="http://schemas.openxmlformats.org/officeDocument/2006/relationships/image" Target="../media/image255.png"/><Relationship Id="rId30" Type="http://schemas.openxmlformats.org/officeDocument/2006/relationships/image" Target="../media/image258.png"/><Relationship Id="rId35" Type="http://schemas.openxmlformats.org/officeDocument/2006/relationships/image" Target="../media/image263.png"/><Relationship Id="rId8" Type="http://schemas.openxmlformats.org/officeDocument/2006/relationships/image" Target="../media/image237.png"/><Relationship Id="rId3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3.png"/><Relationship Id="rId18" Type="http://schemas.openxmlformats.org/officeDocument/2006/relationships/image" Target="../media/image278.png"/><Relationship Id="rId26" Type="http://schemas.openxmlformats.org/officeDocument/2006/relationships/image" Target="../media/image285.png"/><Relationship Id="rId3" Type="http://schemas.openxmlformats.org/officeDocument/2006/relationships/image" Target="../media/image1.png"/><Relationship Id="rId21" Type="http://schemas.openxmlformats.org/officeDocument/2006/relationships/image" Target="../media/image280.png"/><Relationship Id="rId34" Type="http://schemas.openxmlformats.org/officeDocument/2006/relationships/image" Target="../media/image293.png"/><Relationship Id="rId7" Type="http://schemas.openxmlformats.org/officeDocument/2006/relationships/image" Target="../media/image267.png"/><Relationship Id="rId12" Type="http://schemas.openxmlformats.org/officeDocument/2006/relationships/image" Target="../media/image272.png"/><Relationship Id="rId17" Type="http://schemas.openxmlformats.org/officeDocument/2006/relationships/image" Target="../media/image277.png"/><Relationship Id="rId25" Type="http://schemas.openxmlformats.org/officeDocument/2006/relationships/image" Target="../media/image284.png"/><Relationship Id="rId33" Type="http://schemas.openxmlformats.org/officeDocument/2006/relationships/image" Target="../media/image292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76.png"/><Relationship Id="rId20" Type="http://schemas.openxmlformats.org/officeDocument/2006/relationships/image" Target="../media/image253.png"/><Relationship Id="rId29" Type="http://schemas.openxmlformats.org/officeDocument/2006/relationships/image" Target="../media/image2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271.png"/><Relationship Id="rId24" Type="http://schemas.openxmlformats.org/officeDocument/2006/relationships/image" Target="../media/image283.png"/><Relationship Id="rId32" Type="http://schemas.openxmlformats.org/officeDocument/2006/relationships/image" Target="../media/image291.png"/><Relationship Id="rId5" Type="http://schemas.openxmlformats.org/officeDocument/2006/relationships/image" Target="../media/image26.png"/><Relationship Id="rId15" Type="http://schemas.openxmlformats.org/officeDocument/2006/relationships/image" Target="../media/image275.png"/><Relationship Id="rId23" Type="http://schemas.openxmlformats.org/officeDocument/2006/relationships/image" Target="../media/image282.png"/><Relationship Id="rId28" Type="http://schemas.openxmlformats.org/officeDocument/2006/relationships/image" Target="../media/image287.png"/><Relationship Id="rId10" Type="http://schemas.openxmlformats.org/officeDocument/2006/relationships/image" Target="../media/image270.png"/><Relationship Id="rId19" Type="http://schemas.openxmlformats.org/officeDocument/2006/relationships/image" Target="../media/image279.png"/><Relationship Id="rId31" Type="http://schemas.openxmlformats.org/officeDocument/2006/relationships/image" Target="../media/image290.png"/><Relationship Id="rId4" Type="http://schemas.openxmlformats.org/officeDocument/2006/relationships/image" Target="../media/image2.png"/><Relationship Id="rId9" Type="http://schemas.openxmlformats.org/officeDocument/2006/relationships/image" Target="../media/image269.png"/><Relationship Id="rId14" Type="http://schemas.openxmlformats.org/officeDocument/2006/relationships/image" Target="../media/image274.png"/><Relationship Id="rId22" Type="http://schemas.openxmlformats.org/officeDocument/2006/relationships/image" Target="../media/image281.png"/><Relationship Id="rId27" Type="http://schemas.openxmlformats.org/officeDocument/2006/relationships/image" Target="../media/image286.png"/><Relationship Id="rId30" Type="http://schemas.openxmlformats.org/officeDocument/2006/relationships/image" Target="../media/image289.png"/><Relationship Id="rId8" Type="http://schemas.openxmlformats.org/officeDocument/2006/relationships/image" Target="../media/image2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13" Type="http://schemas.openxmlformats.org/officeDocument/2006/relationships/image" Target="../media/image301.png"/><Relationship Id="rId18" Type="http://schemas.openxmlformats.org/officeDocument/2006/relationships/image" Target="../media/image305.png"/><Relationship Id="rId26" Type="http://schemas.openxmlformats.org/officeDocument/2006/relationships/image" Target="../media/image313.png"/><Relationship Id="rId3" Type="http://schemas.openxmlformats.org/officeDocument/2006/relationships/image" Target="../media/image1.png"/><Relationship Id="rId21" Type="http://schemas.openxmlformats.org/officeDocument/2006/relationships/image" Target="../media/image308.png"/><Relationship Id="rId7" Type="http://schemas.openxmlformats.org/officeDocument/2006/relationships/image" Target="../media/image295.png"/><Relationship Id="rId12" Type="http://schemas.openxmlformats.org/officeDocument/2006/relationships/image" Target="../media/image300.png"/><Relationship Id="rId17" Type="http://schemas.openxmlformats.org/officeDocument/2006/relationships/image" Target="../media/image304.png"/><Relationship Id="rId25" Type="http://schemas.openxmlformats.org/officeDocument/2006/relationships/image" Target="../media/image312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03.png"/><Relationship Id="rId20" Type="http://schemas.openxmlformats.org/officeDocument/2006/relationships/image" Target="../media/image307.png"/><Relationship Id="rId29" Type="http://schemas.openxmlformats.org/officeDocument/2006/relationships/image" Target="../media/image3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4.png"/><Relationship Id="rId11" Type="http://schemas.openxmlformats.org/officeDocument/2006/relationships/image" Target="../media/image299.png"/><Relationship Id="rId24" Type="http://schemas.openxmlformats.org/officeDocument/2006/relationships/image" Target="../media/image311.png"/><Relationship Id="rId5" Type="http://schemas.openxmlformats.org/officeDocument/2006/relationships/image" Target="../media/image26.png"/><Relationship Id="rId15" Type="http://schemas.openxmlformats.org/officeDocument/2006/relationships/image" Target="../media/image302.png"/><Relationship Id="rId23" Type="http://schemas.openxmlformats.org/officeDocument/2006/relationships/image" Target="../media/image310.png"/><Relationship Id="rId28" Type="http://schemas.openxmlformats.org/officeDocument/2006/relationships/image" Target="../media/image314.png"/><Relationship Id="rId10" Type="http://schemas.openxmlformats.org/officeDocument/2006/relationships/image" Target="../media/image298.png"/><Relationship Id="rId19" Type="http://schemas.openxmlformats.org/officeDocument/2006/relationships/image" Target="../media/image306.png"/><Relationship Id="rId4" Type="http://schemas.openxmlformats.org/officeDocument/2006/relationships/image" Target="../media/image2.png"/><Relationship Id="rId9" Type="http://schemas.openxmlformats.org/officeDocument/2006/relationships/image" Target="../media/image297.png"/><Relationship Id="rId14" Type="http://schemas.openxmlformats.org/officeDocument/2006/relationships/image" Target="../media/image50.png"/><Relationship Id="rId22" Type="http://schemas.openxmlformats.org/officeDocument/2006/relationships/image" Target="../media/image309.png"/><Relationship Id="rId27" Type="http://schemas.openxmlformats.org/officeDocument/2006/relationships/image" Target="../media/image40.png"/><Relationship Id="rId30" Type="http://schemas.openxmlformats.org/officeDocument/2006/relationships/image" Target="../media/image316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4.png"/><Relationship Id="rId18" Type="http://schemas.openxmlformats.org/officeDocument/2006/relationships/image" Target="../media/image329.png"/><Relationship Id="rId26" Type="http://schemas.openxmlformats.org/officeDocument/2006/relationships/image" Target="../media/image337.png"/><Relationship Id="rId21" Type="http://schemas.openxmlformats.org/officeDocument/2006/relationships/image" Target="../media/image332.png"/><Relationship Id="rId34" Type="http://schemas.openxmlformats.org/officeDocument/2006/relationships/image" Target="../media/image345.png"/><Relationship Id="rId7" Type="http://schemas.openxmlformats.org/officeDocument/2006/relationships/image" Target="../media/image318.png"/><Relationship Id="rId12" Type="http://schemas.openxmlformats.org/officeDocument/2006/relationships/image" Target="../media/image323.png"/><Relationship Id="rId17" Type="http://schemas.openxmlformats.org/officeDocument/2006/relationships/image" Target="../media/image328.png"/><Relationship Id="rId25" Type="http://schemas.openxmlformats.org/officeDocument/2006/relationships/image" Target="../media/image336.png"/><Relationship Id="rId33" Type="http://schemas.openxmlformats.org/officeDocument/2006/relationships/image" Target="../media/image344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327.png"/><Relationship Id="rId20" Type="http://schemas.openxmlformats.org/officeDocument/2006/relationships/image" Target="../media/image331.png"/><Relationship Id="rId29" Type="http://schemas.openxmlformats.org/officeDocument/2006/relationships/image" Target="../media/image3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7.png"/><Relationship Id="rId11" Type="http://schemas.openxmlformats.org/officeDocument/2006/relationships/image" Target="../media/image322.png"/><Relationship Id="rId24" Type="http://schemas.openxmlformats.org/officeDocument/2006/relationships/image" Target="../media/image335.png"/><Relationship Id="rId32" Type="http://schemas.openxmlformats.org/officeDocument/2006/relationships/image" Target="../media/image343.png"/><Relationship Id="rId37" Type="http://schemas.openxmlformats.org/officeDocument/2006/relationships/image" Target="../media/image347.png"/><Relationship Id="rId5" Type="http://schemas.openxmlformats.org/officeDocument/2006/relationships/image" Target="../media/image26.png"/><Relationship Id="rId15" Type="http://schemas.openxmlformats.org/officeDocument/2006/relationships/image" Target="../media/image326.png"/><Relationship Id="rId23" Type="http://schemas.openxmlformats.org/officeDocument/2006/relationships/image" Target="../media/image334.png"/><Relationship Id="rId28" Type="http://schemas.openxmlformats.org/officeDocument/2006/relationships/image" Target="../media/image339.png"/><Relationship Id="rId36" Type="http://schemas.openxmlformats.org/officeDocument/2006/relationships/image" Target="../media/image40.png"/><Relationship Id="rId10" Type="http://schemas.openxmlformats.org/officeDocument/2006/relationships/image" Target="../media/image321.png"/><Relationship Id="rId19" Type="http://schemas.openxmlformats.org/officeDocument/2006/relationships/image" Target="../media/image330.png"/><Relationship Id="rId31" Type="http://schemas.openxmlformats.org/officeDocument/2006/relationships/image" Target="../media/image342.png"/><Relationship Id="rId4" Type="http://schemas.openxmlformats.org/officeDocument/2006/relationships/image" Target="../media/image2.png"/><Relationship Id="rId9" Type="http://schemas.openxmlformats.org/officeDocument/2006/relationships/image" Target="../media/image320.png"/><Relationship Id="rId14" Type="http://schemas.openxmlformats.org/officeDocument/2006/relationships/image" Target="../media/image325.png"/><Relationship Id="rId22" Type="http://schemas.openxmlformats.org/officeDocument/2006/relationships/image" Target="../media/image333.png"/><Relationship Id="rId27" Type="http://schemas.openxmlformats.org/officeDocument/2006/relationships/image" Target="../media/image338.png"/><Relationship Id="rId30" Type="http://schemas.openxmlformats.org/officeDocument/2006/relationships/image" Target="../media/image341.png"/><Relationship Id="rId35" Type="http://schemas.openxmlformats.org/officeDocument/2006/relationships/image" Target="../media/image346.png"/><Relationship Id="rId8" Type="http://schemas.openxmlformats.org/officeDocument/2006/relationships/image" Target="../media/image319.png"/><Relationship Id="rId3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13" Type="http://schemas.openxmlformats.org/officeDocument/2006/relationships/image" Target="../media/image357.png"/><Relationship Id="rId18" Type="http://schemas.openxmlformats.org/officeDocument/2006/relationships/image" Target="../media/image362.png"/><Relationship Id="rId26" Type="http://schemas.openxmlformats.org/officeDocument/2006/relationships/image" Target="../media/image369.png"/><Relationship Id="rId3" Type="http://schemas.openxmlformats.org/officeDocument/2006/relationships/image" Target="../media/image348.png"/><Relationship Id="rId21" Type="http://schemas.openxmlformats.org/officeDocument/2006/relationships/image" Target="../media/image365.png"/><Relationship Id="rId7" Type="http://schemas.openxmlformats.org/officeDocument/2006/relationships/image" Target="../media/image351.png"/><Relationship Id="rId12" Type="http://schemas.openxmlformats.org/officeDocument/2006/relationships/image" Target="../media/image356.png"/><Relationship Id="rId17" Type="http://schemas.openxmlformats.org/officeDocument/2006/relationships/image" Target="../media/image361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60.png"/><Relationship Id="rId20" Type="http://schemas.openxmlformats.org/officeDocument/2006/relationships/image" Target="../media/image3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11" Type="http://schemas.openxmlformats.org/officeDocument/2006/relationships/image" Target="../media/image355.png"/><Relationship Id="rId24" Type="http://schemas.openxmlformats.org/officeDocument/2006/relationships/image" Target="../media/image368.png"/><Relationship Id="rId5" Type="http://schemas.openxmlformats.org/officeDocument/2006/relationships/image" Target="../media/image26.png"/><Relationship Id="rId15" Type="http://schemas.openxmlformats.org/officeDocument/2006/relationships/image" Target="../media/image359.png"/><Relationship Id="rId23" Type="http://schemas.openxmlformats.org/officeDocument/2006/relationships/image" Target="../media/image367.png"/><Relationship Id="rId10" Type="http://schemas.openxmlformats.org/officeDocument/2006/relationships/image" Target="../media/image354.png"/><Relationship Id="rId19" Type="http://schemas.openxmlformats.org/officeDocument/2006/relationships/image" Target="../media/image363.png"/><Relationship Id="rId4" Type="http://schemas.openxmlformats.org/officeDocument/2006/relationships/image" Target="../media/image349.png"/><Relationship Id="rId9" Type="http://schemas.openxmlformats.org/officeDocument/2006/relationships/image" Target="../media/image353.png"/><Relationship Id="rId14" Type="http://schemas.openxmlformats.org/officeDocument/2006/relationships/image" Target="../media/image358.png"/><Relationship Id="rId22" Type="http://schemas.openxmlformats.org/officeDocument/2006/relationships/image" Target="../media/image366.png"/><Relationship Id="rId27" Type="http://schemas.openxmlformats.org/officeDocument/2006/relationships/image" Target="../media/image29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4.png"/><Relationship Id="rId13" Type="http://schemas.openxmlformats.org/officeDocument/2006/relationships/image" Target="../media/image379.png"/><Relationship Id="rId18" Type="http://schemas.openxmlformats.org/officeDocument/2006/relationships/image" Target="../media/image384.png"/><Relationship Id="rId26" Type="http://schemas.openxmlformats.org/officeDocument/2006/relationships/image" Target="../media/image392.png"/><Relationship Id="rId3" Type="http://schemas.openxmlformats.org/officeDocument/2006/relationships/image" Target="../media/image1.png"/><Relationship Id="rId21" Type="http://schemas.openxmlformats.org/officeDocument/2006/relationships/image" Target="../media/image387.png"/><Relationship Id="rId7" Type="http://schemas.openxmlformats.org/officeDocument/2006/relationships/image" Target="../media/image373.png"/><Relationship Id="rId12" Type="http://schemas.openxmlformats.org/officeDocument/2006/relationships/image" Target="../media/image378.png"/><Relationship Id="rId17" Type="http://schemas.openxmlformats.org/officeDocument/2006/relationships/image" Target="../media/image383.png"/><Relationship Id="rId25" Type="http://schemas.openxmlformats.org/officeDocument/2006/relationships/image" Target="../media/image39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382.png"/><Relationship Id="rId20" Type="http://schemas.openxmlformats.org/officeDocument/2006/relationships/image" Target="../media/image386.png"/><Relationship Id="rId29" Type="http://schemas.openxmlformats.org/officeDocument/2006/relationships/image" Target="../media/image3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2.png"/><Relationship Id="rId11" Type="http://schemas.openxmlformats.org/officeDocument/2006/relationships/image" Target="../media/image377.png"/><Relationship Id="rId24" Type="http://schemas.openxmlformats.org/officeDocument/2006/relationships/image" Target="../media/image390.png"/><Relationship Id="rId5" Type="http://schemas.openxmlformats.org/officeDocument/2006/relationships/image" Target="../media/image371.png"/><Relationship Id="rId15" Type="http://schemas.openxmlformats.org/officeDocument/2006/relationships/image" Target="../media/image381.png"/><Relationship Id="rId23" Type="http://schemas.openxmlformats.org/officeDocument/2006/relationships/image" Target="../media/image389.png"/><Relationship Id="rId28" Type="http://schemas.openxmlformats.org/officeDocument/2006/relationships/image" Target="../media/image394.png"/><Relationship Id="rId10" Type="http://schemas.openxmlformats.org/officeDocument/2006/relationships/image" Target="../media/image376.png"/><Relationship Id="rId19" Type="http://schemas.openxmlformats.org/officeDocument/2006/relationships/image" Target="../media/image385.png"/><Relationship Id="rId4" Type="http://schemas.openxmlformats.org/officeDocument/2006/relationships/image" Target="../media/image370.png"/><Relationship Id="rId9" Type="http://schemas.openxmlformats.org/officeDocument/2006/relationships/image" Target="../media/image375.png"/><Relationship Id="rId14" Type="http://schemas.openxmlformats.org/officeDocument/2006/relationships/image" Target="../media/image380.png"/><Relationship Id="rId22" Type="http://schemas.openxmlformats.org/officeDocument/2006/relationships/image" Target="../media/image388.png"/><Relationship Id="rId27" Type="http://schemas.openxmlformats.org/officeDocument/2006/relationships/image" Target="../media/image393.png"/><Relationship Id="rId30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6.png"/><Relationship Id="rId1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7.png"/><Relationship Id="rId12" Type="http://schemas.openxmlformats.org/officeDocument/2006/relationships/image" Target="../media/image401.png"/><Relationship Id="rId17" Type="http://schemas.openxmlformats.org/officeDocument/2006/relationships/image" Target="../media/image40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03.png"/><Relationship Id="rId20" Type="http://schemas.openxmlformats.org/officeDocument/2006/relationships/image" Target="../media/image3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6.png"/><Relationship Id="rId11" Type="http://schemas.openxmlformats.org/officeDocument/2006/relationships/image" Target="../media/image400.png"/><Relationship Id="rId5" Type="http://schemas.openxmlformats.org/officeDocument/2006/relationships/image" Target="../media/image26.png"/><Relationship Id="rId15" Type="http://schemas.openxmlformats.org/officeDocument/2006/relationships/image" Target="../media/image402.png"/><Relationship Id="rId10" Type="http://schemas.openxmlformats.org/officeDocument/2006/relationships/image" Target="../media/image399.png"/><Relationship Id="rId19" Type="http://schemas.openxmlformats.org/officeDocument/2006/relationships/image" Target="../media/image405.png"/><Relationship Id="rId4" Type="http://schemas.openxmlformats.org/officeDocument/2006/relationships/image" Target="../media/image2.png"/><Relationship Id="rId9" Type="http://schemas.openxmlformats.org/officeDocument/2006/relationships/image" Target="../media/image398.png"/><Relationship Id="rId1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2.png"/><Relationship Id="rId18" Type="http://schemas.openxmlformats.org/officeDocument/2006/relationships/image" Target="../media/image417.png"/><Relationship Id="rId26" Type="http://schemas.openxmlformats.org/officeDocument/2006/relationships/image" Target="../media/image425.png"/><Relationship Id="rId39" Type="http://schemas.openxmlformats.org/officeDocument/2006/relationships/image" Target="../media/image438.png"/><Relationship Id="rId21" Type="http://schemas.openxmlformats.org/officeDocument/2006/relationships/image" Target="../media/image420.png"/><Relationship Id="rId34" Type="http://schemas.openxmlformats.org/officeDocument/2006/relationships/image" Target="../media/image433.png"/><Relationship Id="rId42" Type="http://schemas.openxmlformats.org/officeDocument/2006/relationships/image" Target="../media/image441.png"/><Relationship Id="rId7" Type="http://schemas.openxmlformats.org/officeDocument/2006/relationships/image" Target="../media/image406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15.png"/><Relationship Id="rId29" Type="http://schemas.openxmlformats.org/officeDocument/2006/relationships/image" Target="../media/image4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10.png"/><Relationship Id="rId24" Type="http://schemas.openxmlformats.org/officeDocument/2006/relationships/image" Target="../media/image423.png"/><Relationship Id="rId32" Type="http://schemas.openxmlformats.org/officeDocument/2006/relationships/image" Target="../media/image431.png"/><Relationship Id="rId37" Type="http://schemas.openxmlformats.org/officeDocument/2006/relationships/image" Target="../media/image436.png"/><Relationship Id="rId40" Type="http://schemas.openxmlformats.org/officeDocument/2006/relationships/image" Target="../media/image439.png"/><Relationship Id="rId45" Type="http://schemas.openxmlformats.org/officeDocument/2006/relationships/image" Target="../media/image444.png"/><Relationship Id="rId5" Type="http://schemas.openxmlformats.org/officeDocument/2006/relationships/image" Target="../media/image26.png"/><Relationship Id="rId15" Type="http://schemas.openxmlformats.org/officeDocument/2006/relationships/image" Target="../media/image414.png"/><Relationship Id="rId23" Type="http://schemas.openxmlformats.org/officeDocument/2006/relationships/image" Target="../media/image422.png"/><Relationship Id="rId28" Type="http://schemas.openxmlformats.org/officeDocument/2006/relationships/image" Target="../media/image427.png"/><Relationship Id="rId36" Type="http://schemas.openxmlformats.org/officeDocument/2006/relationships/image" Target="../media/image435.png"/><Relationship Id="rId10" Type="http://schemas.openxmlformats.org/officeDocument/2006/relationships/image" Target="../media/image409.png"/><Relationship Id="rId19" Type="http://schemas.openxmlformats.org/officeDocument/2006/relationships/image" Target="../media/image418.png"/><Relationship Id="rId31" Type="http://schemas.openxmlformats.org/officeDocument/2006/relationships/image" Target="../media/image430.png"/><Relationship Id="rId44" Type="http://schemas.openxmlformats.org/officeDocument/2006/relationships/image" Target="../media/image443.png"/><Relationship Id="rId4" Type="http://schemas.openxmlformats.org/officeDocument/2006/relationships/image" Target="../media/image2.png"/><Relationship Id="rId9" Type="http://schemas.openxmlformats.org/officeDocument/2006/relationships/image" Target="../media/image408.png"/><Relationship Id="rId14" Type="http://schemas.openxmlformats.org/officeDocument/2006/relationships/image" Target="../media/image413.png"/><Relationship Id="rId22" Type="http://schemas.openxmlformats.org/officeDocument/2006/relationships/image" Target="../media/image421.png"/><Relationship Id="rId27" Type="http://schemas.openxmlformats.org/officeDocument/2006/relationships/image" Target="../media/image426.png"/><Relationship Id="rId30" Type="http://schemas.openxmlformats.org/officeDocument/2006/relationships/image" Target="../media/image429.png"/><Relationship Id="rId35" Type="http://schemas.openxmlformats.org/officeDocument/2006/relationships/image" Target="../media/image434.png"/><Relationship Id="rId43" Type="http://schemas.openxmlformats.org/officeDocument/2006/relationships/image" Target="../media/image442.png"/><Relationship Id="rId8" Type="http://schemas.openxmlformats.org/officeDocument/2006/relationships/image" Target="../media/image407.png"/><Relationship Id="rId3" Type="http://schemas.openxmlformats.org/officeDocument/2006/relationships/image" Target="../media/image1.png"/><Relationship Id="rId12" Type="http://schemas.openxmlformats.org/officeDocument/2006/relationships/image" Target="../media/image411.png"/><Relationship Id="rId17" Type="http://schemas.openxmlformats.org/officeDocument/2006/relationships/image" Target="../media/image416.png"/><Relationship Id="rId25" Type="http://schemas.openxmlformats.org/officeDocument/2006/relationships/image" Target="../media/image424.png"/><Relationship Id="rId33" Type="http://schemas.openxmlformats.org/officeDocument/2006/relationships/image" Target="../media/image432.png"/><Relationship Id="rId38" Type="http://schemas.openxmlformats.org/officeDocument/2006/relationships/image" Target="../media/image437.png"/><Relationship Id="rId46" Type="http://schemas.openxmlformats.org/officeDocument/2006/relationships/image" Target="../media/image445.png"/><Relationship Id="rId20" Type="http://schemas.openxmlformats.org/officeDocument/2006/relationships/image" Target="../media/image419.png"/><Relationship Id="rId41" Type="http://schemas.openxmlformats.org/officeDocument/2006/relationships/image" Target="../media/image4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png"/><Relationship Id="rId13" Type="http://schemas.openxmlformats.org/officeDocument/2006/relationships/image" Target="../media/image452.png"/><Relationship Id="rId18" Type="http://schemas.openxmlformats.org/officeDocument/2006/relationships/image" Target="../media/image457.png"/><Relationship Id="rId26" Type="http://schemas.openxmlformats.org/officeDocument/2006/relationships/image" Target="../media/image465.png"/><Relationship Id="rId3" Type="http://schemas.openxmlformats.org/officeDocument/2006/relationships/image" Target="../media/image1.png"/><Relationship Id="rId21" Type="http://schemas.openxmlformats.org/officeDocument/2006/relationships/image" Target="../media/image460.png"/><Relationship Id="rId7" Type="http://schemas.openxmlformats.org/officeDocument/2006/relationships/image" Target="../media/image446.png"/><Relationship Id="rId12" Type="http://schemas.openxmlformats.org/officeDocument/2006/relationships/image" Target="../media/image451.png"/><Relationship Id="rId17" Type="http://schemas.openxmlformats.org/officeDocument/2006/relationships/image" Target="../media/image456.png"/><Relationship Id="rId25" Type="http://schemas.openxmlformats.org/officeDocument/2006/relationships/image" Target="../media/image464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55.png"/><Relationship Id="rId20" Type="http://schemas.openxmlformats.org/officeDocument/2006/relationships/image" Target="../media/image459.png"/><Relationship Id="rId29" Type="http://schemas.openxmlformats.org/officeDocument/2006/relationships/image" Target="../media/image4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0.png"/><Relationship Id="rId24" Type="http://schemas.openxmlformats.org/officeDocument/2006/relationships/image" Target="../media/image463.png"/><Relationship Id="rId5" Type="http://schemas.openxmlformats.org/officeDocument/2006/relationships/image" Target="../media/image26.png"/><Relationship Id="rId15" Type="http://schemas.openxmlformats.org/officeDocument/2006/relationships/image" Target="../media/image454.png"/><Relationship Id="rId23" Type="http://schemas.openxmlformats.org/officeDocument/2006/relationships/image" Target="../media/image462.png"/><Relationship Id="rId28" Type="http://schemas.openxmlformats.org/officeDocument/2006/relationships/image" Target="../media/image467.png"/><Relationship Id="rId10" Type="http://schemas.openxmlformats.org/officeDocument/2006/relationships/image" Target="../media/image449.png"/><Relationship Id="rId19" Type="http://schemas.openxmlformats.org/officeDocument/2006/relationships/image" Target="../media/image458.png"/><Relationship Id="rId4" Type="http://schemas.openxmlformats.org/officeDocument/2006/relationships/image" Target="../media/image2.png"/><Relationship Id="rId9" Type="http://schemas.openxmlformats.org/officeDocument/2006/relationships/image" Target="../media/image448.png"/><Relationship Id="rId14" Type="http://schemas.openxmlformats.org/officeDocument/2006/relationships/image" Target="../media/image453.png"/><Relationship Id="rId22" Type="http://schemas.openxmlformats.org/officeDocument/2006/relationships/image" Target="../media/image461.png"/><Relationship Id="rId27" Type="http://schemas.openxmlformats.org/officeDocument/2006/relationships/image" Target="../media/image466.png"/><Relationship Id="rId30" Type="http://schemas.openxmlformats.org/officeDocument/2006/relationships/image" Target="../media/image46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png"/><Relationship Id="rId13" Type="http://schemas.openxmlformats.org/officeDocument/2006/relationships/image" Target="../media/image476.png"/><Relationship Id="rId18" Type="http://schemas.openxmlformats.org/officeDocument/2006/relationships/image" Target="../media/image481.png"/><Relationship Id="rId3" Type="http://schemas.openxmlformats.org/officeDocument/2006/relationships/image" Target="../media/image1.png"/><Relationship Id="rId21" Type="http://schemas.openxmlformats.org/officeDocument/2006/relationships/image" Target="../media/image484.png"/><Relationship Id="rId7" Type="http://schemas.openxmlformats.org/officeDocument/2006/relationships/image" Target="../media/image471.png"/><Relationship Id="rId12" Type="http://schemas.openxmlformats.org/officeDocument/2006/relationships/image" Target="../media/image475.png"/><Relationship Id="rId17" Type="http://schemas.openxmlformats.org/officeDocument/2006/relationships/image" Target="../media/image480.png"/><Relationship Id="rId25" Type="http://schemas.openxmlformats.org/officeDocument/2006/relationships/image" Target="../media/image487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479.png"/><Relationship Id="rId20" Type="http://schemas.openxmlformats.org/officeDocument/2006/relationships/image" Target="../media/image4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0.png"/><Relationship Id="rId11" Type="http://schemas.openxmlformats.org/officeDocument/2006/relationships/image" Target="../media/image474.png"/><Relationship Id="rId24" Type="http://schemas.openxmlformats.org/officeDocument/2006/relationships/image" Target="../media/image40.png"/><Relationship Id="rId5" Type="http://schemas.openxmlformats.org/officeDocument/2006/relationships/image" Target="../media/image26.png"/><Relationship Id="rId15" Type="http://schemas.openxmlformats.org/officeDocument/2006/relationships/image" Target="../media/image478.png"/><Relationship Id="rId23" Type="http://schemas.openxmlformats.org/officeDocument/2006/relationships/image" Target="../media/image486.png"/><Relationship Id="rId10" Type="http://schemas.openxmlformats.org/officeDocument/2006/relationships/image" Target="../media/image299.png"/><Relationship Id="rId19" Type="http://schemas.openxmlformats.org/officeDocument/2006/relationships/image" Target="../media/image482.png"/><Relationship Id="rId4" Type="http://schemas.openxmlformats.org/officeDocument/2006/relationships/image" Target="../media/image2.png"/><Relationship Id="rId9" Type="http://schemas.openxmlformats.org/officeDocument/2006/relationships/image" Target="../media/image473.png"/><Relationship Id="rId14" Type="http://schemas.openxmlformats.org/officeDocument/2006/relationships/image" Target="../media/image477.png"/><Relationship Id="rId22" Type="http://schemas.openxmlformats.org/officeDocument/2006/relationships/image" Target="../media/image48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494.png"/><Relationship Id="rId18" Type="http://schemas.openxmlformats.org/officeDocument/2006/relationships/image" Target="../media/image499.png"/><Relationship Id="rId26" Type="http://schemas.openxmlformats.org/officeDocument/2006/relationships/image" Target="../media/image40.png"/><Relationship Id="rId3" Type="http://schemas.openxmlformats.org/officeDocument/2006/relationships/image" Target="../media/image1.png"/><Relationship Id="rId21" Type="http://schemas.openxmlformats.org/officeDocument/2006/relationships/image" Target="../media/image502.png"/><Relationship Id="rId7" Type="http://schemas.openxmlformats.org/officeDocument/2006/relationships/image" Target="../media/image489.png"/><Relationship Id="rId12" Type="http://schemas.openxmlformats.org/officeDocument/2006/relationships/image" Target="../media/image493.png"/><Relationship Id="rId17" Type="http://schemas.openxmlformats.org/officeDocument/2006/relationships/image" Target="../media/image498.png"/><Relationship Id="rId25" Type="http://schemas.openxmlformats.org/officeDocument/2006/relationships/image" Target="../media/image506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497.png"/><Relationship Id="rId20" Type="http://schemas.openxmlformats.org/officeDocument/2006/relationships/image" Target="../media/image5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8.png"/><Relationship Id="rId11" Type="http://schemas.openxmlformats.org/officeDocument/2006/relationships/image" Target="../media/image492.png"/><Relationship Id="rId24" Type="http://schemas.openxmlformats.org/officeDocument/2006/relationships/image" Target="../media/image505.png"/><Relationship Id="rId5" Type="http://schemas.openxmlformats.org/officeDocument/2006/relationships/image" Target="../media/image26.png"/><Relationship Id="rId15" Type="http://schemas.openxmlformats.org/officeDocument/2006/relationships/image" Target="../media/image496.png"/><Relationship Id="rId23" Type="http://schemas.openxmlformats.org/officeDocument/2006/relationships/image" Target="../media/image504.png"/><Relationship Id="rId10" Type="http://schemas.openxmlformats.org/officeDocument/2006/relationships/image" Target="../media/image491.png"/><Relationship Id="rId19" Type="http://schemas.openxmlformats.org/officeDocument/2006/relationships/image" Target="../media/image500.png"/><Relationship Id="rId4" Type="http://schemas.openxmlformats.org/officeDocument/2006/relationships/image" Target="../media/image2.png"/><Relationship Id="rId9" Type="http://schemas.openxmlformats.org/officeDocument/2006/relationships/image" Target="../media/image490.png"/><Relationship Id="rId14" Type="http://schemas.openxmlformats.org/officeDocument/2006/relationships/image" Target="../media/image495.png"/><Relationship Id="rId22" Type="http://schemas.openxmlformats.org/officeDocument/2006/relationships/image" Target="../media/image503.png"/><Relationship Id="rId27" Type="http://schemas.openxmlformats.org/officeDocument/2006/relationships/image" Target="../media/image50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png"/><Relationship Id="rId13" Type="http://schemas.openxmlformats.org/officeDocument/2006/relationships/image" Target="../media/image517.png"/><Relationship Id="rId18" Type="http://schemas.openxmlformats.org/officeDocument/2006/relationships/image" Target="../media/image522.png"/><Relationship Id="rId3" Type="http://schemas.openxmlformats.org/officeDocument/2006/relationships/image" Target="../media/image75.png"/><Relationship Id="rId21" Type="http://schemas.openxmlformats.org/officeDocument/2006/relationships/image" Target="../media/image523.png"/><Relationship Id="rId7" Type="http://schemas.openxmlformats.org/officeDocument/2006/relationships/image" Target="../media/image511.png"/><Relationship Id="rId12" Type="http://schemas.openxmlformats.org/officeDocument/2006/relationships/image" Target="../media/image516.png"/><Relationship Id="rId17" Type="http://schemas.openxmlformats.org/officeDocument/2006/relationships/image" Target="../media/image521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52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515.png"/><Relationship Id="rId5" Type="http://schemas.openxmlformats.org/officeDocument/2006/relationships/image" Target="../media/image509.png"/><Relationship Id="rId15" Type="http://schemas.openxmlformats.org/officeDocument/2006/relationships/image" Target="../media/image519.png"/><Relationship Id="rId10" Type="http://schemas.openxmlformats.org/officeDocument/2006/relationships/image" Target="../media/image514.png"/><Relationship Id="rId19" Type="http://schemas.openxmlformats.org/officeDocument/2006/relationships/image" Target="../media/image465.png"/><Relationship Id="rId4" Type="http://schemas.openxmlformats.org/officeDocument/2006/relationships/image" Target="../media/image508.png"/><Relationship Id="rId9" Type="http://schemas.openxmlformats.org/officeDocument/2006/relationships/image" Target="../media/image513.png"/><Relationship Id="rId14" Type="http://schemas.openxmlformats.org/officeDocument/2006/relationships/image" Target="../media/image518.png"/><Relationship Id="rId22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7.png"/><Relationship Id="rId13" Type="http://schemas.openxmlformats.org/officeDocument/2006/relationships/image" Target="../media/image28.png"/><Relationship Id="rId18" Type="http://schemas.openxmlformats.org/officeDocument/2006/relationships/image" Target="../media/image534.png"/><Relationship Id="rId3" Type="http://schemas.openxmlformats.org/officeDocument/2006/relationships/image" Target="../media/image524.png"/><Relationship Id="rId21" Type="http://schemas.openxmlformats.org/officeDocument/2006/relationships/image" Target="../media/image536.png"/><Relationship Id="rId7" Type="http://schemas.openxmlformats.org/officeDocument/2006/relationships/image" Target="../media/image32.png"/><Relationship Id="rId12" Type="http://schemas.openxmlformats.org/officeDocument/2006/relationships/image" Target="../media/image531.png"/><Relationship Id="rId17" Type="http://schemas.openxmlformats.org/officeDocument/2006/relationships/image" Target="../media/image533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532.png"/><Relationship Id="rId20" Type="http://schemas.openxmlformats.org/officeDocument/2006/relationships/image" Target="../media/image5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6.png"/><Relationship Id="rId11" Type="http://schemas.openxmlformats.org/officeDocument/2006/relationships/image" Target="../media/image530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image" Target="../media/image529.png"/><Relationship Id="rId19" Type="http://schemas.openxmlformats.org/officeDocument/2006/relationships/image" Target="../media/image40.png"/><Relationship Id="rId4" Type="http://schemas.openxmlformats.org/officeDocument/2006/relationships/image" Target="../media/image525.png"/><Relationship Id="rId9" Type="http://schemas.openxmlformats.org/officeDocument/2006/relationships/image" Target="../media/image528.png"/><Relationship Id="rId1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loudbees.com/newsroom/survey-platform-engineering-key-driver-developer-productivity" TargetMode="External"/><Relationship Id="rId13" Type="http://schemas.openxmlformats.org/officeDocument/2006/relationships/image" Target="../media/image541.png"/><Relationship Id="rId18" Type="http://schemas.openxmlformats.org/officeDocument/2006/relationships/image" Target="../media/image545.png"/><Relationship Id="rId26" Type="http://schemas.openxmlformats.org/officeDocument/2006/relationships/image" Target="../media/image552.png"/><Relationship Id="rId3" Type="http://schemas.openxmlformats.org/officeDocument/2006/relationships/image" Target="../media/image524.png"/><Relationship Id="rId21" Type="http://schemas.openxmlformats.org/officeDocument/2006/relationships/image" Target="../media/image548.png"/><Relationship Id="rId7" Type="http://schemas.openxmlformats.org/officeDocument/2006/relationships/hyperlink" Target="https://storage.googleapis.com/gweb-research2023-media/pubtools/4894.pdf" TargetMode="External"/><Relationship Id="rId12" Type="http://schemas.openxmlformats.org/officeDocument/2006/relationships/image" Target="../media/image540.png"/><Relationship Id="rId17" Type="http://schemas.openxmlformats.org/officeDocument/2006/relationships/image" Target="../media/image544.png"/><Relationship Id="rId25" Type="http://schemas.openxmlformats.org/officeDocument/2006/relationships/image" Target="../media/image551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543.png"/><Relationship Id="rId20" Type="http://schemas.openxmlformats.org/officeDocument/2006/relationships/image" Target="../media/image547.png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539.png"/><Relationship Id="rId24" Type="http://schemas.openxmlformats.org/officeDocument/2006/relationships/image" Target="../media/image65.png"/><Relationship Id="rId5" Type="http://schemas.openxmlformats.org/officeDocument/2006/relationships/hyperlink" Target="https://www.microsoft.com/en-us/research/wp-content/uploads/2024/11/Time-Warp-Developer-Productivity-Study.pdf" TargetMode="External"/><Relationship Id="rId15" Type="http://schemas.openxmlformats.org/officeDocument/2006/relationships/image" Target="../media/image48.png"/><Relationship Id="rId23" Type="http://schemas.openxmlformats.org/officeDocument/2006/relationships/image" Target="../media/image550.png"/><Relationship Id="rId28" Type="http://schemas.openxmlformats.org/officeDocument/2006/relationships/image" Target="../media/image553.png"/><Relationship Id="rId10" Type="http://schemas.openxmlformats.org/officeDocument/2006/relationships/image" Target="../media/image538.png"/><Relationship Id="rId19" Type="http://schemas.openxmlformats.org/officeDocument/2006/relationships/image" Target="../media/image546.png"/><Relationship Id="rId31" Type="http://schemas.openxmlformats.org/officeDocument/2006/relationships/image" Target="../media/image555.png"/><Relationship Id="rId4" Type="http://schemas.openxmlformats.org/officeDocument/2006/relationships/image" Target="../media/image537.png"/><Relationship Id="rId9" Type="http://schemas.openxmlformats.org/officeDocument/2006/relationships/hyperlink" Target="https://stripe.com/files/reports/the-developer-coefficient.pdf" TargetMode="External"/><Relationship Id="rId14" Type="http://schemas.openxmlformats.org/officeDocument/2006/relationships/image" Target="../media/image542.png"/><Relationship Id="rId22" Type="http://schemas.openxmlformats.org/officeDocument/2006/relationships/image" Target="../media/image549.png"/><Relationship Id="rId27" Type="http://schemas.openxmlformats.org/officeDocument/2006/relationships/image" Target="../media/image130.png"/><Relationship Id="rId30" Type="http://schemas.openxmlformats.org/officeDocument/2006/relationships/image" Target="../media/image5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952500"/>
            <a:ext cx="76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25" y="118110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750" y="238125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4488" y="255270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3810000"/>
            <a:ext cx="5334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6450" y="39433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8750" y="52387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2100" y="539115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952500"/>
            <a:ext cx="7620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63125" y="118110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53650" y="238125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39388" y="255270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53600" y="3810000"/>
            <a:ext cx="533400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34575" y="39433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06050" y="523875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58450" y="539115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76550" y="380036"/>
            <a:ext cx="1219200" cy="1219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52612" y="627097"/>
            <a:ext cx="667075" cy="65080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06952" y="4166442"/>
            <a:ext cx="150495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80467" y="4317350"/>
            <a:ext cx="1333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01952" y="4171950"/>
            <a:ext cx="1661063" cy="457200"/>
          </a:xfrm>
          <a:prstGeom prst="rect">
            <a:avLst/>
          </a:prstGeom>
        </p:spPr>
      </p:pic>
      <p:sp>
        <p:nvSpPr>
          <p:cNvPr id="33" name="Text 1"/>
          <p:cNvSpPr/>
          <p:nvPr/>
        </p:nvSpPr>
        <p:spPr>
          <a:xfrm>
            <a:off x="1786890" y="2571750"/>
            <a:ext cx="8618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en-US" sz="36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시대</a:t>
            </a:r>
            <a:r>
              <a:rPr lang="en-US" sz="3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6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</a:t>
            </a:r>
            <a:r>
              <a:rPr lang="en-US" sz="3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6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</a:t>
            </a:r>
            <a:r>
              <a:rPr lang="ko-KR" altLang="en-US" sz="3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</a:t>
            </a:r>
            <a:r>
              <a:rPr lang="en-US" sz="3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역할과</a:t>
            </a:r>
            <a:r>
              <a:rPr lang="en-US" sz="3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</a:t>
            </a:r>
            <a:r>
              <a:rPr lang="en-US" sz="3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</a:t>
            </a:r>
            <a:endParaRPr lang="en-US" sz="3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2"/>
          <p:cNvSpPr/>
          <p:nvPr/>
        </p:nvSpPr>
        <p:spPr>
          <a:xfrm>
            <a:off x="1786890" y="3257550"/>
            <a:ext cx="8618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개발자의 시간을 되찾고</a:t>
            </a:r>
            <a:r>
              <a:rPr lang="en-US" altLang="ko-KR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조직의 지능을 설계하라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3"/>
          <p:cNvSpPr/>
          <p:nvPr/>
        </p:nvSpPr>
        <p:spPr>
          <a:xfrm>
            <a:off x="6592175" y="428074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2025-10-</a:t>
            </a:r>
            <a:r>
              <a:rPr lang="en-US" altLang="ko-KR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4"/>
          <p:cNvSpPr/>
          <p:nvPr/>
        </p:nvSpPr>
        <p:spPr>
          <a:xfrm>
            <a:off x="4644731" y="4286250"/>
            <a:ext cx="120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Vizend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Workshop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Image 26" descr="preencoded.png">
            <a:extLst>
              <a:ext uri="{FF2B5EF4-FFF2-40B4-BE49-F238E27FC236}">
                <a16:creationId xmlns:a16="http://schemas.microsoft.com/office/drawing/2014/main" id="{681EA9E8-6301-A331-BF1E-77D2EA66D8A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67835" y="4895850"/>
            <a:ext cx="1504950" cy="457200"/>
          </a:xfrm>
          <a:prstGeom prst="rect">
            <a:avLst/>
          </a:prstGeom>
        </p:spPr>
      </p:pic>
      <p:sp>
        <p:nvSpPr>
          <p:cNvPr id="26" name="Text 3">
            <a:extLst>
              <a:ext uri="{FF2B5EF4-FFF2-40B4-BE49-F238E27FC236}">
                <a16:creationId xmlns:a16="http://schemas.microsoft.com/office/drawing/2014/main" id="{5EEE5EB1-BE2D-9D7F-E066-C16C5F2E1444}"/>
              </a:ext>
            </a:extLst>
          </p:cNvPr>
          <p:cNvSpPr/>
          <p:nvPr/>
        </p:nvSpPr>
        <p:spPr>
          <a:xfrm>
            <a:off x="5764075" y="501015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발표자</a:t>
            </a:r>
            <a:r>
              <a:rPr lang="en-US" altLang="ko-KR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허태준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7" name="Image 29" descr="preencoded.png">
            <a:extLst>
              <a:ext uri="{FF2B5EF4-FFF2-40B4-BE49-F238E27FC236}">
                <a16:creationId xmlns:a16="http://schemas.microsoft.com/office/drawing/2014/main" id="{871C0280-13F6-9286-4816-F3777AEC111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48810" y="5048250"/>
            <a:ext cx="133350" cy="152400"/>
          </a:xfrm>
          <a:prstGeom prst="rect">
            <a:avLst/>
          </a:prstGeom>
        </p:spPr>
      </p:pic>
      <p:pic>
        <p:nvPicPr>
          <p:cNvPr id="32" name="Image 10" descr="preencoded.png">
            <a:extLst>
              <a:ext uri="{FF2B5EF4-FFF2-40B4-BE49-F238E27FC236}">
                <a16:creationId xmlns:a16="http://schemas.microsoft.com/office/drawing/2014/main" id="{8C51B415-37D4-8883-AB2E-581E6FB9372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41973" y="4295939"/>
            <a:ext cx="12323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377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89" y="1141344"/>
            <a:ext cx="5334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189" y="1255644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789" y="1896837"/>
            <a:ext cx="5334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189" y="2011137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789" y="2653992"/>
            <a:ext cx="533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189" y="2768292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789" y="3424445"/>
            <a:ext cx="5334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8764" y="3538745"/>
            <a:ext cx="1714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7789" y="4191104"/>
            <a:ext cx="53340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0189" y="4305404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7789" y="4973860"/>
            <a:ext cx="53340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4477" y="508816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7789" y="5767778"/>
            <a:ext cx="53340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4477" y="5882078"/>
            <a:ext cx="20002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819900"/>
            <a:ext cx="536377" cy="381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 1"/>
          <p:cNvSpPr/>
          <p:nvPr/>
        </p:nvSpPr>
        <p:spPr>
          <a:xfrm>
            <a:off x="1563589" y="1260612"/>
            <a:ext cx="4960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AI 시대, 왜 플랫폼 팀인가?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563589" y="2049237"/>
            <a:ext cx="3966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플랫폼 팀의 역할 변화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563589" y="2817993"/>
            <a:ext cx="3989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en-US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</a:t>
            </a: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경험</a:t>
            </a: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향상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563589" y="3547035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글로벌 기업 사례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9"/>
          <p:cNvSpPr/>
          <p:nvPr/>
        </p:nvSpPr>
        <p:spPr>
          <a:xfrm>
            <a:off x="1563589" y="4320727"/>
            <a:ext cx="37376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플랫폼 팀에 필요한 핵심 역량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1563589" y="512787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 플랫폼 엔지니어 인재상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1563589" y="5882078"/>
            <a:ext cx="3057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 </a:t>
            </a:r>
            <a:r>
              <a:rPr lang="en-US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결론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8F700259-5ED9-11DF-A0C2-3CC05652A10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46035" y="1141344"/>
            <a:ext cx="3555950" cy="1288893"/>
          </a:xfrm>
          <a:prstGeom prst="rect">
            <a:avLst/>
          </a:prstGeom>
        </p:spPr>
      </p:pic>
      <p:sp>
        <p:nvSpPr>
          <p:cNvPr id="38" name="Text 1">
            <a:extLst>
              <a:ext uri="{FF2B5EF4-FFF2-40B4-BE49-F238E27FC236}">
                <a16:creationId xmlns:a16="http://schemas.microsoft.com/office/drawing/2014/main" id="{3A5FE25B-2410-5AA4-793F-E2F5B3DC6199}"/>
              </a:ext>
            </a:extLst>
          </p:cNvPr>
          <p:cNvSpPr/>
          <p:nvPr/>
        </p:nvSpPr>
        <p:spPr>
          <a:xfrm>
            <a:off x="8960622" y="1427094"/>
            <a:ext cx="66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69FF9ADB-3F9F-BB98-A570-943D1E31DAFE}"/>
              </a:ext>
            </a:extLst>
          </p:cNvPr>
          <p:cNvSpPr/>
          <p:nvPr/>
        </p:nvSpPr>
        <p:spPr>
          <a:xfrm>
            <a:off x="7636535" y="1903344"/>
            <a:ext cx="3174950" cy="37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플랫폼의 의미와 가치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31E8224A-CCDF-AD34-D1C4-A9F04C6EC5F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46035" y="2802605"/>
            <a:ext cx="3555950" cy="1288893"/>
          </a:xfrm>
          <a:prstGeom prst="rect">
            <a:avLst/>
          </a:prstGeom>
        </p:spPr>
      </p:pic>
      <p:sp>
        <p:nvSpPr>
          <p:cNvPr id="41" name="Text 1">
            <a:extLst>
              <a:ext uri="{FF2B5EF4-FFF2-40B4-BE49-F238E27FC236}">
                <a16:creationId xmlns:a16="http://schemas.microsoft.com/office/drawing/2014/main" id="{C6B23B7A-7B9A-1633-65BD-AADAD6F74940}"/>
              </a:ext>
            </a:extLst>
          </p:cNvPr>
          <p:cNvSpPr/>
          <p:nvPr/>
        </p:nvSpPr>
        <p:spPr>
          <a:xfrm>
            <a:off x="8464676" y="3088355"/>
            <a:ext cx="1667789" cy="360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WHAT &amp; HOW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B37B1135-2591-8730-3CDD-A01124A8FC1F}"/>
              </a:ext>
            </a:extLst>
          </p:cNvPr>
          <p:cNvSpPr/>
          <p:nvPr/>
        </p:nvSpPr>
        <p:spPr>
          <a:xfrm>
            <a:off x="7636535" y="3564605"/>
            <a:ext cx="3174950" cy="47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운영모델과 전략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7D23E3E2-D62C-D4A0-57D3-A2B87FA463C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46035" y="4494146"/>
            <a:ext cx="3555950" cy="1288893"/>
          </a:xfrm>
          <a:prstGeom prst="rect">
            <a:avLst/>
          </a:prstGeom>
        </p:spPr>
      </p:pic>
      <p:sp>
        <p:nvSpPr>
          <p:cNvPr id="44" name="Text 1">
            <a:extLst>
              <a:ext uri="{FF2B5EF4-FFF2-40B4-BE49-F238E27FC236}">
                <a16:creationId xmlns:a16="http://schemas.microsoft.com/office/drawing/2014/main" id="{FBFDA689-ADED-7C1D-086D-D7D437BE87F8}"/>
              </a:ext>
            </a:extLst>
          </p:cNvPr>
          <p:cNvSpPr/>
          <p:nvPr/>
        </p:nvSpPr>
        <p:spPr>
          <a:xfrm>
            <a:off x="8960621" y="4750799"/>
            <a:ext cx="663826" cy="2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WHO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E7B1D787-7000-FD4F-DDDB-391A4A2F8ABF}"/>
              </a:ext>
            </a:extLst>
          </p:cNvPr>
          <p:cNvSpPr/>
          <p:nvPr/>
        </p:nvSpPr>
        <p:spPr>
          <a:xfrm>
            <a:off x="7636535" y="5293052"/>
            <a:ext cx="3174950" cy="294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 역량과 팀 구성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14500"/>
            <a:ext cx="5181600" cy="800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88595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063" y="1981200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45902"/>
            <a:ext cx="5181600" cy="800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017352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538" y="3112602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957426"/>
            <a:ext cx="5181600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128876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" y="4224126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201889"/>
            <a:ext cx="5181600" cy="990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181100"/>
            <a:ext cx="5181600" cy="380408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142875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8463" y="1524000"/>
            <a:ext cx="2190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6600" y="2133600"/>
            <a:ext cx="3810000" cy="2438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4612874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82200" y="4612874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5209337"/>
            <a:ext cx="5181600" cy="98978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27769"/>
            <a:ext cx="12192000" cy="38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827769"/>
            <a:ext cx="816769" cy="381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복잡성 폭증과 인지 부하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 1"/>
          <p:cNvSpPr/>
          <p:nvPr/>
        </p:nvSpPr>
        <p:spPr>
          <a:xfrm>
            <a:off x="609600" y="11811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복잡성의 원인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 2"/>
          <p:cNvSpPr/>
          <p:nvPr/>
        </p:nvSpPr>
        <p:spPr>
          <a:xfrm>
            <a:off x="1371600" y="1866900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마이크로서비스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 3"/>
          <p:cNvSpPr/>
          <p:nvPr/>
        </p:nvSpPr>
        <p:spPr>
          <a:xfrm>
            <a:off x="1371600" y="21336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 간 의존성과 통합 관리의 복잡성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4"/>
          <p:cNvSpPr/>
          <p:nvPr/>
        </p:nvSpPr>
        <p:spPr>
          <a:xfrm>
            <a:off x="1371600" y="2998302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5"/>
          <p:cNvSpPr/>
          <p:nvPr/>
        </p:nvSpPr>
        <p:spPr>
          <a:xfrm>
            <a:off x="1371600" y="326500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다양한 서비스와 제공업체 관리의 부담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6"/>
          <p:cNvSpPr/>
          <p:nvPr/>
        </p:nvSpPr>
        <p:spPr>
          <a:xfrm>
            <a:off x="1371600" y="4109826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기술 확산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7"/>
          <p:cNvSpPr/>
          <p:nvPr/>
        </p:nvSpPr>
        <p:spPr>
          <a:xfrm>
            <a:off x="1371600" y="4376526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신기술 학습과 도입의 추가적 노력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8"/>
          <p:cNvSpPr/>
          <p:nvPr/>
        </p:nvSpPr>
        <p:spPr>
          <a:xfrm>
            <a:off x="762000" y="5354289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결과: </a:t>
            </a:r>
            <a:r>
              <a:rPr lang="en-US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생산성 저해, 혁신 속도 감소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 9"/>
          <p:cNvSpPr/>
          <p:nvPr/>
        </p:nvSpPr>
        <p:spPr>
          <a:xfrm>
            <a:off x="762000" y="5582889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복잡한 인프라와 반복적인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작업에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얽매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창의적인 문제 해결에 집중하지 못합니다.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7239000" y="1409700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Stripe Developer Coefficient 2023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7239000" y="1676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600명의 개발자를 대상으로 조사한 결과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6857999" y="4574773"/>
            <a:ext cx="1150883" cy="247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업무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60%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10210800" y="457477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업무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40%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6553200" y="5298674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</a:t>
            </a:r>
            <a:r>
              <a:rPr lang="ko-KR" altLang="en-US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</a:t>
            </a:r>
            <a:r>
              <a:rPr lang="en-US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업무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6581774" y="5590338"/>
            <a:ext cx="1849383" cy="18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altLang="ko-KR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회의와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</a:t>
            </a:r>
            <a:endParaRPr lang="en-US" altLang="ko-KR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9040758" y="5590338"/>
            <a:ext cx="1528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태스크 관리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9040758" y="5860154"/>
            <a:ext cx="16366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보안 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컴플라이언스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6581775" y="5852188"/>
            <a:ext cx="208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고객지원 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응대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54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14500"/>
            <a:ext cx="5181600" cy="800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88595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38" y="198120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88799"/>
            <a:ext cx="5181600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760249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50" y="4855499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684145"/>
            <a:ext cx="5181600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855595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1063" y="2950845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1714500"/>
            <a:ext cx="5486400" cy="367093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6477" y="1842135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5540" y="1937385"/>
            <a:ext cx="219075" cy="2667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Time Warp: 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개발자의 시간은 어디로 사라지는가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1"/>
          <p:cNvSpPr/>
          <p:nvPr/>
        </p:nvSpPr>
        <p:spPr>
          <a:xfrm>
            <a:off x="609600" y="1181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개발자가 실제로 시간을 쓰는 곳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371600" y="1866900"/>
            <a:ext cx="14954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코딩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5"/>
          <p:cNvSpPr/>
          <p:nvPr/>
        </p:nvSpPr>
        <p:spPr>
          <a:xfrm>
            <a:off x="1371600" y="2164080"/>
            <a:ext cx="17945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 </a:t>
            </a:r>
            <a:r>
              <a:rPr lang="en-US" altLang="ko-KR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vs </a:t>
            </a:r>
            <a:r>
              <a:rPr lang="ko-KR" altLang="en-US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</a:t>
            </a:r>
            <a:r>
              <a:rPr lang="en-US" altLang="ko-KR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11%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 6"/>
          <p:cNvSpPr/>
          <p:nvPr/>
        </p:nvSpPr>
        <p:spPr>
          <a:xfrm>
            <a:off x="1371600" y="4741199"/>
            <a:ext cx="20532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보안 </a:t>
            </a:r>
            <a:r>
              <a:rPr lang="en-US" altLang="ko-KR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</a:t>
            </a:r>
            <a:r>
              <a:rPr lang="ko-KR" altLang="en-US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컴플라이언스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7"/>
          <p:cNvSpPr/>
          <p:nvPr/>
        </p:nvSpPr>
        <p:spPr>
          <a:xfrm>
            <a:off x="1371600" y="5038379"/>
            <a:ext cx="1840230" cy="2171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  </a:t>
            </a:r>
            <a:r>
              <a:rPr lang="en-US" altLang="ko-KR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4% </a:t>
            </a:r>
            <a:r>
              <a:rPr lang="en-US" altLang="ko-KR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</a:t>
            </a: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 </a:t>
            </a:r>
            <a:r>
              <a:rPr lang="ko-KR" altLang="en-US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</a:t>
            </a:r>
            <a:r>
              <a:rPr lang="en-US" altLang="ko-KR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10%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8"/>
          <p:cNvSpPr/>
          <p:nvPr/>
        </p:nvSpPr>
        <p:spPr>
          <a:xfrm>
            <a:off x="1371600" y="2836545"/>
            <a:ext cx="140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9"/>
          <p:cNvSpPr/>
          <p:nvPr/>
        </p:nvSpPr>
        <p:spPr>
          <a:xfrm>
            <a:off x="1371600" y="3133725"/>
            <a:ext cx="1691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 </a:t>
            </a:r>
            <a:r>
              <a:rPr lang="en-US" altLang="ko-KR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15%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vs </a:t>
            </a:r>
            <a:r>
              <a:rPr lang="ko-KR" altLang="en-US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</a:t>
            </a:r>
            <a:r>
              <a:rPr lang="en-US" altLang="ko-KR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6%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6096000" y="1181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WorkWeek</a:t>
            </a: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 </a:t>
            </a:r>
            <a:r>
              <a:rPr lang="en-US" altLang="ko-KR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vs</a:t>
            </a:r>
            <a:r>
              <a:rPr lang="ko-KR" alt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현실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6956077" y="1823085"/>
            <a:ext cx="2674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Microsoft </a:t>
            </a:r>
            <a:r>
              <a:rPr lang="en-US" sz="15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연구</a:t>
            </a: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결과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6956077" y="2089785"/>
            <a:ext cx="2674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근무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간과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이상적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근무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비교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6" name="Image 12" descr="preencoded.png">
            <a:extLst>
              <a:ext uri="{FF2B5EF4-FFF2-40B4-BE49-F238E27FC236}">
                <a16:creationId xmlns:a16="http://schemas.microsoft.com/office/drawing/2014/main" id="{2E4D73E5-4DF6-760B-53D5-24D8FDC394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75849" y="2417445"/>
            <a:ext cx="2095500" cy="2095500"/>
          </a:xfrm>
          <a:prstGeom prst="rect">
            <a:avLst/>
          </a:prstGeom>
        </p:spPr>
      </p:pic>
      <p:pic>
        <p:nvPicPr>
          <p:cNvPr id="47" name="Image 14" descr="preencoded.png">
            <a:extLst>
              <a:ext uri="{FF2B5EF4-FFF2-40B4-BE49-F238E27FC236}">
                <a16:creationId xmlns:a16="http://schemas.microsoft.com/office/drawing/2014/main" id="{E3726F08-7DCA-3B02-A650-6234F928F17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8132" y="2417445"/>
            <a:ext cx="2095500" cy="2095500"/>
          </a:xfrm>
          <a:prstGeom prst="rect">
            <a:avLst/>
          </a:prstGeom>
        </p:spPr>
      </p:pic>
      <p:pic>
        <p:nvPicPr>
          <p:cNvPr id="48" name="Image 16" descr="preencoded.png">
            <a:extLst>
              <a:ext uri="{FF2B5EF4-FFF2-40B4-BE49-F238E27FC236}">
                <a16:creationId xmlns:a16="http://schemas.microsoft.com/office/drawing/2014/main" id="{BA6232CB-3E36-6C34-6D68-E6B27B0F6B5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44284" y="5072670"/>
            <a:ext cx="152400" cy="152400"/>
          </a:xfrm>
          <a:prstGeom prst="rect">
            <a:avLst/>
          </a:prstGeom>
        </p:spPr>
      </p:pic>
      <p:pic>
        <p:nvPicPr>
          <p:cNvPr id="49" name="Image 17" descr="preencoded.png">
            <a:extLst>
              <a:ext uri="{FF2B5EF4-FFF2-40B4-BE49-F238E27FC236}">
                <a16:creationId xmlns:a16="http://schemas.microsoft.com/office/drawing/2014/main" id="{4C745C2E-B928-290E-0405-F4A8739AE6C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29700" y="5072670"/>
            <a:ext cx="152400" cy="152400"/>
          </a:xfrm>
          <a:prstGeom prst="rect">
            <a:avLst/>
          </a:prstGeom>
        </p:spPr>
      </p:pic>
      <p:sp>
        <p:nvSpPr>
          <p:cNvPr id="50" name="Text 13">
            <a:extLst>
              <a:ext uri="{FF2B5EF4-FFF2-40B4-BE49-F238E27FC236}">
                <a16:creationId xmlns:a16="http://schemas.microsoft.com/office/drawing/2014/main" id="{4538FFD9-6CB5-33E8-5557-D2CA9587C0E9}"/>
              </a:ext>
            </a:extLst>
          </p:cNvPr>
          <p:cNvSpPr/>
          <p:nvPr/>
        </p:nvSpPr>
        <p:spPr>
          <a:xfrm>
            <a:off x="9651935" y="4589145"/>
            <a:ext cx="11431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 근무 주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19A3D714-44B9-B467-087A-FEF9A727EA0B}"/>
              </a:ext>
            </a:extLst>
          </p:cNvPr>
          <p:cNvSpPr/>
          <p:nvPr/>
        </p:nvSpPr>
        <p:spPr>
          <a:xfrm>
            <a:off x="7054218" y="4589145"/>
            <a:ext cx="11431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 근무 주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B721B31B-B755-4135-AD51-ECBE734CE567}"/>
              </a:ext>
            </a:extLst>
          </p:cNvPr>
          <p:cNvSpPr/>
          <p:nvPr/>
        </p:nvSpPr>
        <p:spPr>
          <a:xfrm>
            <a:off x="8072884" y="5034570"/>
            <a:ext cx="7824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업무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3B21B166-C88C-8D63-FF04-9C921E889CD5}"/>
              </a:ext>
            </a:extLst>
          </p:cNvPr>
          <p:cNvSpPr/>
          <p:nvPr/>
        </p:nvSpPr>
        <p:spPr>
          <a:xfrm>
            <a:off x="9258300" y="503457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비개발 업무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4" name="Image 21" descr="preencoded.png">
            <a:extLst>
              <a:ext uri="{FF2B5EF4-FFF2-40B4-BE49-F238E27FC236}">
                <a16:creationId xmlns:a16="http://schemas.microsoft.com/office/drawing/2014/main" id="{E8A3C567-59AA-59C1-E221-6E7C4321DB8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55" name="Image 22" descr="preencoded.png">
            <a:extLst>
              <a:ext uri="{FF2B5EF4-FFF2-40B4-BE49-F238E27FC236}">
                <a16:creationId xmlns:a16="http://schemas.microsoft.com/office/drawing/2014/main" id="{61538F65-F339-75CD-E557-A4780C6C8BF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819900"/>
            <a:ext cx="1353294" cy="38100"/>
          </a:xfrm>
          <a:prstGeom prst="rect">
            <a:avLst/>
          </a:prstGeom>
        </p:spPr>
      </p:pic>
      <p:pic>
        <p:nvPicPr>
          <p:cNvPr id="56" name="Image 29" descr="preencoded.png">
            <a:extLst>
              <a:ext uri="{FF2B5EF4-FFF2-40B4-BE49-F238E27FC236}">
                <a16:creationId xmlns:a16="http://schemas.microsoft.com/office/drawing/2014/main" id="{8AD77B20-2872-EE04-7039-3B2F345A421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5615940"/>
            <a:ext cx="10972800" cy="838200"/>
          </a:xfrm>
          <a:prstGeom prst="rect">
            <a:avLst/>
          </a:prstGeom>
        </p:spPr>
      </p:pic>
      <p:pic>
        <p:nvPicPr>
          <p:cNvPr id="57" name="Image 30" descr="preencoded.png">
            <a:extLst>
              <a:ext uri="{FF2B5EF4-FFF2-40B4-BE49-F238E27FC236}">
                <a16:creationId xmlns:a16="http://schemas.microsoft.com/office/drawing/2014/main" id="{0623C8BC-FE60-CA1B-4725-E762E67DFE2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5806440"/>
            <a:ext cx="457200" cy="457200"/>
          </a:xfrm>
          <a:prstGeom prst="rect">
            <a:avLst/>
          </a:prstGeom>
        </p:spPr>
      </p:pic>
      <p:pic>
        <p:nvPicPr>
          <p:cNvPr id="58" name="Image 31" descr="preencoded.png">
            <a:extLst>
              <a:ext uri="{FF2B5EF4-FFF2-40B4-BE49-F238E27FC236}">
                <a16:creationId xmlns:a16="http://schemas.microsoft.com/office/drawing/2014/main" id="{21D8CAD0-2FE7-EF07-1621-9F3D1D3F467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9162" y="5901690"/>
            <a:ext cx="142875" cy="266700"/>
          </a:xfrm>
          <a:prstGeom prst="rect">
            <a:avLst/>
          </a:prstGeom>
        </p:spPr>
      </p:pic>
      <p:sp>
        <p:nvSpPr>
          <p:cNvPr id="59" name="Text 21">
            <a:extLst>
              <a:ext uri="{FF2B5EF4-FFF2-40B4-BE49-F238E27FC236}">
                <a16:creationId xmlns:a16="http://schemas.microsoft.com/office/drawing/2014/main" id="{1A09183D-451B-4CE4-EE10-B086B5C60655}"/>
              </a:ext>
            </a:extLst>
          </p:cNvPr>
          <p:cNvSpPr/>
          <p:nvPr/>
        </p:nvSpPr>
        <p:spPr>
          <a:xfrm>
            <a:off x="1371600" y="5768340"/>
            <a:ext cx="94964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인사이트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EEF85FE3-CEA1-2902-A8F2-46D933E07D2C}"/>
              </a:ext>
            </a:extLst>
          </p:cNvPr>
          <p:cNvSpPr/>
          <p:nvPr/>
        </p:nvSpPr>
        <p:spPr>
          <a:xfrm>
            <a:off x="1371600" y="6073140"/>
            <a:ext cx="100203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Microsoft</a:t>
            </a: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연구의 결론</a:t>
            </a:r>
            <a:r>
              <a:rPr lang="en-US" altLang="ko-KR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5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이상 </a:t>
            </a:r>
            <a:r>
              <a:rPr lang="en-US" altLang="ko-KR" sz="15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Workweek</a:t>
            </a:r>
            <a:r>
              <a:rPr lang="ko-KR" altLang="en-US" sz="15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실제 </a:t>
            </a:r>
            <a:r>
              <a:rPr lang="en-US" altLang="ko-KR" sz="15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Workweek</a:t>
            </a:r>
            <a:r>
              <a:rPr lang="ko-KR" altLang="en-US" sz="15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괴리가 클 수록 </a:t>
            </a: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생산성과 만족도가 모두 하락</a:t>
            </a:r>
            <a:r>
              <a:rPr lang="ko-KR" altLang="en-US" sz="15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한다</a:t>
            </a:r>
            <a:r>
              <a:rPr lang="en-US" altLang="ko-KR" sz="15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0" name="Image 3" descr="preencoded.png">
            <a:extLst>
              <a:ext uri="{FF2B5EF4-FFF2-40B4-BE49-F238E27FC236}">
                <a16:creationId xmlns:a16="http://schemas.microsoft.com/office/drawing/2014/main" id="{F18FF036-1E0A-DAD8-5D02-C5A308DBC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636472"/>
            <a:ext cx="5181600" cy="800100"/>
          </a:xfrm>
          <a:prstGeom prst="rect">
            <a:avLst/>
          </a:prstGeom>
        </p:spPr>
      </p:pic>
      <p:pic>
        <p:nvPicPr>
          <p:cNvPr id="71" name="Image 4" descr="preencoded.png">
            <a:extLst>
              <a:ext uri="{FF2B5EF4-FFF2-40B4-BE49-F238E27FC236}">
                <a16:creationId xmlns:a16="http://schemas.microsoft.com/office/drawing/2014/main" id="{1886058A-BA34-08CA-8EE2-263ACA7407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807922"/>
            <a:ext cx="457200" cy="457200"/>
          </a:xfrm>
          <a:prstGeom prst="rect">
            <a:avLst/>
          </a:prstGeom>
        </p:spPr>
      </p:pic>
      <p:pic>
        <p:nvPicPr>
          <p:cNvPr id="72" name="Image 5" descr="preencoded.png">
            <a:extLst>
              <a:ext uri="{FF2B5EF4-FFF2-40B4-BE49-F238E27FC236}">
                <a16:creationId xmlns:a16="http://schemas.microsoft.com/office/drawing/2014/main" id="{D8F205C7-30FB-BE8F-76DE-B581C79AB9B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1538" y="3903172"/>
            <a:ext cx="238125" cy="266700"/>
          </a:xfrm>
          <a:prstGeom prst="rect">
            <a:avLst/>
          </a:prstGeom>
        </p:spPr>
      </p:pic>
      <p:sp>
        <p:nvSpPr>
          <p:cNvPr id="73" name="Text 2">
            <a:extLst>
              <a:ext uri="{FF2B5EF4-FFF2-40B4-BE49-F238E27FC236}">
                <a16:creationId xmlns:a16="http://schemas.microsoft.com/office/drawing/2014/main" id="{26BDBC57-F79E-DCB7-D18E-AD2F2257CA7E}"/>
              </a:ext>
            </a:extLst>
          </p:cNvPr>
          <p:cNvSpPr/>
          <p:nvPr/>
        </p:nvSpPr>
        <p:spPr>
          <a:xfrm>
            <a:off x="1371600" y="3788872"/>
            <a:ext cx="18402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회의·커뮤니케이션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Text 3">
            <a:extLst>
              <a:ext uri="{FF2B5EF4-FFF2-40B4-BE49-F238E27FC236}">
                <a16:creationId xmlns:a16="http://schemas.microsoft.com/office/drawing/2014/main" id="{3F9A3FB1-E47E-3843-C03F-D4184CA947C4}"/>
              </a:ext>
            </a:extLst>
          </p:cNvPr>
          <p:cNvSpPr/>
          <p:nvPr/>
        </p:nvSpPr>
        <p:spPr>
          <a:xfrm>
            <a:off x="1371600" y="4086052"/>
            <a:ext cx="18402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  </a:t>
            </a:r>
            <a:r>
              <a:rPr lang="en-US" altLang="ko-KR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8% </a:t>
            </a:r>
            <a:r>
              <a:rPr lang="en-US" altLang="ko-KR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vs </a:t>
            </a:r>
            <a:r>
              <a:rPr lang="ko-KR" altLang="en-US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</a:t>
            </a:r>
            <a:r>
              <a:rPr lang="en-US" altLang="ko-KR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12%</a:t>
            </a: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56114"/>
            <a:ext cx="4251871" cy="83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84814"/>
            <a:ext cx="4251871" cy="838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913514"/>
            <a:ext cx="4251871" cy="838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0071" y="2856114"/>
            <a:ext cx="6492329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071" y="3313314"/>
            <a:ext cx="6492329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071" y="3770514"/>
            <a:ext cx="6492329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071" y="4227714"/>
            <a:ext cx="6492329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0071" y="4989714"/>
            <a:ext cx="6492329" cy="81915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609600" y="2398914"/>
            <a:ext cx="42518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목표 3가지</a:t>
            </a:r>
            <a:endParaRPr lang="en-US" sz="1800" dirty="0"/>
          </a:p>
        </p:txBody>
      </p:sp>
      <p:sp>
        <p:nvSpPr>
          <p:cNvPr id="19" name="Text 4"/>
          <p:cNvSpPr/>
          <p:nvPr/>
        </p:nvSpPr>
        <p:spPr>
          <a:xfrm>
            <a:off x="1230957" y="3008514"/>
            <a:ext cx="3478113" cy="311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이상적인 </a:t>
            </a:r>
            <a:r>
              <a:rPr lang="en-US" altLang="ko-KR" sz="145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Workweek</a:t>
            </a:r>
            <a:r>
              <a:rPr lang="en-US" sz="145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가까운 구조 설계</a:t>
            </a:r>
            <a:endParaRPr lang="en-US" sz="1450" dirty="0"/>
          </a:p>
        </p:txBody>
      </p:sp>
      <p:sp>
        <p:nvSpPr>
          <p:cNvPr id="20" name="Text 5"/>
          <p:cNvSpPr/>
          <p:nvPr/>
        </p:nvSpPr>
        <p:spPr>
          <a:xfrm>
            <a:off x="1230957" y="3320834"/>
            <a:ext cx="3478113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비개발 업무 자동화, 환경 표준화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1285876" y="4037214"/>
            <a:ext cx="330889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 경험</a:t>
            </a: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중심의 셀프서비스 플랫폼 구축</a:t>
            </a:r>
            <a:endParaRPr lang="en-US" sz="1450" dirty="0"/>
          </a:p>
        </p:txBody>
      </p:sp>
      <p:sp>
        <p:nvSpPr>
          <p:cNvPr id="23" name="Text 8"/>
          <p:cNvSpPr/>
          <p:nvPr/>
        </p:nvSpPr>
        <p:spPr>
          <a:xfrm>
            <a:off x="1285876" y="4342014"/>
            <a:ext cx="33088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팀 간 의존 최소화, 개발자 자율성 극대화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1285875" y="5065914"/>
            <a:ext cx="33630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+ 플랫폼팀 시너지 강화</a:t>
            </a:r>
            <a:endParaRPr lang="en-US" sz="1450" dirty="0"/>
          </a:p>
        </p:txBody>
      </p:sp>
      <p:sp>
        <p:nvSpPr>
          <p:cNvPr id="26" name="Text 11"/>
          <p:cNvSpPr/>
          <p:nvPr/>
        </p:nvSpPr>
        <p:spPr>
          <a:xfrm>
            <a:off x="1285875" y="5370714"/>
            <a:ext cx="33630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문서·테스트·보안·커뮤니케이션 자동화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5090071" y="2398914"/>
            <a:ext cx="649232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성과 지표</a:t>
            </a:r>
            <a:endParaRPr lang="en-US" sz="1800" dirty="0"/>
          </a:p>
        </p:txBody>
      </p:sp>
      <p:sp>
        <p:nvSpPr>
          <p:cNvPr id="28" name="Text 13"/>
          <p:cNvSpPr/>
          <p:nvPr/>
        </p:nvSpPr>
        <p:spPr>
          <a:xfrm>
            <a:off x="5204371" y="2856114"/>
            <a:ext cx="210859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7312968" y="2856114"/>
            <a:ext cx="24574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</a:t>
            </a:r>
            <a:endParaRPr lang="en-US" sz="1500" dirty="0"/>
          </a:p>
        </p:txBody>
      </p:sp>
      <p:sp>
        <p:nvSpPr>
          <p:cNvPr id="30" name="Text 15"/>
          <p:cNvSpPr/>
          <p:nvPr/>
        </p:nvSpPr>
        <p:spPr>
          <a:xfrm>
            <a:off x="9951542" y="2856114"/>
            <a:ext cx="163085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31" name="Text 16"/>
          <p:cNvSpPr/>
          <p:nvPr/>
        </p:nvSpPr>
        <p:spPr>
          <a:xfrm>
            <a:off x="5204371" y="3363189"/>
            <a:ext cx="210859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 Recovery Rate (TRR)</a:t>
            </a:r>
            <a:endParaRPr lang="en-US" sz="1300" dirty="0"/>
          </a:p>
        </p:txBody>
      </p:sp>
      <p:sp>
        <p:nvSpPr>
          <p:cNvPr id="32" name="Text 17"/>
          <p:cNvSpPr/>
          <p:nvPr/>
        </p:nvSpPr>
        <p:spPr>
          <a:xfrm>
            <a:off x="7312969" y="3363189"/>
            <a:ext cx="2457420" cy="423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개발자가 되찾은 집중 업무 시간 비율</a:t>
            </a:r>
            <a:endParaRPr lang="en-US" sz="1300" dirty="0"/>
          </a:p>
        </p:txBody>
      </p:sp>
      <p:sp>
        <p:nvSpPr>
          <p:cNvPr id="33" name="Text 18"/>
          <p:cNvSpPr/>
          <p:nvPr/>
        </p:nvSpPr>
        <p:spPr>
          <a:xfrm>
            <a:off x="10091440" y="3363189"/>
            <a:ext cx="149096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생산성·몰입도 향상</a:t>
            </a:r>
            <a:endParaRPr lang="en-US" sz="1300" dirty="0"/>
          </a:p>
        </p:txBody>
      </p:sp>
      <p:sp>
        <p:nvSpPr>
          <p:cNvPr id="34" name="Text 19"/>
          <p:cNvSpPr/>
          <p:nvPr/>
        </p:nvSpPr>
        <p:spPr>
          <a:xfrm>
            <a:off x="5204371" y="3803764"/>
            <a:ext cx="199429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Automation Coverage</a:t>
            </a:r>
            <a:endParaRPr lang="en-US" sz="1300" dirty="0"/>
          </a:p>
        </p:txBody>
      </p:sp>
      <p:sp>
        <p:nvSpPr>
          <p:cNvPr id="35" name="Text 20"/>
          <p:cNvSpPr/>
          <p:nvPr/>
        </p:nvSpPr>
        <p:spPr>
          <a:xfrm>
            <a:off x="7312968" y="3841864"/>
            <a:ext cx="23431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자동화된 비개발 업무 비중</a:t>
            </a:r>
            <a:endParaRPr lang="en-US" sz="1300" dirty="0"/>
          </a:p>
        </p:txBody>
      </p:sp>
      <p:sp>
        <p:nvSpPr>
          <p:cNvPr id="36" name="Text 21"/>
          <p:cNvSpPr/>
          <p:nvPr/>
        </p:nvSpPr>
        <p:spPr>
          <a:xfrm>
            <a:off x="10091440" y="3884642"/>
            <a:ext cx="1490960" cy="3333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효율 증대</a:t>
            </a:r>
            <a:endParaRPr lang="en-US" sz="1300" dirty="0"/>
          </a:p>
        </p:txBody>
      </p:sp>
      <p:sp>
        <p:nvSpPr>
          <p:cNvPr id="37" name="Text 22"/>
          <p:cNvSpPr/>
          <p:nvPr/>
        </p:nvSpPr>
        <p:spPr>
          <a:xfrm>
            <a:off x="5204371" y="4260964"/>
            <a:ext cx="1934349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 경험</a:t>
            </a:r>
            <a:r>
              <a:rPr lang="en-US" sz="13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만족도</a:t>
            </a:r>
            <a:endParaRPr lang="en-US" sz="1300" dirty="0"/>
          </a:p>
        </p:txBody>
      </p:sp>
      <p:sp>
        <p:nvSpPr>
          <p:cNvPr id="38" name="Text 23"/>
          <p:cNvSpPr/>
          <p:nvPr/>
        </p:nvSpPr>
        <p:spPr>
          <a:xfrm>
            <a:off x="7312968" y="4260964"/>
            <a:ext cx="234312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개발자 만족도</a:t>
            </a:r>
            <a:endParaRPr lang="en-US" sz="1300" dirty="0"/>
          </a:p>
        </p:txBody>
      </p:sp>
      <p:sp>
        <p:nvSpPr>
          <p:cNvPr id="39" name="Text 24"/>
          <p:cNvSpPr/>
          <p:nvPr/>
        </p:nvSpPr>
        <p:spPr>
          <a:xfrm>
            <a:off x="10091440" y="4260964"/>
            <a:ext cx="133856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유지율 및 품질 향상</a:t>
            </a:r>
            <a:endParaRPr lang="en-US" sz="1300" dirty="0"/>
          </a:p>
        </p:txBody>
      </p:sp>
      <p:sp>
        <p:nvSpPr>
          <p:cNvPr id="40" name="Text 25"/>
          <p:cNvSpPr/>
          <p:nvPr/>
        </p:nvSpPr>
        <p:spPr>
          <a:xfrm>
            <a:off x="5280571" y="5132589"/>
            <a:ext cx="611132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시간은 개발자의 가장 비싼 리소스다</a:t>
            </a:r>
            <a:r>
              <a:rPr lang="en-US" altLang="ko-KR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ctr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팀은 개발자의 잃어버린 시간을 되찾아야 한다</a:t>
            </a:r>
            <a:r>
              <a:rPr lang="en-US" altLang="ko-KR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500" dirty="0"/>
          </a:p>
        </p:txBody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32CE1A0C-58B6-BD2E-A3F1-BFF18E5E97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sp>
        <p:nvSpPr>
          <p:cNvPr id="45" name="Text 0">
            <a:extLst>
              <a:ext uri="{FF2B5EF4-FFF2-40B4-BE49-F238E27FC236}">
                <a16:creationId xmlns:a16="http://schemas.microsoft.com/office/drawing/2014/main" id="{A337D44F-41E6-5B21-AB27-F7D165F65456}"/>
              </a:ext>
            </a:extLst>
          </p:cNvPr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시대 플랫폼팀의 목표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6" name="Image 15" descr="preencoded.png">
            <a:extLst>
              <a:ext uri="{FF2B5EF4-FFF2-40B4-BE49-F238E27FC236}">
                <a16:creationId xmlns:a16="http://schemas.microsoft.com/office/drawing/2014/main" id="{BA242F29-47AC-2AE8-EC88-2625428EBC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950" y="3002217"/>
            <a:ext cx="393595" cy="393595"/>
          </a:xfrm>
          <a:prstGeom prst="rect">
            <a:avLst/>
          </a:prstGeom>
        </p:spPr>
      </p:pic>
      <p:pic>
        <p:nvPicPr>
          <p:cNvPr id="47" name="Image 16" descr="preencoded.png">
            <a:extLst>
              <a:ext uri="{FF2B5EF4-FFF2-40B4-BE49-F238E27FC236}">
                <a16:creationId xmlns:a16="http://schemas.microsoft.com/office/drawing/2014/main" id="{7478E5C1-BE87-B12B-AADD-A2AA944CCC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509" y="3077787"/>
            <a:ext cx="216477" cy="242455"/>
          </a:xfrm>
          <a:prstGeom prst="rect">
            <a:avLst/>
          </a:prstGeom>
        </p:spPr>
      </p:pic>
      <p:pic>
        <p:nvPicPr>
          <p:cNvPr id="48" name="Image 18" descr="preencoded.png">
            <a:extLst>
              <a:ext uri="{FF2B5EF4-FFF2-40B4-BE49-F238E27FC236}">
                <a16:creationId xmlns:a16="http://schemas.microsoft.com/office/drawing/2014/main" id="{3245D936-C289-BEA7-F3EF-7ECD4FF2E2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950" y="4037214"/>
            <a:ext cx="381000" cy="381000"/>
          </a:xfrm>
          <a:prstGeom prst="rect">
            <a:avLst/>
          </a:prstGeom>
        </p:spPr>
      </p:pic>
      <p:pic>
        <p:nvPicPr>
          <p:cNvPr id="49" name="Image 19" descr="preencoded.png">
            <a:extLst>
              <a:ext uri="{FF2B5EF4-FFF2-40B4-BE49-F238E27FC236}">
                <a16:creationId xmlns:a16="http://schemas.microsoft.com/office/drawing/2014/main" id="{DCB67B5F-C1DF-81BF-644A-774948C407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6672" y="4143894"/>
            <a:ext cx="167640" cy="167640"/>
          </a:xfrm>
          <a:prstGeom prst="rect">
            <a:avLst/>
          </a:prstGeom>
        </p:spPr>
      </p:pic>
      <p:pic>
        <p:nvPicPr>
          <p:cNvPr id="50" name="Image 8" descr="preencoded.png">
            <a:extLst>
              <a:ext uri="{FF2B5EF4-FFF2-40B4-BE49-F238E27FC236}">
                <a16:creationId xmlns:a16="http://schemas.microsoft.com/office/drawing/2014/main" id="{C1A70B9C-AF12-B9A0-DB94-B3DF651683B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950" y="5031825"/>
            <a:ext cx="381000" cy="381000"/>
          </a:xfrm>
          <a:prstGeom prst="rect">
            <a:avLst/>
          </a:prstGeom>
        </p:spPr>
      </p:pic>
      <p:pic>
        <p:nvPicPr>
          <p:cNvPr id="51" name="Image 9" descr="preencoded.png">
            <a:extLst>
              <a:ext uri="{FF2B5EF4-FFF2-40B4-BE49-F238E27FC236}">
                <a16:creationId xmlns:a16="http://schemas.microsoft.com/office/drawing/2014/main" id="{6F1710EF-59FB-8D0A-7F32-2176BDF9860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8250" y="5146125"/>
            <a:ext cx="152400" cy="152400"/>
          </a:xfrm>
          <a:prstGeom prst="rect">
            <a:avLst/>
          </a:prstGeom>
        </p:spPr>
      </p:pic>
      <p:pic>
        <p:nvPicPr>
          <p:cNvPr id="54" name="Image 23" descr="preencoded.png">
            <a:extLst>
              <a:ext uri="{FF2B5EF4-FFF2-40B4-BE49-F238E27FC236}">
                <a16:creationId xmlns:a16="http://schemas.microsoft.com/office/drawing/2014/main" id="{48C4ED72-6E00-40B4-10B5-83592E21381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828732"/>
            <a:ext cx="12192000" cy="38100"/>
          </a:xfrm>
          <a:prstGeom prst="rect">
            <a:avLst/>
          </a:prstGeom>
        </p:spPr>
      </p:pic>
      <p:pic>
        <p:nvPicPr>
          <p:cNvPr id="55" name="Image 24" descr="preencoded.png">
            <a:extLst>
              <a:ext uri="{FF2B5EF4-FFF2-40B4-BE49-F238E27FC236}">
                <a16:creationId xmlns:a16="http://schemas.microsoft.com/office/drawing/2014/main" id="{8D1CA8DD-B26D-CBAF-2F38-110D7AE5E6C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" y="6828732"/>
            <a:ext cx="1964267" cy="45719"/>
          </a:xfrm>
          <a:prstGeom prst="rect">
            <a:avLst/>
          </a:prstGeom>
        </p:spPr>
      </p:pic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9A32408B-E1C1-00F8-CF29-9A5ED281508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1228032"/>
            <a:ext cx="10972800" cy="895350"/>
          </a:xfrm>
          <a:prstGeom prst="rect">
            <a:avLst/>
          </a:prstGeom>
        </p:spPr>
      </p:pic>
      <p:pic>
        <p:nvPicPr>
          <p:cNvPr id="57" name="Image 5" descr="preencoded.png">
            <a:extLst>
              <a:ext uri="{FF2B5EF4-FFF2-40B4-BE49-F238E27FC236}">
                <a16:creationId xmlns:a16="http://schemas.microsoft.com/office/drawing/2014/main" id="{57844181-72EA-5454-D9BC-9ECB757B64D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1446547"/>
            <a:ext cx="457200" cy="457200"/>
          </a:xfrm>
          <a:prstGeom prst="rect">
            <a:avLst/>
          </a:prstGeom>
        </p:spPr>
      </p:pic>
      <p:pic>
        <p:nvPicPr>
          <p:cNvPr id="58" name="Image 6" descr="preencoded.png">
            <a:extLst>
              <a:ext uri="{FF2B5EF4-FFF2-40B4-BE49-F238E27FC236}">
                <a16:creationId xmlns:a16="http://schemas.microsoft.com/office/drawing/2014/main" id="{7D143A41-AB5D-0F6A-ABC7-01326B672A0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400" y="1522747"/>
            <a:ext cx="228600" cy="304800"/>
          </a:xfrm>
          <a:prstGeom prst="rect">
            <a:avLst/>
          </a:prstGeom>
        </p:spPr>
      </p:pic>
      <p:sp>
        <p:nvSpPr>
          <p:cNvPr id="59" name="Text 2">
            <a:extLst>
              <a:ext uri="{FF2B5EF4-FFF2-40B4-BE49-F238E27FC236}">
                <a16:creationId xmlns:a16="http://schemas.microsoft.com/office/drawing/2014/main" id="{30DE7F8A-3084-3379-2A28-3079AF84987A}"/>
              </a:ext>
            </a:extLst>
          </p:cNvPr>
          <p:cNvSpPr/>
          <p:nvPr/>
        </p:nvSpPr>
        <p:spPr>
          <a:xfrm>
            <a:off x="1409700" y="1385282"/>
            <a:ext cx="39338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결론</a:t>
            </a:r>
            <a:endParaRPr lang="en-US" sz="1400" dirty="0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EA5F8763-26FD-AB3B-05B9-38FD5CC34481}"/>
              </a:ext>
            </a:extLst>
          </p:cNvPr>
          <p:cNvSpPr/>
          <p:nvPr/>
        </p:nvSpPr>
        <p:spPr>
          <a:xfrm>
            <a:off x="1409700" y="1701857"/>
            <a:ext cx="9372600" cy="3034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 플랫폼팀은 단순한 코드 자동화 </a:t>
            </a:r>
            <a:r>
              <a:rPr lang="en-US" sz="15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팀이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아니라</a:t>
            </a:r>
            <a:r>
              <a:rPr lang="ko-KR" alt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67E8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</a:t>
            </a:r>
            <a:r>
              <a:rPr lang="en-US" sz="1500" b="1" dirty="0">
                <a:solidFill>
                  <a:srgbClr val="67E8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개발자의 '시간을 효율화하는 팀'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되어야 </a:t>
            </a:r>
            <a:r>
              <a:rPr lang="en-US" sz="15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한다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771650"/>
            <a:ext cx="2836962" cy="3581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072309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2148509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4508224"/>
            <a:ext cx="11430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4736824"/>
            <a:ext cx="11430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4965424"/>
            <a:ext cx="11430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1362" y="3543300"/>
            <a:ext cx="773757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7519" y="1771650"/>
            <a:ext cx="2836962" cy="3581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6119" y="207645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0419" y="21526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6119" y="4523961"/>
            <a:ext cx="11430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6119" y="4752561"/>
            <a:ext cx="1143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6119" y="4972881"/>
            <a:ext cx="11430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6881" y="3543300"/>
            <a:ext cx="773757" cy="190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3038" y="1771650"/>
            <a:ext cx="2836962" cy="3581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21638" y="2072309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35938" y="2148509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1638" y="4523961"/>
            <a:ext cx="11430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1638" y="4752561"/>
            <a:ext cx="11430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1638" y="4971941"/>
            <a:ext cx="114300" cy="13335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09600" y="457200"/>
            <a:ext cx="111226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플랫폼팀의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진화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Supporter → Accelerator → OS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1"/>
          <p:cNvSpPr/>
          <p:nvPr/>
        </p:nvSpPr>
        <p:spPr>
          <a:xfrm>
            <a:off x="1600200" y="2148509"/>
            <a:ext cx="20231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과거: Supporter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2"/>
          <p:cNvSpPr/>
          <p:nvPr/>
        </p:nvSpPr>
        <p:spPr>
          <a:xfrm>
            <a:off x="990600" y="2752725"/>
            <a:ext cx="2379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역할 정의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3"/>
          <p:cNvSpPr/>
          <p:nvPr/>
        </p:nvSpPr>
        <p:spPr>
          <a:xfrm>
            <a:off x="990600" y="3095625"/>
            <a:ext cx="23797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인프라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안정·표준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지키는 운영팀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4"/>
          <p:cNvSpPr/>
          <p:nvPr/>
        </p:nvSpPr>
        <p:spPr>
          <a:xfrm>
            <a:off x="990600" y="3482424"/>
            <a:ext cx="2379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조직에 주는 가치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5"/>
          <p:cNvSpPr/>
          <p:nvPr/>
        </p:nvSpPr>
        <p:spPr>
          <a:xfrm>
            <a:off x="990600" y="3825324"/>
            <a:ext cx="23797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개발팀 생산성 </a:t>
            </a: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개별 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향상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 6"/>
          <p:cNvSpPr/>
          <p:nvPr/>
        </p:nvSpPr>
        <p:spPr>
          <a:xfrm>
            <a:off x="990600" y="4124740"/>
            <a:ext cx="2379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특징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7"/>
          <p:cNvSpPr/>
          <p:nvPr/>
        </p:nvSpPr>
        <p:spPr>
          <a:xfrm>
            <a:off x="1295400" y="4470124"/>
            <a:ext cx="20257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모놀리식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아키텍처, 온프레미스 운영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8"/>
          <p:cNvSpPr/>
          <p:nvPr/>
        </p:nvSpPr>
        <p:spPr>
          <a:xfrm>
            <a:off x="1295400" y="4698724"/>
            <a:ext cx="22329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서버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네트워크, 데이터베이스 관리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9"/>
          <p:cNvSpPr/>
          <p:nvPr/>
        </p:nvSpPr>
        <p:spPr>
          <a:xfrm>
            <a:off x="1295400" y="4927324"/>
            <a:ext cx="22273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티켓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기반의 요청 처리 및 문제 해결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5515719" y="2152650"/>
            <a:ext cx="19225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현재: Accelerator</a:t>
            </a:r>
            <a:endParaRPr lang="en-US" sz="18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4906119" y="2762250"/>
            <a:ext cx="2379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역할 정의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4906119" y="3105150"/>
            <a:ext cx="25321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경험과 협업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설계하는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전략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4906119" y="3486150"/>
            <a:ext cx="2379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조직에 주는 가치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4906119" y="3829050"/>
            <a:ext cx="2855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 속도와 품질 </a:t>
            </a: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전사 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향상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4906119" y="4122257"/>
            <a:ext cx="2379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특징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5172819" y="4485861"/>
            <a:ext cx="22654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</a:t>
            </a:r>
            <a:r>
              <a:rPr lang="ko-KR" alt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마이크로서비스</a:t>
            </a:r>
            <a:r>
              <a:rPr lang="en-US" altLang="ko-KR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DevOps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5172819" y="4714461"/>
            <a:ext cx="22654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경험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설계: 개발자의 전체 여정을 디자인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5172819" y="4926496"/>
            <a:ext cx="2265462" cy="188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간의 사일로를 허물고 협업 활성화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9431238" y="2148509"/>
            <a:ext cx="19545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시대: </a:t>
            </a:r>
            <a:r>
              <a:rPr lang="ko-KR" alt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조직의</a:t>
            </a: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OS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8821638" y="2758109"/>
            <a:ext cx="2379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역할 정의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8821638" y="3101009"/>
            <a:ext cx="25321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Native Enabler, 문화 설계자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8821638" y="3482009"/>
            <a:ext cx="2379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조직에 주는 가치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8821638" y="3824909"/>
            <a:ext cx="23797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비즈니스 경쟁력 결정</a:t>
            </a:r>
            <a:endParaRPr 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8821638" y="4119148"/>
            <a:ext cx="2379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특징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9088336" y="4485861"/>
            <a:ext cx="22974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네이티브 시대, 조직의 운영체제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9088336" y="4714461"/>
            <a:ext cx="2265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새로운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기술과 아이디어를 실험하고 확산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27"/>
          <p:cNvSpPr/>
          <p:nvPr/>
        </p:nvSpPr>
        <p:spPr>
          <a:xfrm>
            <a:off x="9088338" y="4933841"/>
            <a:ext cx="22654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정성과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혁신의 균형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8" name="Image 23" descr="preencoded.png">
            <a:extLst>
              <a:ext uri="{FF2B5EF4-FFF2-40B4-BE49-F238E27FC236}">
                <a16:creationId xmlns:a16="http://schemas.microsoft.com/office/drawing/2014/main" id="{239880C9-F386-D8A1-97CE-ACF6025FAC3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62" name="Image 40" descr="preencoded.png">
            <a:extLst>
              <a:ext uri="{FF2B5EF4-FFF2-40B4-BE49-F238E27FC236}">
                <a16:creationId xmlns:a16="http://schemas.microsoft.com/office/drawing/2014/main" id="{72A02E60-BB02-3482-3A39-1E051CB7BE5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819900"/>
            <a:ext cx="2974777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120"/>
            <a:ext cx="12192000" cy="6877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0" y="-812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" y="1257300"/>
            <a:ext cx="3570503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1257300"/>
            <a:ext cx="3319156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3156" y="1257300"/>
            <a:ext cx="2929244" cy="7493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257800"/>
            <a:ext cx="10972800" cy="838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448300"/>
            <a:ext cx="457200" cy="4572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162" y="5543550"/>
            <a:ext cx="142875" cy="266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868930"/>
            <a:ext cx="12192000" cy="381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경험의 두 축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1"/>
          <p:cNvSpPr/>
          <p:nvPr/>
        </p:nvSpPr>
        <p:spPr>
          <a:xfrm>
            <a:off x="1062037" y="1543050"/>
            <a:ext cx="2796847" cy="247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Developer Experience</a:t>
            </a:r>
            <a:endParaRPr lang="en-US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3"/>
          <p:cNvSpPr/>
          <p:nvPr/>
        </p:nvSpPr>
        <p:spPr>
          <a:xfrm rot="2718399">
            <a:off x="4348001" y="1488672"/>
            <a:ext cx="24003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033639" y="1543050"/>
            <a:ext cx="2850833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DD4B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Developer Relationship</a:t>
            </a:r>
            <a:endParaRPr lang="en-US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6"/>
          <p:cNvSpPr/>
          <p:nvPr/>
        </p:nvSpPr>
        <p:spPr>
          <a:xfrm>
            <a:off x="8292320" y="1488672"/>
            <a:ext cx="24003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7"/>
          <p:cNvSpPr/>
          <p:nvPr/>
        </p:nvSpPr>
        <p:spPr>
          <a:xfrm>
            <a:off x="9016383" y="1537090"/>
            <a:ext cx="2208310" cy="3043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Innovation Speed</a:t>
            </a:r>
            <a:endParaRPr lang="en-US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1371600" y="5410200"/>
            <a:ext cx="94964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ACC1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인사이트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1371600" y="5735018"/>
            <a:ext cx="10058400" cy="2466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 우수성(DX)과 개발자 </a:t>
            </a:r>
            <a:r>
              <a:rPr lang="en-US" sz="135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관계</a:t>
            </a:r>
            <a:r>
              <a:rPr lang="en-US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(DevRel)가 결합될 때 조직의 혁신 속도가 결정됩니다. 플랫폼 팀의 역할은 이 두 축을 설계하고 증폭시키는 것입니다.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3" name="Image 33" descr="preencoded.png">
            <a:extLst>
              <a:ext uri="{FF2B5EF4-FFF2-40B4-BE49-F238E27FC236}">
                <a16:creationId xmlns:a16="http://schemas.microsoft.com/office/drawing/2014/main" id="{F2F2981C-6CCD-2B97-C556-43C97214DCD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49" y="6831455"/>
            <a:ext cx="3524151" cy="48406"/>
          </a:xfrm>
          <a:prstGeom prst="rect">
            <a:avLst/>
          </a:prstGeom>
        </p:spPr>
      </p:pic>
      <p:pic>
        <p:nvPicPr>
          <p:cNvPr id="80" name="Image 9" descr="preencoded.png">
            <a:extLst>
              <a:ext uri="{FF2B5EF4-FFF2-40B4-BE49-F238E27FC236}">
                <a16:creationId xmlns:a16="http://schemas.microsoft.com/office/drawing/2014/main" id="{1649068C-C361-903E-A370-A68B22752A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2324100"/>
            <a:ext cx="4572000" cy="2451041"/>
          </a:xfrm>
          <a:prstGeom prst="rect">
            <a:avLst/>
          </a:prstGeom>
        </p:spPr>
      </p:pic>
      <p:pic>
        <p:nvPicPr>
          <p:cNvPr id="81" name="Image 10" descr="preencoded.png">
            <a:extLst>
              <a:ext uri="{FF2B5EF4-FFF2-40B4-BE49-F238E27FC236}">
                <a16:creationId xmlns:a16="http://schemas.microsoft.com/office/drawing/2014/main" id="{1AFEBE7C-8B66-5288-9BA0-3428B21FB4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2552701"/>
            <a:ext cx="457200" cy="457200"/>
          </a:xfrm>
          <a:prstGeom prst="rect">
            <a:avLst/>
          </a:prstGeom>
        </p:spPr>
      </p:pic>
      <p:pic>
        <p:nvPicPr>
          <p:cNvPr id="82" name="Image 11" descr="preencoded.png">
            <a:extLst>
              <a:ext uri="{FF2B5EF4-FFF2-40B4-BE49-F238E27FC236}">
                <a16:creationId xmlns:a16="http://schemas.microsoft.com/office/drawing/2014/main" id="{BB589F39-4BAD-FBAC-DB7F-B8086A4CF3A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925" y="2628901"/>
            <a:ext cx="285750" cy="304800"/>
          </a:xfrm>
          <a:prstGeom prst="rect">
            <a:avLst/>
          </a:prstGeom>
        </p:spPr>
      </p:pic>
      <p:pic>
        <p:nvPicPr>
          <p:cNvPr id="83" name="Image 12" descr="preencoded.png">
            <a:extLst>
              <a:ext uri="{FF2B5EF4-FFF2-40B4-BE49-F238E27FC236}">
                <a16:creationId xmlns:a16="http://schemas.microsoft.com/office/drawing/2014/main" id="{A750AAE6-D252-15E5-FBCF-87202D7749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10400" y="2324100"/>
            <a:ext cx="4572000" cy="2451041"/>
          </a:xfrm>
          <a:prstGeom prst="rect">
            <a:avLst/>
          </a:prstGeom>
        </p:spPr>
      </p:pic>
      <p:pic>
        <p:nvPicPr>
          <p:cNvPr id="84" name="Image 13" descr="preencoded.png">
            <a:extLst>
              <a:ext uri="{FF2B5EF4-FFF2-40B4-BE49-F238E27FC236}">
                <a16:creationId xmlns:a16="http://schemas.microsoft.com/office/drawing/2014/main" id="{9F83E895-7A36-17EB-C434-0CBDAD9E2F8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000" y="2552701"/>
            <a:ext cx="457200" cy="457200"/>
          </a:xfrm>
          <a:prstGeom prst="rect">
            <a:avLst/>
          </a:prstGeom>
        </p:spPr>
      </p:pic>
      <p:pic>
        <p:nvPicPr>
          <p:cNvPr id="85" name="Image 14" descr="preencoded.png">
            <a:extLst>
              <a:ext uri="{FF2B5EF4-FFF2-40B4-BE49-F238E27FC236}">
                <a16:creationId xmlns:a16="http://schemas.microsoft.com/office/drawing/2014/main" id="{AD1DA1BF-57E5-2BA1-4749-FF1FB05BF8A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24725" y="2628901"/>
            <a:ext cx="285750" cy="304800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816586A5-4B34-A8EE-7410-8BEF0FD1EE0E}"/>
              </a:ext>
            </a:extLst>
          </p:cNvPr>
          <p:cNvSpPr/>
          <p:nvPr/>
        </p:nvSpPr>
        <p:spPr>
          <a:xfrm>
            <a:off x="1447800" y="2647951"/>
            <a:ext cx="3040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Developer Experience</a:t>
            </a:r>
            <a:r>
              <a:rPr lang="ko-KR" alt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(DX)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639044BB-E297-E2A9-E123-60CB606C0D53}"/>
              </a:ext>
            </a:extLst>
          </p:cNvPr>
          <p:cNvSpPr/>
          <p:nvPr/>
        </p:nvSpPr>
        <p:spPr>
          <a:xfrm>
            <a:off x="866775" y="3162301"/>
            <a:ext cx="430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개발자의 전체 여정을 디자인하고 최적화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2F5D207F-A34A-1253-C1C2-6BD61C156798}"/>
              </a:ext>
            </a:extLst>
          </p:cNvPr>
          <p:cNvSpPr/>
          <p:nvPr/>
        </p:nvSpPr>
        <p:spPr>
          <a:xfrm>
            <a:off x="866775" y="3547311"/>
            <a:ext cx="430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자동화된 워크플로와 표준 템플릿 제공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967CFD6D-055F-A7EF-B673-35D0FBB33270}"/>
              </a:ext>
            </a:extLst>
          </p:cNvPr>
          <p:cNvSpPr/>
          <p:nvPr/>
        </p:nvSpPr>
        <p:spPr>
          <a:xfrm>
            <a:off x="866775" y="3932321"/>
            <a:ext cx="422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복잡한 인프라나 반복적인 작업에 얽매이지 않도록 돕기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60B9D5E4-3425-0044-9374-B99839944FC3}"/>
              </a:ext>
            </a:extLst>
          </p:cNvPr>
          <p:cNvSpPr/>
          <p:nvPr/>
        </p:nvSpPr>
        <p:spPr>
          <a:xfrm>
            <a:off x="866775" y="4317331"/>
            <a:ext cx="430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생산성과 만족도 향상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Text 9">
            <a:extLst>
              <a:ext uri="{FF2B5EF4-FFF2-40B4-BE49-F238E27FC236}">
                <a16:creationId xmlns:a16="http://schemas.microsoft.com/office/drawing/2014/main" id="{897E5FAD-D3C4-0EEA-9A9C-A28A2141D6CE}"/>
              </a:ext>
            </a:extLst>
          </p:cNvPr>
          <p:cNvSpPr/>
          <p:nvPr/>
        </p:nvSpPr>
        <p:spPr>
          <a:xfrm>
            <a:off x="7848600" y="2647951"/>
            <a:ext cx="37261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Developer Relationship (DevRel) 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Text 10">
            <a:extLst>
              <a:ext uri="{FF2B5EF4-FFF2-40B4-BE49-F238E27FC236}">
                <a16:creationId xmlns:a16="http://schemas.microsoft.com/office/drawing/2014/main" id="{ADB11FBE-7E34-DDA4-E8FB-F533986909FF}"/>
              </a:ext>
            </a:extLst>
          </p:cNvPr>
          <p:cNvSpPr/>
          <p:nvPr/>
        </p:nvSpPr>
        <p:spPr>
          <a:xfrm>
            <a:off x="7267575" y="3162301"/>
            <a:ext cx="430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</a:t>
            </a: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</a:t>
            </a: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협력과 신뢰</a:t>
            </a: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강화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3" name="Text 11">
            <a:extLst>
              <a:ext uri="{FF2B5EF4-FFF2-40B4-BE49-F238E27FC236}">
                <a16:creationId xmlns:a16="http://schemas.microsoft.com/office/drawing/2014/main" id="{22BBEE0B-89E1-4A2B-49FE-EB60AA4ADFA1}"/>
              </a:ext>
            </a:extLst>
          </p:cNvPr>
          <p:cNvSpPr/>
          <p:nvPr/>
        </p:nvSpPr>
        <p:spPr>
          <a:xfrm>
            <a:off x="7267575" y="3547311"/>
            <a:ext cx="430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지식 공유와 혁신 촉진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Text 12">
            <a:extLst>
              <a:ext uri="{FF2B5EF4-FFF2-40B4-BE49-F238E27FC236}">
                <a16:creationId xmlns:a16="http://schemas.microsoft.com/office/drawing/2014/main" id="{3CFF8C5F-6E1C-1425-F0A9-AE76D14CAAEA}"/>
              </a:ext>
            </a:extLst>
          </p:cNvPr>
          <p:cNvSpPr/>
          <p:nvPr/>
        </p:nvSpPr>
        <p:spPr>
          <a:xfrm>
            <a:off x="7267575" y="3932321"/>
            <a:ext cx="4172364" cy="27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간의 사일로를 허물고 소통 활성화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Text 13">
            <a:extLst>
              <a:ext uri="{FF2B5EF4-FFF2-40B4-BE49-F238E27FC236}">
                <a16:creationId xmlns:a16="http://schemas.microsoft.com/office/drawing/2014/main" id="{22017F58-EB4C-6458-4B8A-4B324D224633}"/>
              </a:ext>
            </a:extLst>
          </p:cNvPr>
          <p:cNvSpPr/>
          <p:nvPr/>
        </p:nvSpPr>
        <p:spPr>
          <a:xfrm>
            <a:off x="7267575" y="4317331"/>
            <a:ext cx="416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지속 가능한 거버넌스와 안전한 가드레일 설계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6" name="Image 22" descr="preencoded.png">
            <a:extLst>
              <a:ext uri="{FF2B5EF4-FFF2-40B4-BE49-F238E27FC236}">
                <a16:creationId xmlns:a16="http://schemas.microsoft.com/office/drawing/2014/main" id="{8629AC43-A024-F9E8-CBF0-AF5864064B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52525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400" y="3562350"/>
            <a:ext cx="15240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5138" y="3895311"/>
            <a:ext cx="390525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362200"/>
            <a:ext cx="1219200" cy="1219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325" y="260985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2362200"/>
            <a:ext cx="1219200" cy="1219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1588" y="260985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047422"/>
            <a:ext cx="1219200" cy="1219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9188" y="5295072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047422"/>
            <a:ext cx="1219200" cy="1219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38725" y="5295072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6088" y="1152525"/>
            <a:ext cx="238125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96088" y="1527312"/>
            <a:ext cx="1650950" cy="914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11951" y="1641612"/>
            <a:ext cx="2190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1338" y="1527312"/>
            <a:ext cx="1650950" cy="914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77202" y="1641612"/>
            <a:ext cx="219075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26589" y="1527312"/>
            <a:ext cx="1650950" cy="914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80552" y="1641612"/>
            <a:ext cx="142875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96088" y="2990850"/>
            <a:ext cx="238125" cy="190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96088" y="3365637"/>
            <a:ext cx="1650950" cy="914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11951" y="3479937"/>
            <a:ext cx="219075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1338" y="3365637"/>
            <a:ext cx="1650950" cy="914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15302" y="3479937"/>
            <a:ext cx="142875" cy="266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26589" y="3365637"/>
            <a:ext cx="1650950" cy="914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032927" y="3479937"/>
            <a:ext cx="238125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43" name="Text 0"/>
          <p:cNvSpPr/>
          <p:nvPr/>
        </p:nvSpPr>
        <p:spPr>
          <a:xfrm>
            <a:off x="609600" y="4572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내부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nternal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eveloper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latform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1"/>
          <p:cNvSpPr/>
          <p:nvPr/>
        </p:nvSpPr>
        <p:spPr>
          <a:xfrm>
            <a:off x="876300" y="11049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정의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2"/>
          <p:cNvSpPr/>
          <p:nvPr/>
        </p:nvSpPr>
        <p:spPr>
          <a:xfrm>
            <a:off x="609600" y="1447800"/>
            <a:ext cx="518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IDP는 개발자가 셀프서비스 방식으로 필요한 리소스를 즉시 확보하고, 지식과 협업이 한곳으로 모이는 </a:t>
            </a: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중앙 포털 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입니다. 이는 개발자가 인프라를 의식하지 않고 일하게 만드는 내부 허브입니다.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3"/>
          <p:cNvSpPr/>
          <p:nvPr/>
        </p:nvSpPr>
        <p:spPr>
          <a:xfrm>
            <a:off x="2931795" y="4352511"/>
            <a:ext cx="537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IDP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4"/>
          <p:cNvSpPr/>
          <p:nvPr/>
        </p:nvSpPr>
        <p:spPr>
          <a:xfrm>
            <a:off x="2931795" y="4581111"/>
            <a:ext cx="537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중앙 허브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5"/>
          <p:cNvSpPr/>
          <p:nvPr/>
        </p:nvSpPr>
        <p:spPr>
          <a:xfrm>
            <a:off x="952500" y="2990850"/>
            <a:ext cx="640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 작성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6"/>
          <p:cNvSpPr/>
          <p:nvPr/>
        </p:nvSpPr>
        <p:spPr>
          <a:xfrm>
            <a:off x="810310" y="3235187"/>
            <a:ext cx="10629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템플릿/스타트키트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7"/>
          <p:cNvSpPr/>
          <p:nvPr/>
        </p:nvSpPr>
        <p:spPr>
          <a:xfrm>
            <a:off x="4995863" y="2990850"/>
            <a:ext cx="4457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인프라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8"/>
          <p:cNvSpPr/>
          <p:nvPr/>
        </p:nvSpPr>
        <p:spPr>
          <a:xfrm>
            <a:off x="4895850" y="3181350"/>
            <a:ext cx="68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서비스/환경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9"/>
          <p:cNvSpPr/>
          <p:nvPr/>
        </p:nvSpPr>
        <p:spPr>
          <a:xfrm>
            <a:off x="885825" y="5676072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문서/가이드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985838" y="5866572"/>
            <a:ext cx="5600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학습/참조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4933950" y="5676072"/>
            <a:ext cx="594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커뮤니티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4948238" y="5866572"/>
            <a:ext cx="5600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질의/답변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7110413" y="1104900"/>
            <a:ext cx="46879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5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DevEx</a:t>
            </a: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기여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6910388" y="1984512"/>
            <a:ext cx="142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통합 UI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6768153" y="2175012"/>
            <a:ext cx="1706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한눈에 필요한 모든 도구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8533403" y="1984512"/>
            <a:ext cx="1706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자동화된 워크플로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8533403" y="2175012"/>
            <a:ext cx="1706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복잡한 프로세스 단순화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10440889" y="1984512"/>
            <a:ext cx="142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표준 템플릿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10440889" y="2175012"/>
            <a:ext cx="1422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일관성과 품질 보장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7110413" y="2943225"/>
            <a:ext cx="45680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DevRel 기여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6910388" y="3822837"/>
            <a:ext cx="142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 카탈로그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 22"/>
          <p:cNvSpPr/>
          <p:nvPr/>
        </p:nvSpPr>
        <p:spPr>
          <a:xfrm>
            <a:off x="6768153" y="4013337"/>
            <a:ext cx="1706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서비스와 API 투명성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 23"/>
          <p:cNvSpPr/>
          <p:nvPr/>
        </p:nvSpPr>
        <p:spPr>
          <a:xfrm>
            <a:off x="8675638" y="3822837"/>
            <a:ext cx="142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 및 가이드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 24"/>
          <p:cNvSpPr/>
          <p:nvPr/>
        </p:nvSpPr>
        <p:spPr>
          <a:xfrm>
            <a:off x="8675638" y="4013337"/>
            <a:ext cx="1422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표준화된 정보 접근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 25"/>
          <p:cNvSpPr/>
          <p:nvPr/>
        </p:nvSpPr>
        <p:spPr>
          <a:xfrm>
            <a:off x="10440889" y="3822837"/>
            <a:ext cx="142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커뮤니티 기능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Text 26"/>
          <p:cNvSpPr/>
          <p:nvPr/>
        </p:nvSpPr>
        <p:spPr>
          <a:xfrm>
            <a:off x="10440889" y="4013337"/>
            <a:ext cx="1422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지식 공유 활성화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Text 31"/>
          <p:cNvSpPr/>
          <p:nvPr/>
        </p:nvSpPr>
        <p:spPr>
          <a:xfrm>
            <a:off x="7034212" y="5448300"/>
            <a:ext cx="47641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"IDP는 </a:t>
            </a:r>
            <a:r>
              <a:rPr lang="en-US" sz="1350" i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개발자의 인프라 의식을 제거 </a:t>
            </a:r>
            <a:r>
              <a:rPr lang="en-US" sz="1350" i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 역할을 합니다"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6" name="Image 22" descr="preencoded.png">
            <a:extLst>
              <a:ext uri="{FF2B5EF4-FFF2-40B4-BE49-F238E27FC236}">
                <a16:creationId xmlns:a16="http://schemas.microsoft.com/office/drawing/2014/main" id="{C72656F0-FD09-DC17-53D5-39F6E23B10B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819900"/>
            <a:ext cx="3791694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56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674556"/>
            <a:ext cx="5372100" cy="1219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826956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941256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674556"/>
            <a:ext cx="5372100" cy="1219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3826956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941256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122356"/>
            <a:ext cx="5372100" cy="1219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274756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5389056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5122356"/>
            <a:ext cx="5372100" cy="1219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5274756"/>
            <a:ext cx="3810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5389056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골든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-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포장된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고속도로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5"/>
          <p:cNvSpPr/>
          <p:nvPr/>
        </p:nvSpPr>
        <p:spPr>
          <a:xfrm>
            <a:off x="609600" y="2912556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골든 패스(Golden Path) </a:t>
            </a:r>
            <a:r>
              <a:rPr 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대부분의 개발 팀이 빠르고 안전하게 소프트웨어를 개발하고 배포할 수 있도록 미리 포장된 표준 경로입니다. 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이는</a:t>
            </a:r>
            <a:r>
              <a:rPr 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개발자가 최적의 경로를 쉽게 선택하고 따를 수 있도록 가이드라인과 도구를 제공합니다.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6"/>
          <p:cNvSpPr/>
          <p:nvPr/>
        </p:nvSpPr>
        <p:spPr>
          <a:xfrm>
            <a:off x="1257300" y="3884106"/>
            <a:ext cx="2640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Opinionated: 명확한 기준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7"/>
          <p:cNvSpPr/>
          <p:nvPr/>
        </p:nvSpPr>
        <p:spPr>
          <a:xfrm>
            <a:off x="762000" y="4284156"/>
            <a:ext cx="506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팀이 선택 시간을 단축하고 일관성을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유지하도록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명확한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기준과 권장 사항을 제공합니다.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8"/>
          <p:cNvSpPr/>
          <p:nvPr/>
        </p:nvSpPr>
        <p:spPr>
          <a:xfrm>
            <a:off x="6858000" y="3884106"/>
            <a:ext cx="2891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Flexible: 벗어날 </a:t>
            </a:r>
            <a:r>
              <a:rPr lang="en-US" sz="16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</a:t>
            </a: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6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있는</a:t>
            </a: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6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</a:t>
            </a:r>
            <a:r>
              <a:rPr lang="ko-KR" alt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연함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9"/>
          <p:cNvSpPr/>
          <p:nvPr/>
        </p:nvSpPr>
        <p:spPr>
          <a:xfrm>
            <a:off x="6362700" y="4284156"/>
            <a:ext cx="506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필요한 경우 표준에서 벗어날 수 있는 유연성을 제공합니다.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이유와 문서화가 필요합니다.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1257300" y="5331906"/>
            <a:ext cx="33604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80/20 Rule: 주요 시나리오에 집중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762000" y="5731956"/>
            <a:ext cx="506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 사용 사례와 작업 흐름에 최적화된 경로를 우선으로 합니다.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특수한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케이스는 따로 처리합니다.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6858000" y="5331906"/>
            <a:ext cx="2148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Opt-in: </a:t>
            </a:r>
            <a:r>
              <a:rPr lang="ko-KR" alt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강제가 아닌 권장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6362700" y="5731956"/>
            <a:ext cx="506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패스를 강제하지 않고 개발자가 의식적으로 채택하도록 합니다.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이로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인해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채택률과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지속성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높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3CB3E7B0-33A1-C12C-C2F7-537A7C5E8A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310" y="1202958"/>
            <a:ext cx="11127379" cy="1501137"/>
          </a:xfrm>
          <a:prstGeom prst="rect">
            <a:avLst/>
          </a:prstGeom>
        </p:spPr>
      </p:pic>
      <p:pic>
        <p:nvPicPr>
          <p:cNvPr id="44" name="Image 4" descr="preencoded.png">
            <a:extLst>
              <a:ext uri="{FF2B5EF4-FFF2-40B4-BE49-F238E27FC236}">
                <a16:creationId xmlns:a16="http://schemas.microsoft.com/office/drawing/2014/main" id="{EB9A86AF-4A8A-00C2-0486-E12848AABBA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684" y="1570477"/>
            <a:ext cx="10904632" cy="37031"/>
          </a:xfrm>
          <a:prstGeom prst="rect">
            <a:avLst/>
          </a:prstGeom>
        </p:spPr>
      </p:pic>
      <p:pic>
        <p:nvPicPr>
          <p:cNvPr id="45" name="Image 5" descr="preencoded.png">
            <a:extLst>
              <a:ext uri="{FF2B5EF4-FFF2-40B4-BE49-F238E27FC236}">
                <a16:creationId xmlns:a16="http://schemas.microsoft.com/office/drawing/2014/main" id="{1C1DA204-98ED-C51B-22A5-2B1A670A74C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7358" y="2320936"/>
            <a:ext cx="11057283" cy="38074"/>
          </a:xfrm>
          <a:prstGeom prst="rect">
            <a:avLst/>
          </a:prstGeom>
        </p:spPr>
      </p:pic>
      <p:pic>
        <p:nvPicPr>
          <p:cNvPr id="46" name="Image 6" descr="preencoded.png">
            <a:extLst>
              <a:ext uri="{FF2B5EF4-FFF2-40B4-BE49-F238E27FC236}">
                <a16:creationId xmlns:a16="http://schemas.microsoft.com/office/drawing/2014/main" id="{77F0D85B-91D3-38F5-55F4-E5EB47DBFE6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6740" y="1914974"/>
            <a:ext cx="10978518" cy="56282"/>
          </a:xfrm>
          <a:prstGeom prst="rect">
            <a:avLst/>
          </a:prstGeom>
        </p:spPr>
      </p:pic>
      <p:pic>
        <p:nvPicPr>
          <p:cNvPr id="47" name="Image 7" descr="preencoded.png">
            <a:extLst>
              <a:ext uri="{FF2B5EF4-FFF2-40B4-BE49-F238E27FC236}">
                <a16:creationId xmlns:a16="http://schemas.microsoft.com/office/drawing/2014/main" id="{6543A5EA-CB58-D9F0-4972-1A7E2D04C58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310" y="1202958"/>
            <a:ext cx="208829" cy="1501137"/>
          </a:xfrm>
          <a:prstGeom prst="rect">
            <a:avLst/>
          </a:prstGeom>
        </p:spPr>
      </p:pic>
      <p:pic>
        <p:nvPicPr>
          <p:cNvPr id="48" name="Image 8" descr="preencoded.png">
            <a:extLst>
              <a:ext uri="{FF2B5EF4-FFF2-40B4-BE49-F238E27FC236}">
                <a16:creationId xmlns:a16="http://schemas.microsoft.com/office/drawing/2014/main" id="{131D4536-6797-4998-4276-C0F12CF293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50862" y="1202958"/>
            <a:ext cx="208828" cy="1501137"/>
          </a:xfrm>
          <a:prstGeom prst="rect">
            <a:avLst/>
          </a:prstGeom>
        </p:spPr>
      </p:pic>
      <p:pic>
        <p:nvPicPr>
          <p:cNvPr id="49" name="Image 9" descr="preencoded.png">
            <a:extLst>
              <a:ext uri="{FF2B5EF4-FFF2-40B4-BE49-F238E27FC236}">
                <a16:creationId xmlns:a16="http://schemas.microsoft.com/office/drawing/2014/main" id="{F30D1063-E45E-A4A3-82A3-EF8F96FDB3A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2310" y="1202958"/>
            <a:ext cx="11127379" cy="1501137"/>
          </a:xfrm>
          <a:prstGeom prst="rect">
            <a:avLst/>
          </a:prstGeom>
        </p:spPr>
      </p:pic>
      <p:pic>
        <p:nvPicPr>
          <p:cNvPr id="50" name="Image 10" descr="preencoded.png">
            <a:extLst>
              <a:ext uri="{FF2B5EF4-FFF2-40B4-BE49-F238E27FC236}">
                <a16:creationId xmlns:a16="http://schemas.microsoft.com/office/drawing/2014/main" id="{25F502F6-748A-A383-B3AE-D543D24667C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5820" y="1877518"/>
            <a:ext cx="300441" cy="140729"/>
          </a:xfrm>
          <a:prstGeom prst="rect">
            <a:avLst/>
          </a:prstGeom>
        </p:spPr>
      </p:pic>
      <p:pic>
        <p:nvPicPr>
          <p:cNvPr id="51" name="Image 11" descr="preencoded.png">
            <a:extLst>
              <a:ext uri="{FF2B5EF4-FFF2-40B4-BE49-F238E27FC236}">
                <a16:creationId xmlns:a16="http://schemas.microsoft.com/office/drawing/2014/main" id="{2C142C93-9173-3555-D792-D85921890E6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5115" y="1515026"/>
            <a:ext cx="578190" cy="522040"/>
          </a:xfrm>
          <a:prstGeom prst="rect">
            <a:avLst/>
          </a:prstGeom>
        </p:spPr>
      </p:pic>
      <p:pic>
        <p:nvPicPr>
          <p:cNvPr id="52" name="Image 12" descr="preencoded.png">
            <a:extLst>
              <a:ext uri="{FF2B5EF4-FFF2-40B4-BE49-F238E27FC236}">
                <a16:creationId xmlns:a16="http://schemas.microsoft.com/office/drawing/2014/main" id="{C92DB92C-EA1C-004A-9864-C4BF35E9746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8307" y="1644589"/>
            <a:ext cx="194136" cy="261016"/>
          </a:xfrm>
          <a:prstGeom prst="rect">
            <a:avLst/>
          </a:prstGeom>
        </p:spPr>
      </p:pic>
      <p:pic>
        <p:nvPicPr>
          <p:cNvPr id="53" name="Image 13" descr="preencoded.png">
            <a:extLst>
              <a:ext uri="{FF2B5EF4-FFF2-40B4-BE49-F238E27FC236}">
                <a16:creationId xmlns:a16="http://schemas.microsoft.com/office/drawing/2014/main" id="{A3866586-05EC-6687-AA15-74C47EA1AC3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9491" y="2112475"/>
            <a:ext cx="627058" cy="265593"/>
          </a:xfrm>
          <a:prstGeom prst="rect">
            <a:avLst/>
          </a:prstGeom>
        </p:spPr>
      </p:pic>
      <p:pic>
        <p:nvPicPr>
          <p:cNvPr id="55" name="Image 15" descr="preencoded.png">
            <a:extLst>
              <a:ext uri="{FF2B5EF4-FFF2-40B4-BE49-F238E27FC236}">
                <a16:creationId xmlns:a16="http://schemas.microsoft.com/office/drawing/2014/main" id="{22EF9ACD-39A8-B202-0F77-2645951123C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24213" y="1515026"/>
            <a:ext cx="547231" cy="522040"/>
          </a:xfrm>
          <a:prstGeom prst="rect">
            <a:avLst/>
          </a:prstGeom>
        </p:spPr>
      </p:pic>
      <p:pic>
        <p:nvPicPr>
          <p:cNvPr id="56" name="Image 16" descr="preencoded.png">
            <a:extLst>
              <a:ext uri="{FF2B5EF4-FFF2-40B4-BE49-F238E27FC236}">
                <a16:creationId xmlns:a16="http://schemas.microsoft.com/office/drawing/2014/main" id="{1C020237-173B-0328-EF78-03D405E4FE3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09609" y="1644589"/>
            <a:ext cx="178657" cy="261016"/>
          </a:xfrm>
          <a:prstGeom prst="rect">
            <a:avLst/>
          </a:prstGeom>
        </p:spPr>
      </p:pic>
      <p:pic>
        <p:nvPicPr>
          <p:cNvPr id="57" name="Image 17" descr="preencoded.png">
            <a:extLst>
              <a:ext uri="{FF2B5EF4-FFF2-40B4-BE49-F238E27FC236}">
                <a16:creationId xmlns:a16="http://schemas.microsoft.com/office/drawing/2014/main" id="{7C1E8264-1FD4-E37A-B26E-C7AF29C9561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78811" y="2112475"/>
            <a:ext cx="611307" cy="265593"/>
          </a:xfrm>
          <a:prstGeom prst="rect">
            <a:avLst/>
          </a:prstGeom>
        </p:spPr>
      </p:pic>
      <p:pic>
        <p:nvPicPr>
          <p:cNvPr id="59" name="Image 19" descr="preencoded.png">
            <a:extLst>
              <a:ext uri="{FF2B5EF4-FFF2-40B4-BE49-F238E27FC236}">
                <a16:creationId xmlns:a16="http://schemas.microsoft.com/office/drawing/2014/main" id="{7E23BF2A-1DC5-7601-5DC1-8B70D5FAFD7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20409" y="1515026"/>
            <a:ext cx="547229" cy="522040"/>
          </a:xfrm>
          <a:prstGeom prst="rect">
            <a:avLst/>
          </a:prstGeom>
        </p:spPr>
      </p:pic>
      <p:pic>
        <p:nvPicPr>
          <p:cNvPr id="60" name="Image 20" descr="preencoded.png">
            <a:extLst>
              <a:ext uri="{FF2B5EF4-FFF2-40B4-BE49-F238E27FC236}">
                <a16:creationId xmlns:a16="http://schemas.microsoft.com/office/drawing/2014/main" id="{1EBAB371-EBB4-0965-8C9F-9C362E6ADC1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94114" y="1644589"/>
            <a:ext cx="197647" cy="261016"/>
          </a:xfrm>
          <a:prstGeom prst="rect">
            <a:avLst/>
          </a:prstGeom>
        </p:spPr>
      </p:pic>
      <p:pic>
        <p:nvPicPr>
          <p:cNvPr id="61" name="Image 21" descr="preencoded.png">
            <a:extLst>
              <a:ext uri="{FF2B5EF4-FFF2-40B4-BE49-F238E27FC236}">
                <a16:creationId xmlns:a16="http://schemas.microsoft.com/office/drawing/2014/main" id="{D5C89560-D093-6303-9630-F58978CAFD3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01732" y="2112475"/>
            <a:ext cx="611307" cy="265593"/>
          </a:xfrm>
          <a:prstGeom prst="rect">
            <a:avLst/>
          </a:prstGeom>
        </p:spPr>
      </p:pic>
      <p:pic>
        <p:nvPicPr>
          <p:cNvPr id="63" name="Image 23" descr="preencoded.png">
            <a:extLst>
              <a:ext uri="{FF2B5EF4-FFF2-40B4-BE49-F238E27FC236}">
                <a16:creationId xmlns:a16="http://schemas.microsoft.com/office/drawing/2014/main" id="{55132510-CC16-0476-95E9-16535C55E06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98548" y="1515026"/>
            <a:ext cx="578188" cy="522040"/>
          </a:xfrm>
          <a:prstGeom prst="rect">
            <a:avLst/>
          </a:prstGeom>
        </p:spPr>
      </p:pic>
      <p:pic>
        <p:nvPicPr>
          <p:cNvPr id="64" name="Image 24" descr="preencoded.png">
            <a:extLst>
              <a:ext uri="{FF2B5EF4-FFF2-40B4-BE49-F238E27FC236}">
                <a16:creationId xmlns:a16="http://schemas.microsoft.com/office/drawing/2014/main" id="{5260A2A7-23BD-B72B-C841-77479193393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789409" y="1644589"/>
            <a:ext cx="194135" cy="261016"/>
          </a:xfrm>
          <a:prstGeom prst="rect">
            <a:avLst/>
          </a:prstGeom>
        </p:spPr>
      </p:pic>
      <p:pic>
        <p:nvPicPr>
          <p:cNvPr id="65" name="Image 25" descr="preencoded.png">
            <a:extLst>
              <a:ext uri="{FF2B5EF4-FFF2-40B4-BE49-F238E27FC236}">
                <a16:creationId xmlns:a16="http://schemas.microsoft.com/office/drawing/2014/main" id="{ED4B28D3-BEC0-0EBE-4408-B10C98A648F9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615302" y="2112475"/>
            <a:ext cx="627057" cy="265593"/>
          </a:xfrm>
          <a:prstGeom prst="rect">
            <a:avLst/>
          </a:prstGeom>
        </p:spPr>
      </p:pic>
      <p:sp>
        <p:nvSpPr>
          <p:cNvPr id="67" name="Text 1">
            <a:extLst>
              <a:ext uri="{FF2B5EF4-FFF2-40B4-BE49-F238E27FC236}">
                <a16:creationId xmlns:a16="http://schemas.microsoft.com/office/drawing/2014/main" id="{A04448AC-E3AC-E67C-540C-ACC5411E7F80}"/>
              </a:ext>
            </a:extLst>
          </p:cNvPr>
          <p:cNvSpPr/>
          <p:nvPr/>
        </p:nvSpPr>
        <p:spPr>
          <a:xfrm>
            <a:off x="1068231" y="2150258"/>
            <a:ext cx="468513" cy="1897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스타트</a:t>
            </a:r>
            <a:endParaRPr lang="en-US" sz="1050" dirty="0"/>
          </a:p>
        </p:txBody>
      </p:sp>
      <p:sp>
        <p:nvSpPr>
          <p:cNvPr id="68" name="Text 2">
            <a:extLst>
              <a:ext uri="{FF2B5EF4-FFF2-40B4-BE49-F238E27FC236}">
                <a16:creationId xmlns:a16="http://schemas.microsoft.com/office/drawing/2014/main" id="{7FB30887-FBDA-7649-E863-D715C2934E64}"/>
              </a:ext>
            </a:extLst>
          </p:cNvPr>
          <p:cNvSpPr/>
          <p:nvPr/>
        </p:nvSpPr>
        <p:spPr>
          <a:xfrm>
            <a:off x="4357285" y="2150258"/>
            <a:ext cx="292974" cy="2278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옵션</a:t>
            </a:r>
            <a:endParaRPr lang="en-US" sz="1050" dirty="0"/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06B15581-BFF0-F8B2-DE75-1807A1252650}"/>
              </a:ext>
            </a:extLst>
          </p:cNvPr>
          <p:cNvSpPr/>
          <p:nvPr/>
        </p:nvSpPr>
        <p:spPr>
          <a:xfrm>
            <a:off x="7517381" y="2150258"/>
            <a:ext cx="455012" cy="1897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</a:t>
            </a:r>
            <a:endParaRPr lang="en-US" sz="1050" dirty="0"/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F0BDF3C7-2F28-9E57-ED7C-7FAE33F896DF}"/>
              </a:ext>
            </a:extLst>
          </p:cNvPr>
          <p:cNvSpPr/>
          <p:nvPr/>
        </p:nvSpPr>
        <p:spPr>
          <a:xfrm>
            <a:off x="10733191" y="2150258"/>
            <a:ext cx="468513" cy="1897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FFFFFF"/>
                </a:solidFill>
                <a:latin typeface="Noto Sans KR" pitchFamily="34" charset="0"/>
              </a:rPr>
              <a:t>목적지</a:t>
            </a:r>
            <a:endParaRPr lang="en-US" sz="1050" dirty="0"/>
          </a:p>
        </p:txBody>
      </p:sp>
      <p:pic>
        <p:nvPicPr>
          <p:cNvPr id="73" name="Image 26" descr="preencoded.png">
            <a:extLst>
              <a:ext uri="{FF2B5EF4-FFF2-40B4-BE49-F238E27FC236}">
                <a16:creationId xmlns:a16="http://schemas.microsoft.com/office/drawing/2014/main" id="{C30A7223-157D-E3CE-AF5E-2F302E243B4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6819900"/>
            <a:ext cx="48768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295" y="2273101"/>
            <a:ext cx="2381250" cy="2381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868" y="1938250"/>
            <a:ext cx="5090532" cy="1905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368" y="212875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8093" y="2204950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2185" y="3114703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0065" y="3114703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2063" y="3430654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0065" y="3430654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1868" y="4038600"/>
            <a:ext cx="5090532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2368" y="42291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8093" y="430530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82368" y="5215053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30248" y="5215053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12185" y="5531004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30248" y="5531004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819900"/>
            <a:ext cx="5961757" cy="381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엔지니어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역량의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325694" y="4940101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팀의 성공은 균형에 달려 있습니다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325694" y="5283001"/>
            <a:ext cx="38404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기술은 플랫폼을 </a:t>
            </a:r>
            <a:r>
              <a:rPr lang="en-US" sz="12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작동 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하고,비기술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역량은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사용</a:t>
            </a:r>
            <a:r>
              <a:rPr lang="ko-KR" altLang="en-US" sz="1200" b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합니다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 3"/>
          <p:cNvSpPr/>
          <p:nvPr/>
        </p:nvSpPr>
        <p:spPr>
          <a:xfrm>
            <a:off x="7291968" y="2224000"/>
            <a:ext cx="1840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 역량 (30%)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 4"/>
          <p:cNvSpPr/>
          <p:nvPr/>
        </p:nvSpPr>
        <p:spPr>
          <a:xfrm>
            <a:off x="6682368" y="2711401"/>
            <a:ext cx="4747632" cy="239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플랫폼의 신뢰성을 구축하는 기술적 기반입니다.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978885" y="3076603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클라우드/IaC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6"/>
          <p:cNvSpPr/>
          <p:nvPr/>
        </p:nvSpPr>
        <p:spPr>
          <a:xfrm>
            <a:off x="9688665" y="3076603"/>
            <a:ext cx="480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CI/CD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7"/>
          <p:cNvSpPr/>
          <p:nvPr/>
        </p:nvSpPr>
        <p:spPr>
          <a:xfrm>
            <a:off x="6970602" y="3392554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신뢰성 &amp; 보안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8"/>
          <p:cNvSpPr/>
          <p:nvPr/>
        </p:nvSpPr>
        <p:spPr>
          <a:xfrm>
            <a:off x="9726765" y="3392554"/>
            <a:ext cx="902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자동화 &amp; AI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9"/>
          <p:cNvSpPr/>
          <p:nvPr/>
        </p:nvSpPr>
        <p:spPr>
          <a:xfrm>
            <a:off x="7291968" y="4324350"/>
            <a:ext cx="2045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비기술적 역량 (70%)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6682368" y="4811751"/>
            <a:ext cx="4785732" cy="20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팀에 대한 신뢰를 구축하는 관계적 기능입니다.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6949068" y="5176953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9620748" y="5176953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제품 마인드셋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6952381" y="5492904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문서화 &amp; 교육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9658848" y="5492904"/>
            <a:ext cx="902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공감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7C355D1D-262C-3034-3152-8BFBC1AAD367}"/>
              </a:ext>
            </a:extLst>
          </p:cNvPr>
          <p:cNvSpPr/>
          <p:nvPr/>
        </p:nvSpPr>
        <p:spPr>
          <a:xfrm>
            <a:off x="609599" y="1181100"/>
            <a:ext cx="85244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 역량은 플랫폼의 </a:t>
            </a:r>
            <a:r>
              <a:rPr lang="ko-KR" altLang="en-US" sz="1500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</a:t>
            </a:r>
            <a:r>
              <a:rPr lang="ko-KR" altLang="en-US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en-US" altLang="ko-KR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비기술적 역량은 플랫폼의 </a:t>
            </a:r>
            <a:r>
              <a:rPr lang="ko-KR" altLang="en-US" sz="1500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채택</a:t>
            </a:r>
            <a:r>
              <a:rPr lang="ko-KR" altLang="en-US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만듭니다</a:t>
            </a:r>
            <a:r>
              <a:rPr lang="en-US" altLang="ko-KR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57400"/>
            <a:ext cx="3454301" cy="2781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299" y="22860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024" y="23622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3528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6957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03813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8701" y="2057400"/>
            <a:ext cx="3454301" cy="2781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7400" y="22860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1700" y="23622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301" y="33528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301" y="36957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301" y="4038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802" y="2057400"/>
            <a:ext cx="3454301" cy="2781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6501" y="22860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2226" y="236220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402" y="33528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402" y="36957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402" y="40386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599" y="5158144"/>
            <a:ext cx="109728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819900"/>
            <a:ext cx="6230094" cy="381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4572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플랫폼을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신뢰하게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만드는 기반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 1"/>
          <p:cNvSpPr/>
          <p:nvPr/>
        </p:nvSpPr>
        <p:spPr>
          <a:xfrm>
            <a:off x="1802338" y="2895135"/>
            <a:ext cx="11046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인프라 &amp; 배포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2"/>
          <p:cNvSpPr/>
          <p:nvPr/>
        </p:nvSpPr>
        <p:spPr>
          <a:xfrm>
            <a:off x="1066800" y="3314700"/>
            <a:ext cx="2768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IaC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 </a:t>
            </a:r>
            <a:r>
              <a:rPr lang="ko-KR" alt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일관석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확보</a:t>
            </a:r>
            <a:r>
              <a:rPr lang="en-US" altLang="ko-KR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재현 가능한 인프라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3"/>
          <p:cNvSpPr/>
          <p:nvPr/>
        </p:nvSpPr>
        <p:spPr>
          <a:xfrm>
            <a:off x="1066800" y="3657600"/>
            <a:ext cx="2768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CI/CD: 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개발자가 로직에 집중할 수 있게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1066800" y="4000035"/>
            <a:ext cx="29206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Self-Service: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 속도와 자율성 강화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38200" y="4419600"/>
            <a:ext cx="29971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100" i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안정적인 기반으로 신뢰 구축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5561439" y="2895135"/>
            <a:ext cx="11046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신뢰성 &amp; 보안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4825901" y="3314700"/>
            <a:ext cx="27889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Observability: 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실시간 가시성 및 안정성 확보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4825901" y="365760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MTTR: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장애 감지 대응 복구 속도 최적화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4825901" y="4000500"/>
            <a:ext cx="27685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선제적 대응: 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사후대응이 아닌 사전설계로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4597301" y="4381500"/>
            <a:ext cx="30175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100" i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신뢰는 성능이 아니라 회복력에서 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9381236" y="2919295"/>
            <a:ext cx="947432" cy="28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자동화 &amp; AI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585002" y="3314700"/>
            <a:ext cx="2674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작업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제거: 개발자의 인지 부하 감소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585002" y="3657600"/>
            <a:ext cx="2878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 내재화: AI 기반 도구 안전하게 제공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85002" y="4000500"/>
            <a:ext cx="2674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Dev-Assistance: 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경험 지원형 </a:t>
            </a:r>
            <a:r>
              <a:rPr lang="en-US" altLang="ko-KR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356403" y="4381500"/>
            <a:ext cx="31070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"AI는 개발자의 인지 부하와 운영 비용을 절약"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762000" y="5295900"/>
            <a:ext cx="107014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</a:t>
            </a: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플랫폼의 신뢰는 문제가 없는 시스템이 아니라 문제를 빠르게 감지하고</a:t>
            </a:r>
            <a:r>
              <a:rPr lang="en-US" altLang="ko-KR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복구하고</a:t>
            </a:r>
            <a:r>
              <a:rPr lang="en-US" altLang="ko-KR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학습하는 구조에서 만들어진다</a:t>
            </a:r>
            <a:r>
              <a:rPr lang="en-US" altLang="ko-KR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57D11CA8-BE3D-518D-285F-B1652A38ECA9}"/>
              </a:ext>
            </a:extLst>
          </p:cNvPr>
          <p:cNvSpPr/>
          <p:nvPr/>
        </p:nvSpPr>
        <p:spPr>
          <a:xfrm>
            <a:off x="609599" y="1181100"/>
            <a:ext cx="85244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 역량은 플랫폼의 </a:t>
            </a:r>
            <a:r>
              <a:rPr lang="ko-KR" altLang="en-US" sz="1600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</a:t>
            </a:r>
            <a:r>
              <a:rPr lang="ko-KR" alt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en-US" altLang="ko-KR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비기술적 역량은 플랫폼의 </a:t>
            </a:r>
            <a:r>
              <a:rPr lang="ko-KR" altLang="en-US" sz="1600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채택</a:t>
            </a:r>
            <a:r>
              <a:rPr lang="ko-KR" alt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만든다</a:t>
            </a:r>
            <a:r>
              <a:rPr lang="en-US" altLang="ko-KR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DB60-B49B-3B73-9CF0-C1005763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B4A2036-C3AF-3244-85ED-57C47416A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E207CE9-5B26-6431-6DD1-3BD8F1F59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4" y="22058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9B57710-CE10-8E0F-6D5E-91B4B4D36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31" name="Image 29" descr="preencoded.png">
            <a:extLst>
              <a:ext uri="{FF2B5EF4-FFF2-40B4-BE49-F238E27FC236}">
                <a16:creationId xmlns:a16="http://schemas.microsoft.com/office/drawing/2014/main" id="{F9458788-7CBB-BA41-93BA-50C189672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32" name="Image 30" descr="preencoded.png">
            <a:extLst>
              <a:ext uri="{FF2B5EF4-FFF2-40B4-BE49-F238E27FC236}">
                <a16:creationId xmlns:a16="http://schemas.microsoft.com/office/drawing/2014/main" id="{D7A5ADE4-0399-DF2E-443F-84BDE2FF1E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899"/>
            <a:ext cx="6362700" cy="45719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B600A93A-2E1E-AB24-5AFA-F959AE611969}"/>
              </a:ext>
            </a:extLst>
          </p:cNvPr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개발자의 생산성을 결정 짓는 요인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1" name="Image 5" descr="preencoded.png">
            <a:extLst>
              <a:ext uri="{FF2B5EF4-FFF2-40B4-BE49-F238E27FC236}">
                <a16:creationId xmlns:a16="http://schemas.microsoft.com/office/drawing/2014/main" id="{D720440C-E813-5513-AE19-F96A573578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273342"/>
            <a:ext cx="5486400" cy="5186725"/>
          </a:xfrm>
          <a:prstGeom prst="rect">
            <a:avLst/>
          </a:prstGeom>
        </p:spPr>
      </p:pic>
      <p:pic>
        <p:nvPicPr>
          <p:cNvPr id="49" name="Image 13" descr="preencoded.png">
            <a:extLst>
              <a:ext uri="{FF2B5EF4-FFF2-40B4-BE49-F238E27FC236}">
                <a16:creationId xmlns:a16="http://schemas.microsoft.com/office/drawing/2014/main" id="{75EA43EB-9C1D-ED5B-6EDE-1CDA3C6F60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273342"/>
            <a:ext cx="5486400" cy="5127458"/>
          </a:xfrm>
          <a:prstGeom prst="rect">
            <a:avLst/>
          </a:prstGeom>
        </p:spPr>
      </p:pic>
      <p:pic>
        <p:nvPicPr>
          <p:cNvPr id="50" name="Image 14" descr="preencoded.png">
            <a:extLst>
              <a:ext uri="{FF2B5EF4-FFF2-40B4-BE49-F238E27FC236}">
                <a16:creationId xmlns:a16="http://schemas.microsoft.com/office/drawing/2014/main" id="{48BD36EB-73A0-B4CE-0943-325A24F867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496914"/>
            <a:ext cx="381000" cy="381000"/>
          </a:xfrm>
          <a:prstGeom prst="rect">
            <a:avLst/>
          </a:prstGeom>
        </p:spPr>
      </p:pic>
      <p:pic>
        <p:nvPicPr>
          <p:cNvPr id="51" name="Image 15" descr="preencoded.png">
            <a:extLst>
              <a:ext uri="{FF2B5EF4-FFF2-40B4-BE49-F238E27FC236}">
                <a16:creationId xmlns:a16="http://schemas.microsoft.com/office/drawing/2014/main" id="{C4FCA177-24A3-2DB8-D3E4-F3FEB8F680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8438" y="1554064"/>
            <a:ext cx="238125" cy="266700"/>
          </a:xfrm>
          <a:prstGeom prst="rect">
            <a:avLst/>
          </a:prstGeom>
        </p:spPr>
      </p:pic>
      <p:sp>
        <p:nvSpPr>
          <p:cNvPr id="53" name="Text 17">
            <a:extLst>
              <a:ext uri="{FF2B5EF4-FFF2-40B4-BE49-F238E27FC236}">
                <a16:creationId xmlns:a16="http://schemas.microsoft.com/office/drawing/2014/main" id="{F89EA516-44B8-5C60-C3EF-27CFEBBD6BB1}"/>
              </a:ext>
            </a:extLst>
          </p:cNvPr>
          <p:cNvSpPr/>
          <p:nvPr/>
        </p:nvSpPr>
        <p:spPr>
          <a:xfrm>
            <a:off x="7010400" y="1535014"/>
            <a:ext cx="27546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</a:t>
            </a:r>
            <a:r>
              <a:rPr lang="en-US" sz="1800" b="1" dirty="0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800" b="1" dirty="0" err="1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</a:t>
            </a:r>
            <a:r>
              <a:rPr lang="ko-KR" altLang="en-US" sz="1800" b="1" dirty="0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역할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D4DC1F98-01C1-B15D-DEF5-C2A0E712F682}"/>
              </a:ext>
            </a:extLst>
          </p:cNvPr>
          <p:cNvSpPr/>
          <p:nvPr/>
        </p:nvSpPr>
        <p:spPr>
          <a:xfrm>
            <a:off x="6477000" y="2030314"/>
            <a:ext cx="5029200" cy="6805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단순히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도구를 제공하는 기술 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조직이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</a:t>
            </a:r>
            <a:r>
              <a:rPr lang="ko-KR" alt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닌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</a:p>
          <a:p>
            <a:pPr marL="0" indent="0">
              <a:lnSpc>
                <a:spcPts val="2194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개발자의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동기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부여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협업을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증폭시키는 </a:t>
            </a:r>
            <a:r>
              <a:rPr lang="en-US" sz="1300" b="1" dirty="0">
                <a:solidFill>
                  <a:srgbClr val="00FFF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 설계자(Experience Designer</a:t>
            </a:r>
            <a:r>
              <a:rPr lang="en-US" altLang="ko-KR" sz="1300" b="1" dirty="0">
                <a:solidFill>
                  <a:srgbClr val="00FFF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6" name="Image 8" descr="preencoded.png">
            <a:extLst>
              <a:ext uri="{FF2B5EF4-FFF2-40B4-BE49-F238E27FC236}">
                <a16:creationId xmlns:a16="http://schemas.microsoft.com/office/drawing/2014/main" id="{F4B2E394-42C5-DCE2-8C56-27AAEB69B70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228" y="2061920"/>
            <a:ext cx="188595" cy="167640"/>
          </a:xfrm>
          <a:prstGeom prst="rect">
            <a:avLst/>
          </a:prstGeom>
        </p:spPr>
      </p:pic>
      <p:pic>
        <p:nvPicPr>
          <p:cNvPr id="127" name="Image 9" descr="preencoded.png">
            <a:extLst>
              <a:ext uri="{FF2B5EF4-FFF2-40B4-BE49-F238E27FC236}">
                <a16:creationId xmlns:a16="http://schemas.microsoft.com/office/drawing/2014/main" id="{E418C86F-FB2C-44F2-5D36-343E42619F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398633"/>
            <a:ext cx="5029200" cy="739229"/>
          </a:xfrm>
          <a:prstGeom prst="rect">
            <a:avLst/>
          </a:prstGeom>
        </p:spPr>
      </p:pic>
      <p:pic>
        <p:nvPicPr>
          <p:cNvPr id="128" name="Image 10" descr="preencoded.png">
            <a:extLst>
              <a:ext uri="{FF2B5EF4-FFF2-40B4-BE49-F238E27FC236}">
                <a16:creationId xmlns:a16="http://schemas.microsoft.com/office/drawing/2014/main" id="{7FFF5B54-B60A-709B-FC87-197B79DC89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6630" y="2472487"/>
            <a:ext cx="806781" cy="240472"/>
          </a:xfrm>
          <a:prstGeom prst="rect">
            <a:avLst/>
          </a:prstGeom>
        </p:spPr>
      </p:pic>
      <p:pic>
        <p:nvPicPr>
          <p:cNvPr id="129" name="Image 11" descr="preencoded.png">
            <a:extLst>
              <a:ext uri="{FF2B5EF4-FFF2-40B4-BE49-F238E27FC236}">
                <a16:creationId xmlns:a16="http://schemas.microsoft.com/office/drawing/2014/main" id="{E3438DC8-559D-91D3-5984-7A65AE50384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233112"/>
            <a:ext cx="5029200" cy="739229"/>
          </a:xfrm>
          <a:prstGeom prst="rect">
            <a:avLst/>
          </a:prstGeom>
        </p:spPr>
      </p:pic>
      <p:pic>
        <p:nvPicPr>
          <p:cNvPr id="130" name="Image 12" descr="preencoded.png">
            <a:extLst>
              <a:ext uri="{FF2B5EF4-FFF2-40B4-BE49-F238E27FC236}">
                <a16:creationId xmlns:a16="http://schemas.microsoft.com/office/drawing/2014/main" id="{E234A7CD-9D83-BEA0-DE11-C809A76E5A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6630" y="3306966"/>
            <a:ext cx="806781" cy="240472"/>
          </a:xfrm>
          <a:prstGeom prst="rect">
            <a:avLst/>
          </a:prstGeom>
        </p:spPr>
      </p:pic>
      <p:pic>
        <p:nvPicPr>
          <p:cNvPr id="131" name="Image 13" descr="preencoded.png">
            <a:extLst>
              <a:ext uri="{FF2B5EF4-FFF2-40B4-BE49-F238E27FC236}">
                <a16:creationId xmlns:a16="http://schemas.microsoft.com/office/drawing/2014/main" id="{17D1E37D-181B-8B91-BCC9-DED4C8E0C40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067592"/>
            <a:ext cx="5005988" cy="739229"/>
          </a:xfrm>
          <a:prstGeom prst="rect">
            <a:avLst/>
          </a:prstGeom>
        </p:spPr>
      </p:pic>
      <p:pic>
        <p:nvPicPr>
          <p:cNvPr id="132" name="Image 14" descr="preencoded.png">
            <a:extLst>
              <a:ext uri="{FF2B5EF4-FFF2-40B4-BE49-F238E27FC236}">
                <a16:creationId xmlns:a16="http://schemas.microsoft.com/office/drawing/2014/main" id="{78A69A05-2D16-4B7A-64C1-50C9A577AC2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6630" y="4141446"/>
            <a:ext cx="806781" cy="240472"/>
          </a:xfrm>
          <a:prstGeom prst="rect">
            <a:avLst/>
          </a:prstGeom>
        </p:spPr>
      </p:pic>
      <p:sp>
        <p:nvSpPr>
          <p:cNvPr id="133" name="Text 4">
            <a:extLst>
              <a:ext uri="{FF2B5EF4-FFF2-40B4-BE49-F238E27FC236}">
                <a16:creationId xmlns:a16="http://schemas.microsoft.com/office/drawing/2014/main" id="{37BC1BAD-56DC-7F06-CBDF-A0D9772ABFFC}"/>
              </a:ext>
            </a:extLst>
          </p:cNvPr>
          <p:cNvSpPr/>
          <p:nvPr/>
        </p:nvSpPr>
        <p:spPr>
          <a:xfrm>
            <a:off x="933450" y="2042463"/>
            <a:ext cx="4857750" cy="2949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생산성</a:t>
            </a: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예측</a:t>
            </a: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요인</a:t>
            </a: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4" name="Text 5">
            <a:extLst>
              <a:ext uri="{FF2B5EF4-FFF2-40B4-BE49-F238E27FC236}">
                <a16:creationId xmlns:a16="http://schemas.microsoft.com/office/drawing/2014/main" id="{F6BAB51F-C6F5-A0E0-8C67-DCCB3A193E3D}"/>
              </a:ext>
            </a:extLst>
          </p:cNvPr>
          <p:cNvSpPr/>
          <p:nvPr/>
        </p:nvSpPr>
        <p:spPr>
          <a:xfrm>
            <a:off x="838200" y="2512933"/>
            <a:ext cx="274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ko-KR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5" name="Text 6">
            <a:extLst>
              <a:ext uri="{FF2B5EF4-FFF2-40B4-BE49-F238E27FC236}">
                <a16:creationId xmlns:a16="http://schemas.microsoft.com/office/drawing/2014/main" id="{2022F3EC-2D1D-2E66-C029-60951DAEFD42}"/>
              </a:ext>
            </a:extLst>
          </p:cNvPr>
          <p:cNvSpPr/>
          <p:nvPr/>
        </p:nvSpPr>
        <p:spPr>
          <a:xfrm>
            <a:off x="1066800" y="2512933"/>
            <a:ext cx="1676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Job Enthusiasm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6" name="Text 7">
            <a:extLst>
              <a:ext uri="{FF2B5EF4-FFF2-40B4-BE49-F238E27FC236}">
                <a16:creationId xmlns:a16="http://schemas.microsoft.com/office/drawing/2014/main" id="{4D06136B-1BE7-5EC7-7B74-F5A5F46074FE}"/>
              </a:ext>
            </a:extLst>
          </p:cNvPr>
          <p:cNvSpPr/>
          <p:nvPr/>
        </p:nvSpPr>
        <p:spPr>
          <a:xfrm>
            <a:off x="4785372" y="2472486"/>
            <a:ext cx="781050" cy="20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비기술적 요인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7" name="Text 8">
            <a:extLst>
              <a:ext uri="{FF2B5EF4-FFF2-40B4-BE49-F238E27FC236}">
                <a16:creationId xmlns:a16="http://schemas.microsoft.com/office/drawing/2014/main" id="{78252494-46FD-761D-6727-0ACD385BA4D7}"/>
              </a:ext>
            </a:extLst>
          </p:cNvPr>
          <p:cNvSpPr/>
          <p:nvPr/>
        </p:nvSpPr>
        <p:spPr>
          <a:xfrm>
            <a:off x="838200" y="3347412"/>
            <a:ext cx="274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8" name="Text 9">
            <a:extLst>
              <a:ext uri="{FF2B5EF4-FFF2-40B4-BE49-F238E27FC236}">
                <a16:creationId xmlns:a16="http://schemas.microsoft.com/office/drawing/2014/main" id="{812F3E60-EDEF-50AA-917E-1586F93DA6A4}"/>
              </a:ext>
            </a:extLst>
          </p:cNvPr>
          <p:cNvSpPr/>
          <p:nvPr/>
        </p:nvSpPr>
        <p:spPr>
          <a:xfrm>
            <a:off x="1066800" y="3347411"/>
            <a:ext cx="3478696" cy="2384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Peer Support for New Ideas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9" name="Text 10">
            <a:extLst>
              <a:ext uri="{FF2B5EF4-FFF2-40B4-BE49-F238E27FC236}">
                <a16:creationId xmlns:a16="http://schemas.microsoft.com/office/drawing/2014/main" id="{3CE99C76-AD7C-49E7-4CB3-B6CED64BC47F}"/>
              </a:ext>
            </a:extLst>
          </p:cNvPr>
          <p:cNvSpPr/>
          <p:nvPr/>
        </p:nvSpPr>
        <p:spPr>
          <a:xfrm>
            <a:off x="4785372" y="3306965"/>
            <a:ext cx="781050" cy="20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비기술적 요인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0" name="Text 11">
            <a:extLst>
              <a:ext uri="{FF2B5EF4-FFF2-40B4-BE49-F238E27FC236}">
                <a16:creationId xmlns:a16="http://schemas.microsoft.com/office/drawing/2014/main" id="{320EF352-7A46-4464-8994-B2C0C2C20EA5}"/>
              </a:ext>
            </a:extLst>
          </p:cNvPr>
          <p:cNvSpPr/>
          <p:nvPr/>
        </p:nvSpPr>
        <p:spPr>
          <a:xfrm>
            <a:off x="838200" y="4181892"/>
            <a:ext cx="274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1" name="Text 12">
            <a:extLst>
              <a:ext uri="{FF2B5EF4-FFF2-40B4-BE49-F238E27FC236}">
                <a16:creationId xmlns:a16="http://schemas.microsoft.com/office/drawing/2014/main" id="{335B87FC-44D4-348D-7C7F-C631FB4C414D}"/>
              </a:ext>
            </a:extLst>
          </p:cNvPr>
          <p:cNvSpPr/>
          <p:nvPr/>
        </p:nvSpPr>
        <p:spPr>
          <a:xfrm>
            <a:off x="1066800" y="4181892"/>
            <a:ext cx="4495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ko-KR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Useful Feedback about Job Performance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2" name="Text 13">
            <a:extLst>
              <a:ext uri="{FF2B5EF4-FFF2-40B4-BE49-F238E27FC236}">
                <a16:creationId xmlns:a16="http://schemas.microsoft.com/office/drawing/2014/main" id="{60848BD5-7601-5E08-5081-90CBFCF9D7D1}"/>
              </a:ext>
            </a:extLst>
          </p:cNvPr>
          <p:cNvSpPr/>
          <p:nvPr/>
        </p:nvSpPr>
        <p:spPr>
          <a:xfrm>
            <a:off x="4785372" y="4141445"/>
            <a:ext cx="781050" cy="20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비기술적 요인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3" name="Text 6">
            <a:extLst>
              <a:ext uri="{FF2B5EF4-FFF2-40B4-BE49-F238E27FC236}">
                <a16:creationId xmlns:a16="http://schemas.microsoft.com/office/drawing/2014/main" id="{D70607D9-EA31-1638-FA93-B842BDA2DC6E}"/>
              </a:ext>
            </a:extLst>
          </p:cNvPr>
          <p:cNvSpPr/>
          <p:nvPr/>
        </p:nvSpPr>
        <p:spPr>
          <a:xfrm>
            <a:off x="1038224" y="2805976"/>
            <a:ext cx="4402621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자신의 직무에 대해 </a:t>
            </a:r>
            <a:r>
              <a:rPr lang="ko-KR" altLang="en-US" sz="12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긍정적 감정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</a:t>
            </a:r>
            <a:r>
              <a:rPr lang="ko-KR" altLang="en-US" sz="12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몰입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느끼는 정도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4" name="Text 6">
            <a:extLst>
              <a:ext uri="{FF2B5EF4-FFF2-40B4-BE49-F238E27FC236}">
                <a16:creationId xmlns:a16="http://schemas.microsoft.com/office/drawing/2014/main" id="{6A3525DC-3BC5-28A0-6560-A047496A2C65}"/>
              </a:ext>
            </a:extLst>
          </p:cNvPr>
          <p:cNvSpPr/>
          <p:nvPr/>
        </p:nvSpPr>
        <p:spPr>
          <a:xfrm>
            <a:off x="1038224" y="3642688"/>
            <a:ext cx="4402621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내</a:t>
            </a:r>
            <a:r>
              <a:rPr lang="en-US" altLang="ko-KR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동료가 새로운 아이디어를 받아들이고 </a:t>
            </a:r>
            <a:r>
              <a:rPr lang="ko-KR" altLang="en-US" sz="12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지지해 주는 분위기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5" name="Text 6">
            <a:extLst>
              <a:ext uri="{FF2B5EF4-FFF2-40B4-BE49-F238E27FC236}">
                <a16:creationId xmlns:a16="http://schemas.microsoft.com/office/drawing/2014/main" id="{99A5B4E8-DEC2-6826-C7C1-CC4F0D4A8868}"/>
              </a:ext>
            </a:extLst>
          </p:cNvPr>
          <p:cNvSpPr/>
          <p:nvPr/>
        </p:nvSpPr>
        <p:spPr>
          <a:xfrm>
            <a:off x="1035214" y="4468832"/>
            <a:ext cx="4402621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자신의 업무 수행에 대해 </a:t>
            </a:r>
            <a:r>
              <a:rPr lang="ko-KR" altLang="en-US" sz="12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실질적이고 건설적인 피드백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받는 정도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46" name="Image 6" descr="preencoded.png">
            <a:extLst>
              <a:ext uri="{FF2B5EF4-FFF2-40B4-BE49-F238E27FC236}">
                <a16:creationId xmlns:a16="http://schemas.microsoft.com/office/drawing/2014/main" id="{06F4C2F5-E961-7376-DC5C-93F2729F304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1496914"/>
            <a:ext cx="381000" cy="381000"/>
          </a:xfrm>
          <a:prstGeom prst="rect">
            <a:avLst/>
          </a:prstGeom>
        </p:spPr>
      </p:pic>
      <p:pic>
        <p:nvPicPr>
          <p:cNvPr id="147" name="Image 7" descr="preencoded.png">
            <a:extLst>
              <a:ext uri="{FF2B5EF4-FFF2-40B4-BE49-F238E27FC236}">
                <a16:creationId xmlns:a16="http://schemas.microsoft.com/office/drawing/2014/main" id="{63392754-D5C6-AE62-C2BB-1BEB35D97DC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050" y="1554064"/>
            <a:ext cx="190500" cy="266700"/>
          </a:xfrm>
          <a:prstGeom prst="rect">
            <a:avLst/>
          </a:prstGeom>
        </p:spPr>
      </p:pic>
      <p:sp>
        <p:nvSpPr>
          <p:cNvPr id="148" name="Text 2">
            <a:extLst>
              <a:ext uri="{FF2B5EF4-FFF2-40B4-BE49-F238E27FC236}">
                <a16:creationId xmlns:a16="http://schemas.microsoft.com/office/drawing/2014/main" id="{99B334AF-F522-6AE4-6819-AB95AEAF1083}"/>
              </a:ext>
            </a:extLst>
          </p:cNvPr>
          <p:cNvSpPr/>
          <p:nvPr/>
        </p:nvSpPr>
        <p:spPr>
          <a:xfrm>
            <a:off x="1219200" y="1439764"/>
            <a:ext cx="441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Google 연구 결과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9" name="Text 3">
            <a:extLst>
              <a:ext uri="{FF2B5EF4-FFF2-40B4-BE49-F238E27FC236}">
                <a16:creationId xmlns:a16="http://schemas.microsoft.com/office/drawing/2014/main" id="{63274B05-3784-0D3B-946D-988884884B6F}"/>
              </a:ext>
            </a:extLst>
          </p:cNvPr>
          <p:cNvSpPr/>
          <p:nvPr/>
        </p:nvSpPr>
        <p:spPr>
          <a:xfrm>
            <a:off x="1219200" y="1749740"/>
            <a:ext cx="4419600" cy="2270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"What Predicts Software Developers' Productivity?" (622명 개발자 조사)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0" name="Image 24" descr="preencoded.png">
            <a:extLst>
              <a:ext uri="{FF2B5EF4-FFF2-40B4-BE49-F238E27FC236}">
                <a16:creationId xmlns:a16="http://schemas.microsoft.com/office/drawing/2014/main" id="{07D1EABF-71EC-9759-C6ED-2CEB2AE5F32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53350" y="3087063"/>
            <a:ext cx="952500" cy="952500"/>
          </a:xfrm>
          <a:prstGeom prst="rect">
            <a:avLst/>
          </a:prstGeom>
        </p:spPr>
      </p:pic>
      <p:pic>
        <p:nvPicPr>
          <p:cNvPr id="151" name="Image 25" descr="preencoded.png">
            <a:extLst>
              <a:ext uri="{FF2B5EF4-FFF2-40B4-BE49-F238E27FC236}">
                <a16:creationId xmlns:a16="http://schemas.microsoft.com/office/drawing/2014/main" id="{A99A47C8-5427-D191-8D3A-18AC8885F66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10537" y="3258513"/>
            <a:ext cx="238125" cy="266700"/>
          </a:xfrm>
          <a:prstGeom prst="rect">
            <a:avLst/>
          </a:prstGeom>
        </p:spPr>
      </p:pic>
      <p:pic>
        <p:nvPicPr>
          <p:cNvPr id="152" name="Image 26" descr="preencoded.png">
            <a:extLst>
              <a:ext uri="{FF2B5EF4-FFF2-40B4-BE49-F238E27FC236}">
                <a16:creationId xmlns:a16="http://schemas.microsoft.com/office/drawing/2014/main" id="{FCA1BACE-2C07-EE52-A575-9EC8923C23F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67725" y="3039437"/>
            <a:ext cx="1047750" cy="1047750"/>
          </a:xfrm>
          <a:prstGeom prst="rect">
            <a:avLst/>
          </a:prstGeom>
        </p:spPr>
      </p:pic>
      <p:pic>
        <p:nvPicPr>
          <p:cNvPr id="153" name="Image 27" descr="preencoded.png">
            <a:extLst>
              <a:ext uri="{FF2B5EF4-FFF2-40B4-BE49-F238E27FC236}">
                <a16:creationId xmlns:a16="http://schemas.microsoft.com/office/drawing/2014/main" id="{0F60D427-6A03-5C4C-8A2A-B371ED473A7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34438" y="3207078"/>
            <a:ext cx="314325" cy="335280"/>
          </a:xfrm>
          <a:prstGeom prst="rect">
            <a:avLst/>
          </a:prstGeom>
        </p:spPr>
      </p:pic>
      <p:pic>
        <p:nvPicPr>
          <p:cNvPr id="154" name="Image 28" descr="preencoded.png">
            <a:extLst>
              <a:ext uri="{FF2B5EF4-FFF2-40B4-BE49-F238E27FC236}">
                <a16:creationId xmlns:a16="http://schemas.microsoft.com/office/drawing/2014/main" id="{A936DAC3-1CA6-C185-F88C-AC84E5BB822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77350" y="3087063"/>
            <a:ext cx="952500" cy="952500"/>
          </a:xfrm>
          <a:prstGeom prst="rect">
            <a:avLst/>
          </a:prstGeom>
        </p:spPr>
      </p:pic>
      <p:pic>
        <p:nvPicPr>
          <p:cNvPr id="155" name="Image 29" descr="preencoded.png">
            <a:extLst>
              <a:ext uri="{FF2B5EF4-FFF2-40B4-BE49-F238E27FC236}">
                <a16:creationId xmlns:a16="http://schemas.microsoft.com/office/drawing/2014/main" id="{211579D3-3798-3781-D1FE-70CAB59E122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58350" y="3258513"/>
            <a:ext cx="190500" cy="266700"/>
          </a:xfrm>
          <a:prstGeom prst="rect">
            <a:avLst/>
          </a:prstGeom>
        </p:spPr>
      </p:pic>
      <p:sp>
        <p:nvSpPr>
          <p:cNvPr id="156" name="Text 22">
            <a:extLst>
              <a:ext uri="{FF2B5EF4-FFF2-40B4-BE49-F238E27FC236}">
                <a16:creationId xmlns:a16="http://schemas.microsoft.com/office/drawing/2014/main" id="{59CC3BF3-4B89-BD48-B323-D9373679495D}"/>
              </a:ext>
            </a:extLst>
          </p:cNvPr>
          <p:cNvSpPr/>
          <p:nvPr/>
        </p:nvSpPr>
        <p:spPr>
          <a:xfrm>
            <a:off x="7898130" y="3563313"/>
            <a:ext cx="6629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 역량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7" name="Text 23">
            <a:extLst>
              <a:ext uri="{FF2B5EF4-FFF2-40B4-BE49-F238E27FC236}">
                <a16:creationId xmlns:a16="http://schemas.microsoft.com/office/drawing/2014/main" id="{B21794AE-AF39-3916-BFDA-E0C8D92F5DFE}"/>
              </a:ext>
            </a:extLst>
          </p:cNvPr>
          <p:cNvSpPr/>
          <p:nvPr/>
        </p:nvSpPr>
        <p:spPr>
          <a:xfrm>
            <a:off x="8086725" y="3715713"/>
            <a:ext cx="2857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30%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8" name="Text 24">
            <a:extLst>
              <a:ext uri="{FF2B5EF4-FFF2-40B4-BE49-F238E27FC236}">
                <a16:creationId xmlns:a16="http://schemas.microsoft.com/office/drawing/2014/main" id="{FA8CFB03-7362-F413-303B-E8110065C333}"/>
              </a:ext>
            </a:extLst>
          </p:cNvPr>
          <p:cNvSpPr/>
          <p:nvPr/>
        </p:nvSpPr>
        <p:spPr>
          <a:xfrm>
            <a:off x="8696135" y="3584268"/>
            <a:ext cx="590930" cy="167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990" b="1" dirty="0">
                <a:solidFill>
                  <a:srgbClr val="F9A8D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</a:t>
            </a:r>
            <a:endParaRPr lang="en-US" sz="99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9" name="Text 25">
            <a:extLst>
              <a:ext uri="{FF2B5EF4-FFF2-40B4-BE49-F238E27FC236}">
                <a16:creationId xmlns:a16="http://schemas.microsoft.com/office/drawing/2014/main" id="{2C327289-D97B-3ED1-EFFC-167C175FC79F}"/>
              </a:ext>
            </a:extLst>
          </p:cNvPr>
          <p:cNvSpPr/>
          <p:nvPr/>
        </p:nvSpPr>
        <p:spPr>
          <a:xfrm>
            <a:off x="8626983" y="3751907"/>
            <a:ext cx="729235" cy="167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 설계자</a:t>
            </a:r>
            <a:endParaRPr lang="en-US" sz="99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0" name="Text 26">
            <a:extLst>
              <a:ext uri="{FF2B5EF4-FFF2-40B4-BE49-F238E27FC236}">
                <a16:creationId xmlns:a16="http://schemas.microsoft.com/office/drawing/2014/main" id="{3F9D3A28-7B42-D19C-E142-CD59537581A7}"/>
              </a:ext>
            </a:extLst>
          </p:cNvPr>
          <p:cNvSpPr/>
          <p:nvPr/>
        </p:nvSpPr>
        <p:spPr>
          <a:xfrm>
            <a:off x="9359265" y="3563313"/>
            <a:ext cx="7886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DE04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비기술적 역량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1" name="Text 27">
            <a:extLst>
              <a:ext uri="{FF2B5EF4-FFF2-40B4-BE49-F238E27FC236}">
                <a16:creationId xmlns:a16="http://schemas.microsoft.com/office/drawing/2014/main" id="{96C78D02-646A-09A9-EAA9-DEA51A23124E}"/>
              </a:ext>
            </a:extLst>
          </p:cNvPr>
          <p:cNvSpPr/>
          <p:nvPr/>
        </p:nvSpPr>
        <p:spPr>
          <a:xfrm>
            <a:off x="9610725" y="3715713"/>
            <a:ext cx="2857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70%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64" name="Image 18" descr="preencoded.png">
            <a:extLst>
              <a:ext uri="{FF2B5EF4-FFF2-40B4-BE49-F238E27FC236}">
                <a16:creationId xmlns:a16="http://schemas.microsoft.com/office/drawing/2014/main" id="{90E8CB7F-F4BC-7778-4E6D-3565A8B1CEB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" y="4930895"/>
            <a:ext cx="5029200" cy="457200"/>
          </a:xfrm>
          <a:prstGeom prst="rect">
            <a:avLst/>
          </a:prstGeom>
        </p:spPr>
      </p:pic>
      <p:sp>
        <p:nvSpPr>
          <p:cNvPr id="165" name="Text 18">
            <a:extLst>
              <a:ext uri="{FF2B5EF4-FFF2-40B4-BE49-F238E27FC236}">
                <a16:creationId xmlns:a16="http://schemas.microsoft.com/office/drawing/2014/main" id="{D5EB6D90-59F1-CF6F-0293-BD3FDC30C28D}"/>
              </a:ext>
            </a:extLst>
          </p:cNvPr>
          <p:cNvSpPr/>
          <p:nvPr/>
        </p:nvSpPr>
        <p:spPr>
          <a:xfrm>
            <a:off x="1485900" y="5045195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ko-KR" altLang="en-US" sz="1300" b="1" dirty="0">
                <a:solidFill>
                  <a:srgbClr val="FFFF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</a:t>
            </a:r>
            <a:r>
              <a:rPr lang="en-US" altLang="ko-KR" sz="1300" b="1" dirty="0">
                <a:solidFill>
                  <a:srgbClr val="FFFF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300" b="1" dirty="0">
                <a:solidFill>
                  <a:srgbClr val="FFFF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항목이 모두 </a:t>
            </a:r>
            <a:r>
              <a:rPr lang="ko-KR" altLang="en-US" sz="1300" b="1" dirty="0">
                <a:solidFill>
                  <a:srgbClr val="FC6CB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비기술적 요인</a:t>
            </a:r>
            <a:endParaRPr lang="en-US" sz="1300" b="1" dirty="0">
              <a:solidFill>
                <a:srgbClr val="FC6CB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68" name="Image 16" descr="preencoded.png">
            <a:extLst>
              <a:ext uri="{FF2B5EF4-FFF2-40B4-BE49-F238E27FC236}">
                <a16:creationId xmlns:a16="http://schemas.microsoft.com/office/drawing/2014/main" id="{7660C5FD-64C9-F245-E7B6-5777E05FD62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" y="5506525"/>
            <a:ext cx="5029200" cy="777329"/>
          </a:xfrm>
          <a:prstGeom prst="rect">
            <a:avLst/>
          </a:prstGeom>
        </p:spPr>
      </p:pic>
      <p:sp>
        <p:nvSpPr>
          <p:cNvPr id="169" name="Text 15">
            <a:extLst>
              <a:ext uri="{FF2B5EF4-FFF2-40B4-BE49-F238E27FC236}">
                <a16:creationId xmlns:a16="http://schemas.microsoft.com/office/drawing/2014/main" id="{2DCDA8C8-E6D3-13D5-6FCE-9157EB90688E}"/>
              </a:ext>
            </a:extLst>
          </p:cNvPr>
          <p:cNvSpPr/>
          <p:nvPr/>
        </p:nvSpPr>
        <p:spPr>
          <a:xfrm>
            <a:off x="1035213" y="5620824"/>
            <a:ext cx="3043391" cy="252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복잡성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</a:t>
            </a:r>
            <a:r>
              <a:rPr lang="ko-KR" alt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(COCOMO II)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0" name="Text 16">
            <a:extLst>
              <a:ext uri="{FF2B5EF4-FFF2-40B4-BE49-F238E27FC236}">
                <a16:creationId xmlns:a16="http://schemas.microsoft.com/office/drawing/2014/main" id="{E88F4B36-BA7E-005D-7A11-2B5940118DF0}"/>
              </a:ext>
            </a:extLst>
          </p:cNvPr>
          <p:cNvSpPr/>
          <p:nvPr/>
        </p:nvSpPr>
        <p:spPr>
          <a:xfrm>
            <a:off x="1035213" y="5931405"/>
            <a:ext cx="4331030" cy="290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b="1" dirty="0" err="1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생산성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과의</a:t>
            </a:r>
            <a:r>
              <a:rPr lang="en-US" sz="12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상관관계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r>
              <a:rPr lang="en-US" sz="12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매우</a:t>
            </a:r>
            <a:r>
              <a:rPr lang="en-US" sz="12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낮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거나 통계적으로 무의미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71" name="Image 17" descr="preencoded.png">
            <a:extLst>
              <a:ext uri="{FF2B5EF4-FFF2-40B4-BE49-F238E27FC236}">
                <a16:creationId xmlns:a16="http://schemas.microsoft.com/office/drawing/2014/main" id="{653000A1-BA2C-E739-2BF0-F0D85006FE7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782359" y="5596193"/>
            <a:ext cx="775479" cy="252562"/>
          </a:xfrm>
          <a:prstGeom prst="rect">
            <a:avLst/>
          </a:prstGeom>
        </p:spPr>
      </p:pic>
      <p:sp>
        <p:nvSpPr>
          <p:cNvPr id="172" name="Text 17">
            <a:extLst>
              <a:ext uri="{FF2B5EF4-FFF2-40B4-BE49-F238E27FC236}">
                <a16:creationId xmlns:a16="http://schemas.microsoft.com/office/drawing/2014/main" id="{03C79C6B-482F-DF4B-C59A-1C8A43691294}"/>
              </a:ext>
            </a:extLst>
          </p:cNvPr>
          <p:cNvSpPr/>
          <p:nvPr/>
        </p:nvSpPr>
        <p:spPr>
          <a:xfrm>
            <a:off x="4810995" y="5640470"/>
            <a:ext cx="692480" cy="1569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900" b="1" dirty="0">
                <a:solidFill>
                  <a:srgbClr val="00FFF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 요인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73" name="Image 30" descr="preencoded.png">
            <a:extLst>
              <a:ext uri="{FF2B5EF4-FFF2-40B4-BE49-F238E27FC236}">
                <a16:creationId xmlns:a16="http://schemas.microsoft.com/office/drawing/2014/main" id="{A782398B-5044-2329-6F26-EE906677D5A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4436013"/>
            <a:ext cx="2457450" cy="457200"/>
          </a:xfrm>
          <a:prstGeom prst="rect">
            <a:avLst/>
          </a:prstGeom>
        </p:spPr>
      </p:pic>
      <p:pic>
        <p:nvPicPr>
          <p:cNvPr id="174" name="Image 31" descr="preencoded.png">
            <a:extLst>
              <a:ext uri="{FF2B5EF4-FFF2-40B4-BE49-F238E27FC236}">
                <a16:creationId xmlns:a16="http://schemas.microsoft.com/office/drawing/2014/main" id="{54A24EA7-C7DA-9E30-1E9F-337C279E8BB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91300" y="4597938"/>
            <a:ext cx="152400" cy="152400"/>
          </a:xfrm>
          <a:prstGeom prst="rect">
            <a:avLst/>
          </a:prstGeom>
        </p:spPr>
      </p:pic>
      <p:pic>
        <p:nvPicPr>
          <p:cNvPr id="175" name="Image 32" descr="preencoded.png">
            <a:extLst>
              <a:ext uri="{FF2B5EF4-FFF2-40B4-BE49-F238E27FC236}">
                <a16:creationId xmlns:a16="http://schemas.microsoft.com/office/drawing/2014/main" id="{AEC52C43-11C4-FEE8-69BC-890548E252C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48750" y="4436013"/>
            <a:ext cx="2457450" cy="457200"/>
          </a:xfrm>
          <a:prstGeom prst="rect">
            <a:avLst/>
          </a:prstGeom>
        </p:spPr>
      </p:pic>
      <p:pic>
        <p:nvPicPr>
          <p:cNvPr id="176" name="Image 33" descr="preencoded.png">
            <a:extLst>
              <a:ext uri="{FF2B5EF4-FFF2-40B4-BE49-F238E27FC236}">
                <a16:creationId xmlns:a16="http://schemas.microsoft.com/office/drawing/2014/main" id="{014942CD-8AB3-8F2E-2A2F-B13BBA9E341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63050" y="4597938"/>
            <a:ext cx="190500" cy="152400"/>
          </a:xfrm>
          <a:prstGeom prst="rect">
            <a:avLst/>
          </a:prstGeom>
        </p:spPr>
      </p:pic>
      <p:pic>
        <p:nvPicPr>
          <p:cNvPr id="177" name="Image 34" descr="preencoded.png">
            <a:extLst>
              <a:ext uri="{FF2B5EF4-FFF2-40B4-BE49-F238E27FC236}">
                <a16:creationId xmlns:a16="http://schemas.microsoft.com/office/drawing/2014/main" id="{FE6931BF-819B-09C4-88C7-9390AA2C70D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5007513"/>
            <a:ext cx="2457450" cy="457200"/>
          </a:xfrm>
          <a:prstGeom prst="rect">
            <a:avLst/>
          </a:prstGeom>
        </p:spPr>
      </p:pic>
      <p:pic>
        <p:nvPicPr>
          <p:cNvPr id="178" name="Image 35" descr="preencoded.png">
            <a:extLst>
              <a:ext uri="{FF2B5EF4-FFF2-40B4-BE49-F238E27FC236}">
                <a16:creationId xmlns:a16="http://schemas.microsoft.com/office/drawing/2014/main" id="{9BD4843F-7A41-C156-16F9-B788B94845E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91300" y="5169438"/>
            <a:ext cx="171450" cy="152400"/>
          </a:xfrm>
          <a:prstGeom prst="rect">
            <a:avLst/>
          </a:prstGeom>
        </p:spPr>
      </p:pic>
      <p:pic>
        <p:nvPicPr>
          <p:cNvPr id="179" name="Image 36" descr="preencoded.png">
            <a:extLst>
              <a:ext uri="{FF2B5EF4-FFF2-40B4-BE49-F238E27FC236}">
                <a16:creationId xmlns:a16="http://schemas.microsoft.com/office/drawing/2014/main" id="{054B2C9E-4583-6E6B-5785-5D9261F8BBC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48750" y="5007513"/>
            <a:ext cx="2457450" cy="457200"/>
          </a:xfrm>
          <a:prstGeom prst="rect">
            <a:avLst/>
          </a:prstGeom>
        </p:spPr>
      </p:pic>
      <p:pic>
        <p:nvPicPr>
          <p:cNvPr id="180" name="Image 37" descr="preencoded.png">
            <a:extLst>
              <a:ext uri="{FF2B5EF4-FFF2-40B4-BE49-F238E27FC236}">
                <a16:creationId xmlns:a16="http://schemas.microsoft.com/office/drawing/2014/main" id="{4E0DDDF5-96D6-4D06-20F4-EDFADBCB554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63050" y="5169438"/>
            <a:ext cx="171450" cy="152400"/>
          </a:xfrm>
          <a:prstGeom prst="rect">
            <a:avLst/>
          </a:prstGeom>
        </p:spPr>
      </p:pic>
      <p:pic>
        <p:nvPicPr>
          <p:cNvPr id="181" name="Image 38" descr="preencoded.png">
            <a:extLst>
              <a:ext uri="{FF2B5EF4-FFF2-40B4-BE49-F238E27FC236}">
                <a16:creationId xmlns:a16="http://schemas.microsoft.com/office/drawing/2014/main" id="{664041DA-0E26-759D-6756-0BE0F6A2D9B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77000" y="5655213"/>
            <a:ext cx="5029200" cy="457200"/>
          </a:xfrm>
          <a:prstGeom prst="rect">
            <a:avLst/>
          </a:prstGeom>
        </p:spPr>
      </p:pic>
      <p:sp>
        <p:nvSpPr>
          <p:cNvPr id="182" name="Text 28">
            <a:extLst>
              <a:ext uri="{FF2B5EF4-FFF2-40B4-BE49-F238E27FC236}">
                <a16:creationId xmlns:a16="http://schemas.microsoft.com/office/drawing/2014/main" id="{9EE91C9D-87E4-B720-D1DA-1FFBCC0D6E4F}"/>
              </a:ext>
            </a:extLst>
          </p:cNvPr>
          <p:cNvSpPr/>
          <p:nvPr/>
        </p:nvSpPr>
        <p:spPr>
          <a:xfrm>
            <a:off x="6819900" y="4550313"/>
            <a:ext cx="514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A8D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공감력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3" name="Text 29">
            <a:extLst>
              <a:ext uri="{FF2B5EF4-FFF2-40B4-BE49-F238E27FC236}">
                <a16:creationId xmlns:a16="http://schemas.microsoft.com/office/drawing/2014/main" id="{7F986174-C430-2B6E-E9DF-F1402CC60923}"/>
              </a:ext>
            </a:extLst>
          </p:cNvPr>
          <p:cNvSpPr/>
          <p:nvPr/>
        </p:nvSpPr>
        <p:spPr>
          <a:xfrm>
            <a:off x="9429750" y="4550313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A8D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소통 능력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4" name="Text 30">
            <a:extLst>
              <a:ext uri="{FF2B5EF4-FFF2-40B4-BE49-F238E27FC236}">
                <a16:creationId xmlns:a16="http://schemas.microsoft.com/office/drawing/2014/main" id="{16B38A87-5D44-8018-66CF-E0D0375F26CB}"/>
              </a:ext>
            </a:extLst>
          </p:cNvPr>
          <p:cNvSpPr/>
          <p:nvPr/>
        </p:nvSpPr>
        <p:spPr>
          <a:xfrm>
            <a:off x="6838950" y="5121813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A8D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 구축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5" name="Text 31">
            <a:extLst>
              <a:ext uri="{FF2B5EF4-FFF2-40B4-BE49-F238E27FC236}">
                <a16:creationId xmlns:a16="http://schemas.microsoft.com/office/drawing/2014/main" id="{F4485474-ECB0-2A6F-9C62-288747E2A8A4}"/>
              </a:ext>
            </a:extLst>
          </p:cNvPr>
          <p:cNvSpPr/>
          <p:nvPr/>
        </p:nvSpPr>
        <p:spPr>
          <a:xfrm>
            <a:off x="9410700" y="5121813"/>
            <a:ext cx="9029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A8D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 설계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6" name="Text 32">
            <a:extLst>
              <a:ext uri="{FF2B5EF4-FFF2-40B4-BE49-F238E27FC236}">
                <a16:creationId xmlns:a16="http://schemas.microsoft.com/office/drawing/2014/main" id="{15DA84CC-9FD9-0F9D-8968-57657EAB8658}"/>
              </a:ext>
            </a:extLst>
          </p:cNvPr>
          <p:cNvSpPr/>
          <p:nvPr/>
        </p:nvSpPr>
        <p:spPr>
          <a:xfrm>
            <a:off x="6591300" y="5769513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DE04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이것이 조직 전체 생산성의 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레버리지 포인트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6741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4" y="22058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900"/>
            <a:ext cx="6498282" cy="381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1.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1"/>
          <p:cNvSpPr/>
          <p:nvPr/>
        </p:nvSpPr>
        <p:spPr>
          <a:xfrm>
            <a:off x="609600" y="11811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en-US" sz="18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권한</a:t>
            </a: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8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없이</a:t>
            </a: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설득하고 연결하는 능력"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2"/>
          <p:cNvSpPr/>
          <p:nvPr/>
        </p:nvSpPr>
        <p:spPr>
          <a:xfrm>
            <a:off x="609600" y="1562100"/>
            <a:ext cx="103786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팀은 직접적인 권한이 없더라도 조직 내외부의 다양한 이해관계자들을 설득하고 연결하는 'Influence without Authority' 능력이 필요합니다.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5" name="Image 5" descr="preencoded.png">
            <a:extLst>
              <a:ext uri="{FF2B5EF4-FFF2-40B4-BE49-F238E27FC236}">
                <a16:creationId xmlns:a16="http://schemas.microsoft.com/office/drawing/2014/main" id="{7B53CFE1-6E11-D580-98E4-F2A8519E38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76450"/>
            <a:ext cx="304800" cy="304800"/>
          </a:xfrm>
          <a:prstGeom prst="rect">
            <a:avLst/>
          </a:prstGeom>
        </p:spPr>
      </p:pic>
      <p:pic>
        <p:nvPicPr>
          <p:cNvPr id="66" name="Image 6" descr="preencoded.png">
            <a:extLst>
              <a:ext uri="{FF2B5EF4-FFF2-40B4-BE49-F238E27FC236}">
                <a16:creationId xmlns:a16="http://schemas.microsoft.com/office/drawing/2014/main" id="{3C9DDAE3-9C15-07E5-2402-DB466F9A4D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613" y="2133600"/>
            <a:ext cx="104775" cy="190500"/>
          </a:xfrm>
          <a:prstGeom prst="rect">
            <a:avLst/>
          </a:prstGeom>
        </p:spPr>
      </p:pic>
      <p:pic>
        <p:nvPicPr>
          <p:cNvPr id="67" name="Image 7" descr="preencoded.png">
            <a:extLst>
              <a:ext uri="{FF2B5EF4-FFF2-40B4-BE49-F238E27FC236}">
                <a16:creationId xmlns:a16="http://schemas.microsoft.com/office/drawing/2014/main" id="{30657098-AF3D-F72D-A599-E24D84BC8B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533650"/>
            <a:ext cx="5372100" cy="3733800"/>
          </a:xfrm>
          <a:prstGeom prst="rect">
            <a:avLst/>
          </a:prstGeom>
        </p:spPr>
      </p:pic>
      <p:pic>
        <p:nvPicPr>
          <p:cNvPr id="68" name="Image 8" descr="preencoded.png">
            <a:extLst>
              <a:ext uri="{FF2B5EF4-FFF2-40B4-BE49-F238E27FC236}">
                <a16:creationId xmlns:a16="http://schemas.microsoft.com/office/drawing/2014/main" id="{A9B1476C-9000-3A91-D261-D4ECE1D9EC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2838450"/>
            <a:ext cx="304800" cy="304800"/>
          </a:xfrm>
          <a:prstGeom prst="rect">
            <a:avLst/>
          </a:prstGeom>
        </p:spPr>
      </p:pic>
      <p:pic>
        <p:nvPicPr>
          <p:cNvPr id="69" name="Image 9" descr="preencoded.png">
            <a:extLst>
              <a:ext uri="{FF2B5EF4-FFF2-40B4-BE49-F238E27FC236}">
                <a16:creationId xmlns:a16="http://schemas.microsoft.com/office/drawing/2014/main" id="{28907072-65AF-BFDB-CC9D-8A61BACCFC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075" y="2895600"/>
            <a:ext cx="171450" cy="190500"/>
          </a:xfrm>
          <a:prstGeom prst="rect">
            <a:avLst/>
          </a:prstGeom>
        </p:spPr>
      </p:pic>
      <p:pic>
        <p:nvPicPr>
          <p:cNvPr id="70" name="Image 10" descr="preencoded.png">
            <a:extLst>
              <a:ext uri="{FF2B5EF4-FFF2-40B4-BE49-F238E27FC236}">
                <a16:creationId xmlns:a16="http://schemas.microsoft.com/office/drawing/2014/main" id="{304DB193-78FA-7359-4F6A-003A53274C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3628850"/>
            <a:ext cx="304800" cy="304800"/>
          </a:xfrm>
          <a:prstGeom prst="rect">
            <a:avLst/>
          </a:prstGeom>
        </p:spPr>
      </p:pic>
      <p:pic>
        <p:nvPicPr>
          <p:cNvPr id="71" name="Image 11" descr="preencoded.png">
            <a:extLst>
              <a:ext uri="{FF2B5EF4-FFF2-40B4-BE49-F238E27FC236}">
                <a16:creationId xmlns:a16="http://schemas.microsoft.com/office/drawing/2014/main" id="{A7B47C7A-A1C0-FD86-0496-8D135DEC7C1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075" y="3686000"/>
            <a:ext cx="171450" cy="190500"/>
          </a:xfrm>
          <a:prstGeom prst="rect">
            <a:avLst/>
          </a:prstGeom>
        </p:spPr>
      </p:pic>
      <p:pic>
        <p:nvPicPr>
          <p:cNvPr id="72" name="Image 12" descr="preencoded.png">
            <a:extLst>
              <a:ext uri="{FF2B5EF4-FFF2-40B4-BE49-F238E27FC236}">
                <a16:creationId xmlns:a16="http://schemas.microsoft.com/office/drawing/2014/main" id="{98B33367-E041-B895-8760-D5DA482CD5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4476750"/>
            <a:ext cx="304800" cy="304800"/>
          </a:xfrm>
          <a:prstGeom prst="rect">
            <a:avLst/>
          </a:prstGeom>
        </p:spPr>
      </p:pic>
      <p:pic>
        <p:nvPicPr>
          <p:cNvPr id="73" name="Image 13" descr="preencoded.png">
            <a:extLst>
              <a:ext uri="{FF2B5EF4-FFF2-40B4-BE49-F238E27FC236}">
                <a16:creationId xmlns:a16="http://schemas.microsoft.com/office/drawing/2014/main" id="{A74FD84D-8C44-8339-937D-31F1A5E35D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075" y="4533900"/>
            <a:ext cx="171450" cy="190500"/>
          </a:xfrm>
          <a:prstGeom prst="rect">
            <a:avLst/>
          </a:prstGeom>
        </p:spPr>
      </p:pic>
      <p:pic>
        <p:nvPicPr>
          <p:cNvPr id="74" name="Image 14" descr="preencoded.png">
            <a:extLst>
              <a:ext uri="{FF2B5EF4-FFF2-40B4-BE49-F238E27FC236}">
                <a16:creationId xmlns:a16="http://schemas.microsoft.com/office/drawing/2014/main" id="{946BA2A0-C4CB-159C-94D3-F3D995C7EFA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5353050"/>
            <a:ext cx="4991100" cy="666750"/>
          </a:xfrm>
          <a:prstGeom prst="rect">
            <a:avLst/>
          </a:prstGeom>
        </p:spPr>
      </p:pic>
      <p:pic>
        <p:nvPicPr>
          <p:cNvPr id="75" name="Image 15" descr="preencoded.png">
            <a:extLst>
              <a:ext uri="{FF2B5EF4-FFF2-40B4-BE49-F238E27FC236}">
                <a16:creationId xmlns:a16="http://schemas.microsoft.com/office/drawing/2014/main" id="{13FB55A5-6280-8BD1-8833-38FDC9E111B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2076450"/>
            <a:ext cx="304800" cy="304800"/>
          </a:xfrm>
          <a:prstGeom prst="rect">
            <a:avLst/>
          </a:prstGeom>
        </p:spPr>
      </p:pic>
      <p:pic>
        <p:nvPicPr>
          <p:cNvPr id="76" name="Image 16" descr="preencoded.png">
            <a:extLst>
              <a:ext uri="{FF2B5EF4-FFF2-40B4-BE49-F238E27FC236}">
                <a16:creationId xmlns:a16="http://schemas.microsoft.com/office/drawing/2014/main" id="{C6EE2B25-2CCF-85C1-FCB8-6E83CF437F1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96025" y="2133600"/>
            <a:ext cx="133350" cy="190500"/>
          </a:xfrm>
          <a:prstGeom prst="rect">
            <a:avLst/>
          </a:prstGeom>
        </p:spPr>
      </p:pic>
      <p:pic>
        <p:nvPicPr>
          <p:cNvPr id="77" name="Image 17" descr="preencoded.png">
            <a:extLst>
              <a:ext uri="{FF2B5EF4-FFF2-40B4-BE49-F238E27FC236}">
                <a16:creationId xmlns:a16="http://schemas.microsoft.com/office/drawing/2014/main" id="{00AB0278-D4DB-982A-7D39-0D538561D86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2533650"/>
            <a:ext cx="5372100" cy="3733800"/>
          </a:xfrm>
          <a:prstGeom prst="rect">
            <a:avLst/>
          </a:prstGeom>
        </p:spPr>
      </p:pic>
      <p:pic>
        <p:nvPicPr>
          <p:cNvPr id="78" name="Image 18" descr="preencoded.png">
            <a:extLst>
              <a:ext uri="{FF2B5EF4-FFF2-40B4-BE49-F238E27FC236}">
                <a16:creationId xmlns:a16="http://schemas.microsoft.com/office/drawing/2014/main" id="{C24EB615-6725-3D5A-7E5F-B165008CBCB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3162300"/>
            <a:ext cx="266700" cy="266700"/>
          </a:xfrm>
          <a:prstGeom prst="rect">
            <a:avLst/>
          </a:prstGeom>
        </p:spPr>
      </p:pic>
      <p:pic>
        <p:nvPicPr>
          <p:cNvPr id="79" name="Image 19" descr="preencoded.png">
            <a:extLst>
              <a:ext uri="{FF2B5EF4-FFF2-40B4-BE49-F238E27FC236}">
                <a16:creationId xmlns:a16="http://schemas.microsoft.com/office/drawing/2014/main" id="{3B723C85-4E07-1476-5F43-BFCE1BED95B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3219450"/>
            <a:ext cx="114300" cy="152400"/>
          </a:xfrm>
          <a:prstGeom prst="rect">
            <a:avLst/>
          </a:prstGeom>
        </p:spPr>
      </p:pic>
      <p:pic>
        <p:nvPicPr>
          <p:cNvPr id="80" name="Image 20" descr="preencoded.png">
            <a:extLst>
              <a:ext uri="{FF2B5EF4-FFF2-40B4-BE49-F238E27FC236}">
                <a16:creationId xmlns:a16="http://schemas.microsoft.com/office/drawing/2014/main" id="{0DBC3BF6-617C-4DF8-F230-64BCEA6B4B8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3848100"/>
            <a:ext cx="266700" cy="266700"/>
          </a:xfrm>
          <a:prstGeom prst="rect">
            <a:avLst/>
          </a:prstGeom>
        </p:spPr>
      </p:pic>
      <p:pic>
        <p:nvPicPr>
          <p:cNvPr id="81" name="Image 21" descr="preencoded.png">
            <a:extLst>
              <a:ext uri="{FF2B5EF4-FFF2-40B4-BE49-F238E27FC236}">
                <a16:creationId xmlns:a16="http://schemas.microsoft.com/office/drawing/2014/main" id="{14DD2E62-CED8-F463-4181-D8C46A97B0F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3200" y="3905250"/>
            <a:ext cx="114300" cy="152400"/>
          </a:xfrm>
          <a:prstGeom prst="rect">
            <a:avLst/>
          </a:prstGeom>
        </p:spPr>
      </p:pic>
      <p:pic>
        <p:nvPicPr>
          <p:cNvPr id="82" name="Image 22" descr="preencoded.png">
            <a:extLst>
              <a:ext uri="{FF2B5EF4-FFF2-40B4-BE49-F238E27FC236}">
                <a16:creationId xmlns:a16="http://schemas.microsoft.com/office/drawing/2014/main" id="{93820230-3608-EE13-07DC-55727161008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533900"/>
            <a:ext cx="266700" cy="266700"/>
          </a:xfrm>
          <a:prstGeom prst="rect">
            <a:avLst/>
          </a:prstGeom>
        </p:spPr>
      </p:pic>
      <p:pic>
        <p:nvPicPr>
          <p:cNvPr id="83" name="Image 23" descr="preencoded.png">
            <a:extLst>
              <a:ext uri="{FF2B5EF4-FFF2-40B4-BE49-F238E27FC236}">
                <a16:creationId xmlns:a16="http://schemas.microsoft.com/office/drawing/2014/main" id="{20E9E09A-1231-9344-BFD4-EB3A3F828C7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3200" y="4591050"/>
            <a:ext cx="114300" cy="152400"/>
          </a:xfrm>
          <a:prstGeom prst="rect">
            <a:avLst/>
          </a:prstGeom>
        </p:spPr>
      </p:pic>
      <p:pic>
        <p:nvPicPr>
          <p:cNvPr id="84" name="Image 27" descr="preencoded.png">
            <a:extLst>
              <a:ext uri="{FF2B5EF4-FFF2-40B4-BE49-F238E27FC236}">
                <a16:creationId xmlns:a16="http://schemas.microsoft.com/office/drawing/2014/main" id="{FC05C4EB-C337-71CC-18E6-43F366D4561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5353050"/>
            <a:ext cx="4991100" cy="666750"/>
          </a:xfrm>
          <a:prstGeom prst="rect">
            <a:avLst/>
          </a:prstGeom>
        </p:spPr>
      </p:pic>
      <p:sp>
        <p:nvSpPr>
          <p:cNvPr id="85" name="Text 3">
            <a:extLst>
              <a:ext uri="{FF2B5EF4-FFF2-40B4-BE49-F238E27FC236}">
                <a16:creationId xmlns:a16="http://schemas.microsoft.com/office/drawing/2014/main" id="{10F1A62E-B563-C49C-6767-EF66DCB15DC3}"/>
              </a:ext>
            </a:extLst>
          </p:cNvPr>
          <p:cNvSpPr/>
          <p:nvPr/>
        </p:nvSpPr>
        <p:spPr>
          <a:xfrm>
            <a:off x="990600" y="2095500"/>
            <a:ext cx="1097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메시지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A6CA1C62-2268-4540-4F7F-A9FF45EB10C1}"/>
              </a:ext>
            </a:extLst>
          </p:cNvPr>
          <p:cNvSpPr/>
          <p:nvPr/>
        </p:nvSpPr>
        <p:spPr>
          <a:xfrm>
            <a:off x="1333500" y="2800350"/>
            <a:ext cx="4524375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팀은 </a:t>
            </a: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명령할 권한은 없지만, 설득할 책임은 있다.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32B385D4-CB90-2899-3450-FAA27D75C7E0}"/>
              </a:ext>
            </a:extLst>
          </p:cNvPr>
          <p:cNvSpPr/>
          <p:nvPr/>
        </p:nvSpPr>
        <p:spPr>
          <a:xfrm>
            <a:off x="1333500" y="3524250"/>
            <a:ext cx="4343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4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커뮤니케이션은</a:t>
            </a:r>
            <a:r>
              <a:rPr lang="en-US" sz="14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 전달</a:t>
            </a:r>
            <a:r>
              <a:rPr lang="en-US" sz="14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r>
              <a:rPr lang="en-US" sz="14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아니라</a:t>
            </a:r>
            <a:r>
              <a:rPr lang="en-US" sz="14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의도 해석</a:t>
            </a:r>
            <a:r>
              <a:rPr lang="en-US" sz="14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</a:t>
            </a:r>
            <a:r>
              <a:rPr lang="en-US" sz="14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</a:t>
            </a:r>
            <a:endParaRPr lang="en-US" sz="14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C14501E2-C60D-4266-BE60-FE933A75599F}"/>
              </a:ext>
            </a:extLst>
          </p:cNvPr>
          <p:cNvSpPr/>
          <p:nvPr/>
        </p:nvSpPr>
        <p:spPr>
          <a:xfrm>
            <a:off x="1333500" y="4438650"/>
            <a:ext cx="4343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</a:t>
            </a:r>
            <a:r>
              <a:rPr lang="ko-KR" altLang="en-US" sz="14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언어로 시작해</a:t>
            </a:r>
            <a:r>
              <a:rPr lang="en-US" altLang="ko-KR" sz="14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4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사람의 언어로 마무리할 수 있는 </a:t>
            </a:r>
            <a:endParaRPr lang="en-US" altLang="ko-KR" sz="1450" dirty="0">
              <a:solidFill>
                <a:srgbClr val="D1D5D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45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</a:t>
            </a:r>
            <a:r>
              <a:rPr lang="en-US" sz="14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 </a:t>
            </a:r>
            <a:r>
              <a:rPr lang="en-US" sz="145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통역사</a:t>
            </a:r>
            <a:r>
              <a:rPr lang="en-US" sz="14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5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</a:t>
            </a:r>
            <a:r>
              <a:rPr lang="ko-KR" altLang="en-US" sz="14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량</a:t>
            </a:r>
            <a:r>
              <a:rPr lang="en-US" sz="14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r>
              <a:rPr lang="en-US" sz="14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</a:t>
            </a:r>
            <a:endParaRPr lang="en-US" sz="14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835F5D92-3A42-8C99-643F-FC916DF30B43}"/>
              </a:ext>
            </a:extLst>
          </p:cNvPr>
          <p:cNvSpPr/>
          <p:nvPr/>
        </p:nvSpPr>
        <p:spPr>
          <a:xfrm>
            <a:off x="952500" y="5422325"/>
            <a:ext cx="4686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Bridge between Tech and Business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4FD90407-B47A-FD01-8B13-9716BD62451A}"/>
              </a:ext>
            </a:extLst>
          </p:cNvPr>
          <p:cNvSpPr/>
          <p:nvPr/>
        </p:nvSpPr>
        <p:spPr>
          <a:xfrm>
            <a:off x="6591300" y="2095500"/>
            <a:ext cx="4857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</a:t>
            </a:r>
            <a:r>
              <a:rPr lang="en-US" sz="1500" b="1" dirty="0" err="1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</a:t>
            </a:r>
            <a:r>
              <a:rPr lang="en-US" sz="15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500" b="1" dirty="0" err="1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Text 9">
            <a:extLst>
              <a:ext uri="{FF2B5EF4-FFF2-40B4-BE49-F238E27FC236}">
                <a16:creationId xmlns:a16="http://schemas.microsoft.com/office/drawing/2014/main" id="{5346A1C4-F1FC-7CC5-3BCE-38C12D774CC5}"/>
              </a:ext>
            </a:extLst>
          </p:cNvPr>
          <p:cNvSpPr/>
          <p:nvPr/>
        </p:nvSpPr>
        <p:spPr>
          <a:xfrm>
            <a:off x="6477000" y="2724150"/>
            <a:ext cx="742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Text 10">
            <a:extLst>
              <a:ext uri="{FF2B5EF4-FFF2-40B4-BE49-F238E27FC236}">
                <a16:creationId xmlns:a16="http://schemas.microsoft.com/office/drawing/2014/main" id="{3E16439A-DEED-A1B1-9FF9-C505ED9D84F7}"/>
              </a:ext>
            </a:extLst>
          </p:cNvPr>
          <p:cNvSpPr/>
          <p:nvPr/>
        </p:nvSpPr>
        <p:spPr>
          <a:xfrm>
            <a:off x="7572375" y="2724150"/>
            <a:ext cx="12340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의미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3" name="Text 11">
            <a:extLst>
              <a:ext uri="{FF2B5EF4-FFF2-40B4-BE49-F238E27FC236}">
                <a16:creationId xmlns:a16="http://schemas.microsoft.com/office/drawing/2014/main" id="{C6B622C9-3740-C0D8-771D-D191DA9A0FA4}"/>
              </a:ext>
            </a:extLst>
          </p:cNvPr>
          <p:cNvSpPr/>
          <p:nvPr/>
        </p:nvSpPr>
        <p:spPr>
          <a:xfrm>
            <a:off x="8934450" y="2724150"/>
            <a:ext cx="2381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예시 행동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Text 12">
            <a:extLst>
              <a:ext uri="{FF2B5EF4-FFF2-40B4-BE49-F238E27FC236}">
                <a16:creationId xmlns:a16="http://schemas.microsoft.com/office/drawing/2014/main" id="{DC2854F6-A46C-7EA6-3245-434288271911}"/>
              </a:ext>
            </a:extLst>
          </p:cNvPr>
          <p:cNvSpPr/>
          <p:nvPr/>
        </p:nvSpPr>
        <p:spPr>
          <a:xfrm>
            <a:off x="6819900" y="3200400"/>
            <a:ext cx="647698" cy="36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Depth</a:t>
            </a:r>
            <a:endParaRPr lang="en-US" sz="13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Text 13">
            <a:extLst>
              <a:ext uri="{FF2B5EF4-FFF2-40B4-BE49-F238E27FC236}">
                <a16:creationId xmlns:a16="http://schemas.microsoft.com/office/drawing/2014/main" id="{B8912E0B-370E-73E4-BB2D-F5985076FDA9}"/>
              </a:ext>
            </a:extLst>
          </p:cNvPr>
          <p:cNvSpPr/>
          <p:nvPr/>
        </p:nvSpPr>
        <p:spPr>
          <a:xfrm>
            <a:off x="7572374" y="3105150"/>
            <a:ext cx="1234074" cy="36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메시지의 이해도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6" name="Text 14">
            <a:extLst>
              <a:ext uri="{FF2B5EF4-FFF2-40B4-BE49-F238E27FC236}">
                <a16:creationId xmlns:a16="http://schemas.microsoft.com/office/drawing/2014/main" id="{AD21EDC5-87C4-773C-9B28-FCC2EA54180A}"/>
              </a:ext>
            </a:extLst>
          </p:cNvPr>
          <p:cNvSpPr/>
          <p:nvPr/>
        </p:nvSpPr>
        <p:spPr>
          <a:xfrm>
            <a:off x="9035047" y="3105150"/>
            <a:ext cx="2414003" cy="4582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개발자의 맥락과 Pain Point를
공감적으로 이해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7" name="Text 15">
            <a:extLst>
              <a:ext uri="{FF2B5EF4-FFF2-40B4-BE49-F238E27FC236}">
                <a16:creationId xmlns:a16="http://schemas.microsoft.com/office/drawing/2014/main" id="{024FA928-2B8F-938B-3C8E-1F091D588182}"/>
              </a:ext>
            </a:extLst>
          </p:cNvPr>
          <p:cNvSpPr/>
          <p:nvPr/>
        </p:nvSpPr>
        <p:spPr>
          <a:xfrm>
            <a:off x="6781800" y="3886200"/>
            <a:ext cx="685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Direction</a:t>
            </a:r>
            <a:endParaRPr 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22ED941B-F543-8E21-5C8A-8F3FE4269852}"/>
              </a:ext>
            </a:extLst>
          </p:cNvPr>
          <p:cNvSpPr/>
          <p:nvPr/>
        </p:nvSpPr>
        <p:spPr>
          <a:xfrm>
            <a:off x="7572375" y="3790950"/>
            <a:ext cx="1362076" cy="4056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차원 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9" name="Text 17">
            <a:extLst>
              <a:ext uri="{FF2B5EF4-FFF2-40B4-BE49-F238E27FC236}">
                <a16:creationId xmlns:a16="http://schemas.microsoft.com/office/drawing/2014/main" id="{DEA78584-E987-4D2F-19B1-5121672F0F68}"/>
              </a:ext>
            </a:extLst>
          </p:cNvPr>
          <p:cNvSpPr/>
          <p:nvPr/>
        </p:nvSpPr>
        <p:spPr>
          <a:xfrm>
            <a:off x="9035047" y="3790950"/>
            <a:ext cx="2280653" cy="4033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경영진↔실무자↔외부 파트너 간
언어 톤 맞춤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7C41A6C6-4412-F870-D5B8-5B4068A5AA31}"/>
              </a:ext>
            </a:extLst>
          </p:cNvPr>
          <p:cNvSpPr/>
          <p:nvPr/>
        </p:nvSpPr>
        <p:spPr>
          <a:xfrm>
            <a:off x="6781800" y="4572000"/>
            <a:ext cx="5619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Data</a:t>
            </a:r>
            <a:endParaRPr lang="en-US" sz="13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1" name="Text 19">
            <a:extLst>
              <a:ext uri="{FF2B5EF4-FFF2-40B4-BE49-F238E27FC236}">
                <a16:creationId xmlns:a16="http://schemas.microsoft.com/office/drawing/2014/main" id="{E4629650-96D6-ED00-F4DC-F5E7613235FB}"/>
              </a:ext>
            </a:extLst>
          </p:cNvPr>
          <p:cNvSpPr/>
          <p:nvPr/>
        </p:nvSpPr>
        <p:spPr>
          <a:xfrm>
            <a:off x="7572374" y="4476750"/>
            <a:ext cx="1285875" cy="36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기반 설득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2" name="Text 20">
            <a:extLst>
              <a:ext uri="{FF2B5EF4-FFF2-40B4-BE49-F238E27FC236}">
                <a16:creationId xmlns:a16="http://schemas.microsoft.com/office/drawing/2014/main" id="{338CB28F-50AE-36AA-2079-DBAAE6C89805}"/>
              </a:ext>
            </a:extLst>
          </p:cNvPr>
          <p:cNvSpPr/>
          <p:nvPr/>
        </p:nvSpPr>
        <p:spPr>
          <a:xfrm>
            <a:off x="9086848" y="4476750"/>
            <a:ext cx="2228851" cy="4224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지표, DORA 데이터,
DevEx 피드백 활용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" name="Text 27">
            <a:extLst>
              <a:ext uri="{FF2B5EF4-FFF2-40B4-BE49-F238E27FC236}">
                <a16:creationId xmlns:a16="http://schemas.microsoft.com/office/drawing/2014/main" id="{8EF2EB66-DED2-4B2B-FFB7-C7D2715EC79F}"/>
              </a:ext>
            </a:extLst>
          </p:cNvPr>
          <p:cNvSpPr/>
          <p:nvPr/>
        </p:nvSpPr>
        <p:spPr>
          <a:xfrm>
            <a:off x="6515100" y="5442433"/>
            <a:ext cx="4724400" cy="4942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i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커뮤니케이션은</a:t>
            </a:r>
            <a:r>
              <a:rPr lang="en-US" sz="1400" b="1" i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말이 아니라 </a:t>
            </a:r>
            <a:r>
              <a:rPr lang="en-US" sz="1400" b="1" i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구조다</a:t>
            </a:r>
            <a:r>
              <a:rPr lang="en-US" sz="1400" b="1" i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- 이해의 흐름을 </a:t>
            </a:r>
            <a:r>
              <a:rPr lang="en-US" sz="1400" b="1" i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설계하라</a:t>
            </a:r>
            <a:r>
              <a:rPr lang="en-US" sz="1400" b="1" i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900"/>
            <a:ext cx="6778675" cy="381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2.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제품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마인드셋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 1"/>
          <p:cNvSpPr/>
          <p:nvPr/>
        </p:nvSpPr>
        <p:spPr>
          <a:xfrm>
            <a:off x="609600" y="1181100"/>
            <a:ext cx="99974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팀은 코드를 제공하는 팀이 아니라</a:t>
            </a:r>
            <a:r>
              <a:rPr lang="en-US" altLang="ko-KR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조직의 사용자 경험을 설계하는 팀입니다</a:t>
            </a:r>
            <a:r>
              <a:rPr lang="en-US" altLang="ko-KR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6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3" name="Image 4" descr="preencoded.png">
            <a:extLst>
              <a:ext uri="{FF2B5EF4-FFF2-40B4-BE49-F238E27FC236}">
                <a16:creationId xmlns:a16="http://schemas.microsoft.com/office/drawing/2014/main" id="{AEDD504A-731B-DACE-5406-E56D15DB19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0" y="3514725"/>
            <a:ext cx="2095500" cy="2095500"/>
          </a:xfrm>
          <a:prstGeom prst="rect">
            <a:avLst/>
          </a:prstGeom>
        </p:spPr>
      </p:pic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75463934-C7C3-2272-A6CA-69BCD89574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809750"/>
            <a:ext cx="381000" cy="381000"/>
          </a:xfrm>
          <a:prstGeom prst="rect">
            <a:avLst/>
          </a:prstGeom>
        </p:spPr>
      </p:pic>
      <p:pic>
        <p:nvPicPr>
          <p:cNvPr id="45" name="Image 6" descr="preencoded.png">
            <a:extLst>
              <a:ext uri="{FF2B5EF4-FFF2-40B4-BE49-F238E27FC236}">
                <a16:creationId xmlns:a16="http://schemas.microsoft.com/office/drawing/2014/main" id="{B4B3AE76-A03A-9641-9E16-171D8A6ACB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663" y="1866900"/>
            <a:ext cx="142875" cy="266700"/>
          </a:xfrm>
          <a:prstGeom prst="rect">
            <a:avLst/>
          </a:prstGeom>
        </p:spPr>
      </p:pic>
      <p:pic>
        <p:nvPicPr>
          <p:cNvPr id="46" name="Image 7" descr="preencoded.png">
            <a:extLst>
              <a:ext uri="{FF2B5EF4-FFF2-40B4-BE49-F238E27FC236}">
                <a16:creationId xmlns:a16="http://schemas.microsoft.com/office/drawing/2014/main" id="{20332EF0-71DE-55E8-C0B6-2C2E649AF7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343150"/>
            <a:ext cx="3505200" cy="3352800"/>
          </a:xfrm>
          <a:prstGeom prst="rect">
            <a:avLst/>
          </a:prstGeom>
        </p:spPr>
      </p:pic>
      <p:pic>
        <p:nvPicPr>
          <p:cNvPr id="47" name="Image 8" descr="preencoded.png">
            <a:extLst>
              <a:ext uri="{FF2B5EF4-FFF2-40B4-BE49-F238E27FC236}">
                <a16:creationId xmlns:a16="http://schemas.microsoft.com/office/drawing/2014/main" id="{F6E2A6B9-38EA-A422-D8E2-FC8524B2B1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2667000"/>
            <a:ext cx="342900" cy="342900"/>
          </a:xfrm>
          <a:prstGeom prst="rect">
            <a:avLst/>
          </a:prstGeom>
        </p:spPr>
      </p:pic>
      <p:pic>
        <p:nvPicPr>
          <p:cNvPr id="48" name="Image 9" descr="preencoded.png">
            <a:extLst>
              <a:ext uri="{FF2B5EF4-FFF2-40B4-BE49-F238E27FC236}">
                <a16:creationId xmlns:a16="http://schemas.microsoft.com/office/drawing/2014/main" id="{E27F4608-9F46-EDB4-51D9-18A88BF014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" y="2762250"/>
            <a:ext cx="171450" cy="152400"/>
          </a:xfrm>
          <a:prstGeom prst="rect">
            <a:avLst/>
          </a:prstGeom>
        </p:spPr>
      </p:pic>
      <p:pic>
        <p:nvPicPr>
          <p:cNvPr id="49" name="Image 10" descr="preencoded.png">
            <a:extLst>
              <a:ext uri="{FF2B5EF4-FFF2-40B4-BE49-F238E27FC236}">
                <a16:creationId xmlns:a16="http://schemas.microsoft.com/office/drawing/2014/main" id="{5753A6C7-2CF9-B226-63A0-E6838967DCA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3429000"/>
            <a:ext cx="342900" cy="342900"/>
          </a:xfrm>
          <a:prstGeom prst="rect">
            <a:avLst/>
          </a:prstGeom>
        </p:spPr>
      </p:pic>
      <p:pic>
        <p:nvPicPr>
          <p:cNvPr id="50" name="Image 11" descr="preencoded.png">
            <a:extLst>
              <a:ext uri="{FF2B5EF4-FFF2-40B4-BE49-F238E27FC236}">
                <a16:creationId xmlns:a16="http://schemas.microsoft.com/office/drawing/2014/main" id="{74AECB94-827B-E9D5-72C1-3DEE57C215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0125" y="3524250"/>
            <a:ext cx="171450" cy="152400"/>
          </a:xfrm>
          <a:prstGeom prst="rect">
            <a:avLst/>
          </a:prstGeom>
        </p:spPr>
      </p:pic>
      <p:pic>
        <p:nvPicPr>
          <p:cNvPr id="51" name="Image 12" descr="preencoded.png">
            <a:extLst>
              <a:ext uri="{FF2B5EF4-FFF2-40B4-BE49-F238E27FC236}">
                <a16:creationId xmlns:a16="http://schemas.microsoft.com/office/drawing/2014/main" id="{A24C317F-796E-2518-F9F2-C1B1E2EAB71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4191000"/>
            <a:ext cx="342900" cy="342900"/>
          </a:xfrm>
          <a:prstGeom prst="rect">
            <a:avLst/>
          </a:prstGeom>
        </p:spPr>
      </p:pic>
      <p:pic>
        <p:nvPicPr>
          <p:cNvPr id="52" name="Image 13" descr="preencoded.png">
            <a:extLst>
              <a:ext uri="{FF2B5EF4-FFF2-40B4-BE49-F238E27FC236}">
                <a16:creationId xmlns:a16="http://schemas.microsoft.com/office/drawing/2014/main" id="{2C6ACE3F-5736-134D-864B-51924194E9C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9650" y="4286250"/>
            <a:ext cx="152400" cy="152400"/>
          </a:xfrm>
          <a:prstGeom prst="rect">
            <a:avLst/>
          </a:prstGeom>
        </p:spPr>
      </p:pic>
      <p:pic>
        <p:nvPicPr>
          <p:cNvPr id="53" name="Image 14" descr="preencoded.png">
            <a:extLst>
              <a:ext uri="{FF2B5EF4-FFF2-40B4-BE49-F238E27FC236}">
                <a16:creationId xmlns:a16="http://schemas.microsoft.com/office/drawing/2014/main" id="{313E1C6F-7800-F2F8-839E-CA4314346D0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4953000"/>
            <a:ext cx="342900" cy="342900"/>
          </a:xfrm>
          <a:prstGeom prst="rect">
            <a:avLst/>
          </a:prstGeom>
        </p:spPr>
      </p:pic>
      <p:pic>
        <p:nvPicPr>
          <p:cNvPr id="54" name="Image 15" descr="preencoded.png">
            <a:extLst>
              <a:ext uri="{FF2B5EF4-FFF2-40B4-BE49-F238E27FC236}">
                <a16:creationId xmlns:a16="http://schemas.microsoft.com/office/drawing/2014/main" id="{E6BADBEB-C095-2A82-5E60-E06E044D4C4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9650" y="5048250"/>
            <a:ext cx="152400" cy="152400"/>
          </a:xfrm>
          <a:prstGeom prst="rect">
            <a:avLst/>
          </a:prstGeom>
        </p:spPr>
      </p:pic>
      <p:pic>
        <p:nvPicPr>
          <p:cNvPr id="55" name="Image 16" descr="preencoded.png">
            <a:extLst>
              <a:ext uri="{FF2B5EF4-FFF2-40B4-BE49-F238E27FC236}">
                <a16:creationId xmlns:a16="http://schemas.microsoft.com/office/drawing/2014/main" id="{80EE08DE-20D3-C17C-7F43-AD14827460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43400" y="1809750"/>
            <a:ext cx="381000" cy="381000"/>
          </a:xfrm>
          <a:prstGeom prst="rect">
            <a:avLst/>
          </a:prstGeom>
        </p:spPr>
      </p:pic>
      <p:pic>
        <p:nvPicPr>
          <p:cNvPr id="56" name="Image 17" descr="preencoded.png">
            <a:extLst>
              <a:ext uri="{FF2B5EF4-FFF2-40B4-BE49-F238E27FC236}">
                <a16:creationId xmlns:a16="http://schemas.microsoft.com/office/drawing/2014/main" id="{9AB8607C-33FB-A24A-021B-41A18BF2952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38650" y="1866900"/>
            <a:ext cx="190500" cy="266700"/>
          </a:xfrm>
          <a:prstGeom prst="rect">
            <a:avLst/>
          </a:prstGeom>
        </p:spPr>
      </p:pic>
      <p:pic>
        <p:nvPicPr>
          <p:cNvPr id="57" name="Image 18" descr="preencoded.png">
            <a:extLst>
              <a:ext uri="{FF2B5EF4-FFF2-40B4-BE49-F238E27FC236}">
                <a16:creationId xmlns:a16="http://schemas.microsoft.com/office/drawing/2014/main" id="{65536A76-76D7-3106-D30D-5439D79973E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43400" y="2343150"/>
            <a:ext cx="3505200" cy="3352800"/>
          </a:xfrm>
          <a:prstGeom prst="rect">
            <a:avLst/>
          </a:prstGeom>
        </p:spPr>
      </p:pic>
      <p:pic>
        <p:nvPicPr>
          <p:cNvPr id="58" name="Image 19" descr="preencoded.png">
            <a:extLst>
              <a:ext uri="{FF2B5EF4-FFF2-40B4-BE49-F238E27FC236}">
                <a16:creationId xmlns:a16="http://schemas.microsoft.com/office/drawing/2014/main" id="{D69CAEC8-839D-4871-6A88-1B93D68C558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48200" y="2609850"/>
            <a:ext cx="342900" cy="342900"/>
          </a:xfrm>
          <a:prstGeom prst="rect">
            <a:avLst/>
          </a:prstGeom>
        </p:spPr>
      </p:pic>
      <p:pic>
        <p:nvPicPr>
          <p:cNvPr id="93" name="Image 25" descr="preencoded.png">
            <a:extLst>
              <a:ext uri="{FF2B5EF4-FFF2-40B4-BE49-F238E27FC236}">
                <a16:creationId xmlns:a16="http://schemas.microsoft.com/office/drawing/2014/main" id="{60B0C749-B527-63CD-0C57-ACA6B7807B8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91100" y="4591050"/>
            <a:ext cx="2552700" cy="914400"/>
          </a:xfrm>
          <a:prstGeom prst="rect">
            <a:avLst/>
          </a:prstGeom>
        </p:spPr>
      </p:pic>
      <p:pic>
        <p:nvPicPr>
          <p:cNvPr id="59" name="Image 20" descr="preencoded.png">
            <a:extLst>
              <a:ext uri="{FF2B5EF4-FFF2-40B4-BE49-F238E27FC236}">
                <a16:creationId xmlns:a16="http://schemas.microsoft.com/office/drawing/2014/main" id="{50BEA520-82EE-0776-E4B0-67DCB92149A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24400" y="2705100"/>
            <a:ext cx="190500" cy="152400"/>
          </a:xfrm>
          <a:prstGeom prst="rect">
            <a:avLst/>
          </a:prstGeom>
        </p:spPr>
      </p:pic>
      <p:pic>
        <p:nvPicPr>
          <p:cNvPr id="60" name="Image 21" descr="preencoded.png">
            <a:extLst>
              <a:ext uri="{FF2B5EF4-FFF2-40B4-BE49-F238E27FC236}">
                <a16:creationId xmlns:a16="http://schemas.microsoft.com/office/drawing/2014/main" id="{2CAA4CC1-B7BA-8840-A0D9-FA97140D1E2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48200" y="3429000"/>
            <a:ext cx="342900" cy="342900"/>
          </a:xfrm>
          <a:prstGeom prst="rect">
            <a:avLst/>
          </a:prstGeom>
        </p:spPr>
      </p:pic>
      <p:pic>
        <p:nvPicPr>
          <p:cNvPr id="61" name="Image 22" descr="preencoded.png">
            <a:extLst>
              <a:ext uri="{FF2B5EF4-FFF2-40B4-BE49-F238E27FC236}">
                <a16:creationId xmlns:a16="http://schemas.microsoft.com/office/drawing/2014/main" id="{F302997F-0DA0-C004-415A-E33F14E66DC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33925" y="3524250"/>
            <a:ext cx="171450" cy="152400"/>
          </a:xfrm>
          <a:prstGeom prst="rect">
            <a:avLst/>
          </a:prstGeom>
        </p:spPr>
      </p:pic>
      <p:pic>
        <p:nvPicPr>
          <p:cNvPr id="62" name="Image 23" descr="preencoded.png">
            <a:extLst>
              <a:ext uri="{FF2B5EF4-FFF2-40B4-BE49-F238E27FC236}">
                <a16:creationId xmlns:a16="http://schemas.microsoft.com/office/drawing/2014/main" id="{2CCC0AF9-8C82-D6DB-E1C2-ACE8B302095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48200" y="4248150"/>
            <a:ext cx="342900" cy="342900"/>
          </a:xfrm>
          <a:prstGeom prst="rect">
            <a:avLst/>
          </a:prstGeom>
        </p:spPr>
      </p:pic>
      <p:pic>
        <p:nvPicPr>
          <p:cNvPr id="63" name="Image 24" descr="preencoded.png">
            <a:extLst>
              <a:ext uri="{FF2B5EF4-FFF2-40B4-BE49-F238E27FC236}">
                <a16:creationId xmlns:a16="http://schemas.microsoft.com/office/drawing/2014/main" id="{BC27E8D2-1E9E-5455-9F29-A67DB90ACA6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43450" y="4343400"/>
            <a:ext cx="152400" cy="152400"/>
          </a:xfrm>
          <a:prstGeom prst="rect">
            <a:avLst/>
          </a:prstGeom>
        </p:spPr>
      </p:pic>
      <p:pic>
        <p:nvPicPr>
          <p:cNvPr id="64" name="Image 28" descr="preencoded.png">
            <a:extLst>
              <a:ext uri="{FF2B5EF4-FFF2-40B4-BE49-F238E27FC236}">
                <a16:creationId xmlns:a16="http://schemas.microsoft.com/office/drawing/2014/main" id="{48C99D5E-602B-6C1C-7BCE-CC34F19EE33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77200" y="1809750"/>
            <a:ext cx="381000" cy="381000"/>
          </a:xfrm>
          <a:prstGeom prst="rect">
            <a:avLst/>
          </a:prstGeom>
        </p:spPr>
      </p:pic>
      <p:pic>
        <p:nvPicPr>
          <p:cNvPr id="65" name="Image 29" descr="preencoded.png">
            <a:extLst>
              <a:ext uri="{FF2B5EF4-FFF2-40B4-BE49-F238E27FC236}">
                <a16:creationId xmlns:a16="http://schemas.microsoft.com/office/drawing/2014/main" id="{40EE638F-61E2-9687-67B2-08A3A6FEF2F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72450" y="1866900"/>
            <a:ext cx="190500" cy="266700"/>
          </a:xfrm>
          <a:prstGeom prst="rect">
            <a:avLst/>
          </a:prstGeom>
        </p:spPr>
      </p:pic>
      <p:pic>
        <p:nvPicPr>
          <p:cNvPr id="66" name="Image 30" descr="preencoded.png">
            <a:extLst>
              <a:ext uri="{FF2B5EF4-FFF2-40B4-BE49-F238E27FC236}">
                <a16:creationId xmlns:a16="http://schemas.microsoft.com/office/drawing/2014/main" id="{A3252196-B275-F6A5-6FAF-093450BA48D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77200" y="2343150"/>
            <a:ext cx="3505200" cy="3352800"/>
          </a:xfrm>
          <a:prstGeom prst="rect">
            <a:avLst/>
          </a:prstGeom>
        </p:spPr>
      </p:pic>
      <p:pic>
        <p:nvPicPr>
          <p:cNvPr id="67" name="Image 31" descr="preencoded.png">
            <a:extLst>
              <a:ext uri="{FF2B5EF4-FFF2-40B4-BE49-F238E27FC236}">
                <a16:creationId xmlns:a16="http://schemas.microsoft.com/office/drawing/2014/main" id="{03531ABB-E1D3-C7E8-A1C7-84A2C4792C3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82000" y="2667000"/>
            <a:ext cx="342900" cy="342900"/>
          </a:xfrm>
          <a:prstGeom prst="rect">
            <a:avLst/>
          </a:prstGeom>
        </p:spPr>
      </p:pic>
      <p:pic>
        <p:nvPicPr>
          <p:cNvPr id="68" name="Image 32" descr="preencoded.png">
            <a:extLst>
              <a:ext uri="{FF2B5EF4-FFF2-40B4-BE49-F238E27FC236}">
                <a16:creationId xmlns:a16="http://schemas.microsoft.com/office/drawing/2014/main" id="{1A9E1B4B-C05A-DC01-BB4B-6FF36B40EE7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67725" y="2762250"/>
            <a:ext cx="171450" cy="152400"/>
          </a:xfrm>
          <a:prstGeom prst="rect">
            <a:avLst/>
          </a:prstGeom>
        </p:spPr>
      </p:pic>
      <p:pic>
        <p:nvPicPr>
          <p:cNvPr id="69" name="Image 33" descr="preencoded.png">
            <a:extLst>
              <a:ext uri="{FF2B5EF4-FFF2-40B4-BE49-F238E27FC236}">
                <a16:creationId xmlns:a16="http://schemas.microsoft.com/office/drawing/2014/main" id="{CE67A0CC-3D2C-23FA-AD9E-2F4B8A209E5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382000" y="3429000"/>
            <a:ext cx="342900" cy="342900"/>
          </a:xfrm>
          <a:prstGeom prst="rect">
            <a:avLst/>
          </a:prstGeom>
        </p:spPr>
      </p:pic>
      <p:pic>
        <p:nvPicPr>
          <p:cNvPr id="70" name="Image 34" descr="preencoded.png">
            <a:extLst>
              <a:ext uri="{FF2B5EF4-FFF2-40B4-BE49-F238E27FC236}">
                <a16:creationId xmlns:a16="http://schemas.microsoft.com/office/drawing/2014/main" id="{E4D8D6C7-2BB7-C584-A510-450D0AAC365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477250" y="3524250"/>
            <a:ext cx="152400" cy="152400"/>
          </a:xfrm>
          <a:prstGeom prst="rect">
            <a:avLst/>
          </a:prstGeom>
        </p:spPr>
      </p:pic>
      <p:pic>
        <p:nvPicPr>
          <p:cNvPr id="71" name="Image 35" descr="preencoded.png">
            <a:extLst>
              <a:ext uri="{FF2B5EF4-FFF2-40B4-BE49-F238E27FC236}">
                <a16:creationId xmlns:a16="http://schemas.microsoft.com/office/drawing/2014/main" id="{04921725-BA98-A4A6-DB2B-2B05C473C19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82000" y="4243713"/>
            <a:ext cx="342900" cy="342900"/>
          </a:xfrm>
          <a:prstGeom prst="rect">
            <a:avLst/>
          </a:prstGeom>
        </p:spPr>
      </p:pic>
      <p:pic>
        <p:nvPicPr>
          <p:cNvPr id="72" name="Image 36" descr="preencoded.png">
            <a:extLst>
              <a:ext uri="{FF2B5EF4-FFF2-40B4-BE49-F238E27FC236}">
                <a16:creationId xmlns:a16="http://schemas.microsoft.com/office/drawing/2014/main" id="{71E35276-D076-93D6-844D-735D213CBE90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486775" y="4338963"/>
            <a:ext cx="133350" cy="152400"/>
          </a:xfrm>
          <a:prstGeom prst="rect">
            <a:avLst/>
          </a:prstGeom>
        </p:spPr>
      </p:pic>
      <p:pic>
        <p:nvPicPr>
          <p:cNvPr id="73" name="Image 37" descr="preencoded.png">
            <a:extLst>
              <a:ext uri="{FF2B5EF4-FFF2-40B4-BE49-F238E27FC236}">
                <a16:creationId xmlns:a16="http://schemas.microsoft.com/office/drawing/2014/main" id="{961C00DB-9750-6A8F-28DE-4144B51B7D30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382000" y="4938386"/>
            <a:ext cx="342900" cy="342900"/>
          </a:xfrm>
          <a:prstGeom prst="rect">
            <a:avLst/>
          </a:prstGeom>
        </p:spPr>
      </p:pic>
      <p:pic>
        <p:nvPicPr>
          <p:cNvPr id="74" name="Image 38" descr="preencoded.png">
            <a:extLst>
              <a:ext uri="{FF2B5EF4-FFF2-40B4-BE49-F238E27FC236}">
                <a16:creationId xmlns:a16="http://schemas.microsoft.com/office/drawing/2014/main" id="{C0B6ECAA-DF0A-53B7-337B-875D27D13105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477250" y="5033636"/>
            <a:ext cx="152400" cy="152400"/>
          </a:xfrm>
          <a:prstGeom prst="rect">
            <a:avLst/>
          </a:prstGeom>
        </p:spPr>
      </p:pic>
      <p:sp>
        <p:nvSpPr>
          <p:cNvPr id="75" name="Text 2">
            <a:extLst>
              <a:ext uri="{FF2B5EF4-FFF2-40B4-BE49-F238E27FC236}">
                <a16:creationId xmlns:a16="http://schemas.microsoft.com/office/drawing/2014/main" id="{C6C9B3C8-1CED-9569-DF0B-9BED6D09A192}"/>
              </a:ext>
            </a:extLst>
          </p:cNvPr>
          <p:cNvSpPr/>
          <p:nvPr/>
        </p:nvSpPr>
        <p:spPr>
          <a:xfrm>
            <a:off x="1066800" y="1847850"/>
            <a:ext cx="274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FB92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제품</a:t>
            </a:r>
            <a:r>
              <a:rPr lang="ko-KR" altLang="en-US" sz="1800" b="1" dirty="0">
                <a:solidFill>
                  <a:srgbClr val="FB92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</a:t>
            </a:r>
            <a:r>
              <a:rPr lang="en-US" sz="1800" b="1" dirty="0">
                <a:solidFill>
                  <a:srgbClr val="FB92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사고 </a:t>
            </a:r>
            <a:r>
              <a:rPr lang="en-US" sz="135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(Product Thinking)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Text 3">
            <a:extLst>
              <a:ext uri="{FF2B5EF4-FFF2-40B4-BE49-F238E27FC236}">
                <a16:creationId xmlns:a16="http://schemas.microsoft.com/office/drawing/2014/main" id="{57DF21AC-6C97-66CC-1492-CAF7CFD6CEFC}"/>
              </a:ext>
            </a:extLst>
          </p:cNvPr>
          <p:cNvSpPr/>
          <p:nvPr/>
        </p:nvSpPr>
        <p:spPr>
          <a:xfrm>
            <a:off x="1371600" y="2609850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'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도구'가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아니라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인식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A910809C-015B-5936-5434-61E08200AC08}"/>
              </a:ext>
            </a:extLst>
          </p:cNvPr>
          <p:cNvSpPr/>
          <p:nvPr/>
        </p:nvSpPr>
        <p:spPr>
          <a:xfrm>
            <a:off x="1371600" y="3371850"/>
            <a:ext cx="2438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DevEx, DevRel,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AI를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통합한</a:t>
            </a:r>
            <a:endParaRPr lang="en-US" sz="1300" dirty="0">
              <a:solidFill>
                <a:srgbClr val="D1D5D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"내부 제품 생태계"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인식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Text 5">
            <a:extLst>
              <a:ext uri="{FF2B5EF4-FFF2-40B4-BE49-F238E27FC236}">
                <a16:creationId xmlns:a16="http://schemas.microsoft.com/office/drawing/2014/main" id="{7CFF1F88-1384-F9D1-555B-564BF93039BA}"/>
              </a:ext>
            </a:extLst>
          </p:cNvPr>
          <p:cNvSpPr/>
          <p:nvPr/>
        </p:nvSpPr>
        <p:spPr>
          <a:xfrm>
            <a:off x="1371600" y="4133850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</a:t>
            </a:r>
            <a:r>
              <a:rPr lang="ko-KR" altLang="en-US" sz="12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해결의 초점을</a:t>
            </a:r>
            <a:r>
              <a:rPr lang="en-US" sz="12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</a:t>
            </a:r>
            <a:r>
              <a:rPr lang="ko-KR" altLang="en-US" sz="12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아닌 경험</a:t>
            </a:r>
            <a:r>
              <a:rPr lang="en-US" sz="125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endParaRPr lang="en-US" sz="12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Text 6">
            <a:extLst>
              <a:ext uri="{FF2B5EF4-FFF2-40B4-BE49-F238E27FC236}">
                <a16:creationId xmlns:a16="http://schemas.microsoft.com/office/drawing/2014/main" id="{BB4DCA16-9EBC-07DD-54CB-8DBF52CFBBED}"/>
              </a:ext>
            </a:extLst>
          </p:cNvPr>
          <p:cNvSpPr/>
          <p:nvPr/>
        </p:nvSpPr>
        <p:spPr>
          <a:xfrm>
            <a:off x="1371600" y="4895850"/>
            <a:ext cx="2438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의사결정 기준: </a:t>
            </a:r>
            <a:r>
              <a:rPr lang="en-US" sz="12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"기술적으로 가능한가?" → "사용자가 실제로 쓸까?"</a:t>
            </a:r>
            <a:endParaRPr lang="en-US" sz="12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33ED4517-1676-A9CD-3D5B-A230A4D041B7}"/>
              </a:ext>
            </a:extLst>
          </p:cNvPr>
          <p:cNvSpPr/>
          <p:nvPr/>
        </p:nvSpPr>
        <p:spPr>
          <a:xfrm>
            <a:off x="4800600" y="1847850"/>
            <a:ext cx="3048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</a:t>
            </a:r>
            <a:r>
              <a:rPr lang="en-US" sz="18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800" b="1" dirty="0" err="1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중심</a:t>
            </a:r>
            <a:r>
              <a:rPr lang="en-US" sz="18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5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(User Obsession)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46C7212E-6758-A7E0-3D4C-01C3D4512AD5}"/>
              </a:ext>
            </a:extLst>
          </p:cNvPr>
          <p:cNvSpPr/>
          <p:nvPr/>
        </p:nvSpPr>
        <p:spPr>
          <a:xfrm>
            <a:off x="5105400" y="2667000"/>
            <a:ext cx="2148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개발자는 플랫폼의 고객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이다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CE93E462-FDE7-5BF4-7AEA-E8EE4149C31E}"/>
              </a:ext>
            </a:extLst>
          </p:cNvPr>
          <p:cNvSpPr/>
          <p:nvPr/>
        </p:nvSpPr>
        <p:spPr>
          <a:xfrm>
            <a:off x="5105400" y="3257550"/>
            <a:ext cx="2438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성공의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지표는</a:t>
            </a:r>
            <a:endParaRPr lang="en-US" sz="1300" dirty="0">
              <a:solidFill>
                <a:srgbClr val="D1D5D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"채택률(Adoption Rate)</a:t>
            </a: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</a:t>
            </a:r>
            <a:endParaRPr lang="en-US" sz="1300" b="1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만족도(</a:t>
            </a: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eNPS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6EBDB582-B71F-E7A2-4D44-42E3B97913DC}"/>
              </a:ext>
            </a:extLst>
          </p:cNvPr>
          <p:cNvSpPr/>
          <p:nvPr/>
        </p:nvSpPr>
        <p:spPr>
          <a:xfrm>
            <a:off x="5105400" y="4305300"/>
            <a:ext cx="2000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00" b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</a:t>
            </a:r>
            <a:r>
              <a:rPr lang="en-US" sz="1300" b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b="1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중심</a:t>
            </a:r>
            <a:r>
              <a:rPr lang="en-US" sz="1300" b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b="1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플랫폼의</a:t>
            </a:r>
            <a:r>
              <a:rPr lang="en-US" sz="1300" b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3요소:</a:t>
            </a:r>
            <a:endParaRPr lang="en-US" sz="13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51028C06-72FC-769A-7EDA-41C90FBB0DC7}"/>
              </a:ext>
            </a:extLst>
          </p:cNvPr>
          <p:cNvSpPr/>
          <p:nvPr/>
        </p:nvSpPr>
        <p:spPr>
          <a:xfrm>
            <a:off x="5255025" y="4672368"/>
            <a:ext cx="2384025" cy="280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편의성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(Usability)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67547975-BA75-3C58-5C1A-6CC6531DB79F}"/>
              </a:ext>
            </a:extLst>
          </p:cNvPr>
          <p:cNvSpPr/>
          <p:nvPr/>
        </p:nvSpPr>
        <p:spPr>
          <a:xfrm>
            <a:off x="5255025" y="4938386"/>
            <a:ext cx="2384025" cy="2432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루프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(Feedback Loop)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13C7C4F8-7460-F90A-E268-60F9B9F1FE7B}"/>
              </a:ext>
            </a:extLst>
          </p:cNvPr>
          <p:cNvSpPr/>
          <p:nvPr/>
        </p:nvSpPr>
        <p:spPr>
          <a:xfrm>
            <a:off x="5255025" y="5205426"/>
            <a:ext cx="2384025" cy="2619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기반 개선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(Usage Analytics)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7" name="Text 18">
            <a:extLst>
              <a:ext uri="{FF2B5EF4-FFF2-40B4-BE49-F238E27FC236}">
                <a16:creationId xmlns:a16="http://schemas.microsoft.com/office/drawing/2014/main" id="{631339BA-D268-3BEA-7611-72C0B81F8623}"/>
              </a:ext>
            </a:extLst>
          </p:cNvPr>
          <p:cNvSpPr/>
          <p:nvPr/>
        </p:nvSpPr>
        <p:spPr>
          <a:xfrm>
            <a:off x="8534400" y="1847850"/>
            <a:ext cx="27393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지속</a:t>
            </a:r>
            <a:r>
              <a:rPr lang="ko-KR" altLang="en-US" sz="1800" b="1" dirty="0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적인</a:t>
            </a:r>
            <a:r>
              <a:rPr lang="en-US" sz="1800" b="1" dirty="0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개선 </a:t>
            </a:r>
            <a:r>
              <a:rPr lang="en-US" sz="135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(Iterative Growth)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8" name="Text 19">
            <a:extLst>
              <a:ext uri="{FF2B5EF4-FFF2-40B4-BE49-F238E27FC236}">
                <a16:creationId xmlns:a16="http://schemas.microsoft.com/office/drawing/2014/main" id="{43D76B12-647D-0B4D-AB3C-77C6F687A2ED}"/>
              </a:ext>
            </a:extLst>
          </p:cNvPr>
          <p:cNvSpPr/>
          <p:nvPr/>
        </p:nvSpPr>
        <p:spPr>
          <a:xfrm>
            <a:off x="8839200" y="2609850"/>
            <a:ext cx="2438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ko-KR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완성</a:t>
            </a:r>
            <a:r>
              <a:rPr lang="en-US" altLang="ko-KR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지속적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</a:t>
            </a:r>
            <a:r>
              <a:rPr lang="en-US" altLang="ko-KR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목표로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CD77B75F-99DA-9B1C-5D88-2DB1F72F18F9}"/>
              </a:ext>
            </a:extLst>
          </p:cNvPr>
          <p:cNvSpPr/>
          <p:nvPr/>
        </p:nvSpPr>
        <p:spPr>
          <a:xfrm>
            <a:off x="8839200" y="3371850"/>
            <a:ext cx="2438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MVP → Feedback → Improve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Measure → Repeat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Text 21">
            <a:extLst>
              <a:ext uri="{FF2B5EF4-FFF2-40B4-BE49-F238E27FC236}">
                <a16:creationId xmlns:a16="http://schemas.microsoft.com/office/drawing/2014/main" id="{52DF3CED-5F8C-0FD8-2557-0D5AF40991FC}"/>
              </a:ext>
            </a:extLst>
          </p:cNvPr>
          <p:cNvSpPr/>
          <p:nvPr/>
        </p:nvSpPr>
        <p:spPr>
          <a:xfrm>
            <a:off x="8839200" y="4072263"/>
            <a:ext cx="2438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</a:t>
            </a: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가능한 제품 문화(Experimental Culture</a:t>
            </a:r>
            <a:r>
              <a:rPr lang="en-US" altLang="ko-KR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Text 22">
            <a:extLst>
              <a:ext uri="{FF2B5EF4-FFF2-40B4-BE49-F238E27FC236}">
                <a16:creationId xmlns:a16="http://schemas.microsoft.com/office/drawing/2014/main" id="{260A9A06-52F6-9115-973D-C75400854BBC}"/>
              </a:ext>
            </a:extLst>
          </p:cNvPr>
          <p:cNvSpPr/>
          <p:nvPr/>
        </p:nvSpPr>
        <p:spPr>
          <a:xfrm>
            <a:off x="8839200" y="4995536"/>
            <a:ext cx="2434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변화 대응 속도 = 조직 학습 속도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Text 32">
            <a:extLst>
              <a:ext uri="{FF2B5EF4-FFF2-40B4-BE49-F238E27FC236}">
                <a16:creationId xmlns:a16="http://schemas.microsoft.com/office/drawing/2014/main" id="{32B70295-37B4-7886-0297-D8F405F9E5A6}"/>
              </a:ext>
            </a:extLst>
          </p:cNvPr>
          <p:cNvSpPr/>
          <p:nvPr/>
        </p:nvSpPr>
        <p:spPr>
          <a:xfrm>
            <a:off x="609600" y="6219825"/>
            <a:ext cx="10972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팀의 경쟁력 = 기술적 완성도 × 고객 중심적 사고 × 지속적 개선 문화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900"/>
            <a:ext cx="7046863" cy="381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- 3.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문서화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&amp; 교육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7" name="Image 6" descr="preencoded.png">
            <a:extLst>
              <a:ext uri="{FF2B5EF4-FFF2-40B4-BE49-F238E27FC236}">
                <a16:creationId xmlns:a16="http://schemas.microsoft.com/office/drawing/2014/main" id="{42D27704-A26A-4C70-3B51-AB18269D2F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97738"/>
            <a:ext cx="381000" cy="381000"/>
          </a:xfrm>
          <a:prstGeom prst="rect">
            <a:avLst/>
          </a:prstGeom>
        </p:spPr>
      </p:pic>
      <p:pic>
        <p:nvPicPr>
          <p:cNvPr id="68" name="Image 7" descr="preencoded.png">
            <a:extLst>
              <a:ext uri="{FF2B5EF4-FFF2-40B4-BE49-F238E27FC236}">
                <a16:creationId xmlns:a16="http://schemas.microsoft.com/office/drawing/2014/main" id="{AD9D459E-5D40-899C-439C-9AC12D3128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1854888"/>
            <a:ext cx="171450" cy="266700"/>
          </a:xfrm>
          <a:prstGeom prst="rect">
            <a:avLst/>
          </a:prstGeom>
        </p:spPr>
      </p:pic>
      <p:pic>
        <p:nvPicPr>
          <p:cNvPr id="69" name="Image 8" descr="preencoded.png">
            <a:extLst>
              <a:ext uri="{FF2B5EF4-FFF2-40B4-BE49-F238E27FC236}">
                <a16:creationId xmlns:a16="http://schemas.microsoft.com/office/drawing/2014/main" id="{B432A46F-42A4-1D8F-EF6C-9098DBBDB8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331137"/>
            <a:ext cx="3505200" cy="3558133"/>
          </a:xfrm>
          <a:prstGeom prst="rect">
            <a:avLst/>
          </a:prstGeom>
        </p:spPr>
      </p:pic>
      <p:pic>
        <p:nvPicPr>
          <p:cNvPr id="70" name="Image 9" descr="preencoded.png">
            <a:extLst>
              <a:ext uri="{FF2B5EF4-FFF2-40B4-BE49-F238E27FC236}">
                <a16:creationId xmlns:a16="http://schemas.microsoft.com/office/drawing/2014/main" id="{23724332-1534-F0F8-4C46-D9B62C3620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2597838"/>
            <a:ext cx="342900" cy="342900"/>
          </a:xfrm>
          <a:prstGeom prst="rect">
            <a:avLst/>
          </a:prstGeom>
        </p:spPr>
      </p:pic>
      <p:pic>
        <p:nvPicPr>
          <p:cNvPr id="71" name="Image 10" descr="preencoded.png">
            <a:extLst>
              <a:ext uri="{FF2B5EF4-FFF2-40B4-BE49-F238E27FC236}">
                <a16:creationId xmlns:a16="http://schemas.microsoft.com/office/drawing/2014/main" id="{06350A86-C33A-081E-046A-727FE5A066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650" y="2693088"/>
            <a:ext cx="152400" cy="152400"/>
          </a:xfrm>
          <a:prstGeom prst="rect">
            <a:avLst/>
          </a:prstGeom>
        </p:spPr>
      </p:pic>
      <p:pic>
        <p:nvPicPr>
          <p:cNvPr id="72" name="Image 11" descr="preencoded.png">
            <a:extLst>
              <a:ext uri="{FF2B5EF4-FFF2-40B4-BE49-F238E27FC236}">
                <a16:creationId xmlns:a16="http://schemas.microsoft.com/office/drawing/2014/main" id="{FD05909B-59BD-E0AB-B0F4-7EEE6EBBEC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3740837"/>
            <a:ext cx="342900" cy="342900"/>
          </a:xfrm>
          <a:prstGeom prst="rect">
            <a:avLst/>
          </a:prstGeom>
        </p:spPr>
      </p:pic>
      <p:pic>
        <p:nvPicPr>
          <p:cNvPr id="73" name="Image 13" descr="preencoded.png">
            <a:extLst>
              <a:ext uri="{FF2B5EF4-FFF2-40B4-BE49-F238E27FC236}">
                <a16:creationId xmlns:a16="http://schemas.microsoft.com/office/drawing/2014/main" id="{BF7812B9-761D-0D76-5448-456BE575CD2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4780918"/>
            <a:ext cx="342900" cy="342900"/>
          </a:xfrm>
          <a:prstGeom prst="rect">
            <a:avLst/>
          </a:prstGeom>
        </p:spPr>
      </p:pic>
      <p:pic>
        <p:nvPicPr>
          <p:cNvPr id="74" name="Image 14" descr="preencoded.png">
            <a:extLst>
              <a:ext uri="{FF2B5EF4-FFF2-40B4-BE49-F238E27FC236}">
                <a16:creationId xmlns:a16="http://schemas.microsoft.com/office/drawing/2014/main" id="{AC110435-F6B4-49FC-ED28-2ABD678E40B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9175" y="4876168"/>
            <a:ext cx="133350" cy="152400"/>
          </a:xfrm>
          <a:prstGeom prst="rect">
            <a:avLst/>
          </a:prstGeom>
        </p:spPr>
      </p:pic>
      <p:pic>
        <p:nvPicPr>
          <p:cNvPr id="75" name="Image 16" descr="preencoded.png">
            <a:extLst>
              <a:ext uri="{FF2B5EF4-FFF2-40B4-BE49-F238E27FC236}">
                <a16:creationId xmlns:a16="http://schemas.microsoft.com/office/drawing/2014/main" id="{2A1151D8-A4D8-B8F8-00B3-90CAA0E4688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3400" y="1797738"/>
            <a:ext cx="381000" cy="381000"/>
          </a:xfrm>
          <a:prstGeom prst="rect">
            <a:avLst/>
          </a:prstGeom>
        </p:spPr>
      </p:pic>
      <p:pic>
        <p:nvPicPr>
          <p:cNvPr id="76" name="Image 17" descr="preencoded.png">
            <a:extLst>
              <a:ext uri="{FF2B5EF4-FFF2-40B4-BE49-F238E27FC236}">
                <a16:creationId xmlns:a16="http://schemas.microsoft.com/office/drawing/2014/main" id="{1414A482-271B-CA11-D3DF-083FFB7EDEF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38650" y="1854888"/>
            <a:ext cx="190500" cy="266700"/>
          </a:xfrm>
          <a:prstGeom prst="rect">
            <a:avLst/>
          </a:prstGeom>
        </p:spPr>
      </p:pic>
      <p:pic>
        <p:nvPicPr>
          <p:cNvPr id="77" name="Image 18" descr="preencoded.png">
            <a:extLst>
              <a:ext uri="{FF2B5EF4-FFF2-40B4-BE49-F238E27FC236}">
                <a16:creationId xmlns:a16="http://schemas.microsoft.com/office/drawing/2014/main" id="{92C76A54-090F-5674-3CC0-037C2714B69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43400" y="2331137"/>
            <a:ext cx="3505200" cy="3558133"/>
          </a:xfrm>
          <a:prstGeom prst="rect">
            <a:avLst/>
          </a:prstGeom>
        </p:spPr>
      </p:pic>
      <p:pic>
        <p:nvPicPr>
          <p:cNvPr id="78" name="Image 19" descr="preencoded.png">
            <a:extLst>
              <a:ext uri="{FF2B5EF4-FFF2-40B4-BE49-F238E27FC236}">
                <a16:creationId xmlns:a16="http://schemas.microsoft.com/office/drawing/2014/main" id="{D5FEB22A-43AB-240E-B984-6598FE6E40D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48200" y="2597838"/>
            <a:ext cx="342900" cy="342900"/>
          </a:xfrm>
          <a:prstGeom prst="rect">
            <a:avLst/>
          </a:prstGeom>
        </p:spPr>
      </p:pic>
      <p:pic>
        <p:nvPicPr>
          <p:cNvPr id="79" name="Image 20" descr="preencoded.png">
            <a:extLst>
              <a:ext uri="{FF2B5EF4-FFF2-40B4-BE49-F238E27FC236}">
                <a16:creationId xmlns:a16="http://schemas.microsoft.com/office/drawing/2014/main" id="{D1F95FB3-105D-AF18-E680-0EA01872B32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24400" y="2693088"/>
            <a:ext cx="190500" cy="152400"/>
          </a:xfrm>
          <a:prstGeom prst="rect">
            <a:avLst/>
          </a:prstGeom>
        </p:spPr>
      </p:pic>
      <p:pic>
        <p:nvPicPr>
          <p:cNvPr id="80" name="Image 21" descr="preencoded.png">
            <a:extLst>
              <a:ext uri="{FF2B5EF4-FFF2-40B4-BE49-F238E27FC236}">
                <a16:creationId xmlns:a16="http://schemas.microsoft.com/office/drawing/2014/main" id="{C6319C7D-E6BA-64C2-BABE-E5DD4B1CC92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48200" y="3740837"/>
            <a:ext cx="342900" cy="342900"/>
          </a:xfrm>
          <a:prstGeom prst="rect">
            <a:avLst/>
          </a:prstGeom>
        </p:spPr>
      </p:pic>
      <p:pic>
        <p:nvPicPr>
          <p:cNvPr id="81" name="Image 22" descr="preencoded.png">
            <a:extLst>
              <a:ext uri="{FF2B5EF4-FFF2-40B4-BE49-F238E27FC236}">
                <a16:creationId xmlns:a16="http://schemas.microsoft.com/office/drawing/2014/main" id="{AB3C617C-20D0-CD5F-529F-2ED13A648FA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43450" y="3836087"/>
            <a:ext cx="152400" cy="152400"/>
          </a:xfrm>
          <a:prstGeom prst="rect">
            <a:avLst/>
          </a:prstGeom>
        </p:spPr>
      </p:pic>
      <p:pic>
        <p:nvPicPr>
          <p:cNvPr id="82" name="Image 23" descr="preencoded.png">
            <a:extLst>
              <a:ext uri="{FF2B5EF4-FFF2-40B4-BE49-F238E27FC236}">
                <a16:creationId xmlns:a16="http://schemas.microsoft.com/office/drawing/2014/main" id="{52BCFBD0-AFCD-57B0-0FFB-2A761C0E7BB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48200" y="4780918"/>
            <a:ext cx="342900" cy="342900"/>
          </a:xfrm>
          <a:prstGeom prst="rect">
            <a:avLst/>
          </a:prstGeom>
        </p:spPr>
      </p:pic>
      <p:pic>
        <p:nvPicPr>
          <p:cNvPr id="83" name="Image 24" descr="preencoded.png">
            <a:extLst>
              <a:ext uri="{FF2B5EF4-FFF2-40B4-BE49-F238E27FC236}">
                <a16:creationId xmlns:a16="http://schemas.microsoft.com/office/drawing/2014/main" id="{1DBB77D7-A533-FE0D-2D9B-EC63987DBFD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43450" y="4876168"/>
            <a:ext cx="152400" cy="152400"/>
          </a:xfrm>
          <a:prstGeom prst="rect">
            <a:avLst/>
          </a:prstGeom>
        </p:spPr>
      </p:pic>
      <p:pic>
        <p:nvPicPr>
          <p:cNvPr id="84" name="Image 26" descr="preencoded.png">
            <a:extLst>
              <a:ext uri="{FF2B5EF4-FFF2-40B4-BE49-F238E27FC236}">
                <a16:creationId xmlns:a16="http://schemas.microsoft.com/office/drawing/2014/main" id="{4AAA7069-2440-9F97-9B7F-32E0B5F03B6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77200" y="1797738"/>
            <a:ext cx="381000" cy="381000"/>
          </a:xfrm>
          <a:prstGeom prst="rect">
            <a:avLst/>
          </a:prstGeom>
        </p:spPr>
      </p:pic>
      <p:pic>
        <p:nvPicPr>
          <p:cNvPr id="85" name="Image 27" descr="preencoded.png">
            <a:extLst>
              <a:ext uri="{FF2B5EF4-FFF2-40B4-BE49-F238E27FC236}">
                <a16:creationId xmlns:a16="http://schemas.microsoft.com/office/drawing/2014/main" id="{C6A7B804-E5B7-48F4-123B-5F9780EA1B8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48638" y="1854888"/>
            <a:ext cx="238125" cy="266700"/>
          </a:xfrm>
          <a:prstGeom prst="rect">
            <a:avLst/>
          </a:prstGeom>
        </p:spPr>
      </p:pic>
      <p:pic>
        <p:nvPicPr>
          <p:cNvPr id="86" name="Image 28" descr="preencoded.png">
            <a:extLst>
              <a:ext uri="{FF2B5EF4-FFF2-40B4-BE49-F238E27FC236}">
                <a16:creationId xmlns:a16="http://schemas.microsoft.com/office/drawing/2014/main" id="{E12F78ED-6C6A-5808-512F-894B83C2BBD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63865" y="2331137"/>
            <a:ext cx="3505200" cy="3558133"/>
          </a:xfrm>
          <a:prstGeom prst="rect">
            <a:avLst/>
          </a:prstGeom>
        </p:spPr>
      </p:pic>
      <p:pic>
        <p:nvPicPr>
          <p:cNvPr id="87" name="Image 29" descr="preencoded.png">
            <a:extLst>
              <a:ext uri="{FF2B5EF4-FFF2-40B4-BE49-F238E27FC236}">
                <a16:creationId xmlns:a16="http://schemas.microsoft.com/office/drawing/2014/main" id="{0CA47FD6-0491-45C5-A4D3-D217239B2C7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82000" y="2597838"/>
            <a:ext cx="342900" cy="342900"/>
          </a:xfrm>
          <a:prstGeom prst="rect">
            <a:avLst/>
          </a:prstGeom>
        </p:spPr>
      </p:pic>
      <p:pic>
        <p:nvPicPr>
          <p:cNvPr id="88" name="Image 30" descr="preencoded.png">
            <a:extLst>
              <a:ext uri="{FF2B5EF4-FFF2-40B4-BE49-F238E27FC236}">
                <a16:creationId xmlns:a16="http://schemas.microsoft.com/office/drawing/2014/main" id="{35B49189-0876-83C0-5510-7FE08D9B557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8700" y="3845090"/>
            <a:ext cx="114300" cy="152400"/>
          </a:xfrm>
          <a:prstGeom prst="rect">
            <a:avLst/>
          </a:prstGeom>
        </p:spPr>
      </p:pic>
      <p:pic>
        <p:nvPicPr>
          <p:cNvPr id="89" name="Image 31" descr="preencoded.png">
            <a:extLst>
              <a:ext uri="{FF2B5EF4-FFF2-40B4-BE49-F238E27FC236}">
                <a16:creationId xmlns:a16="http://schemas.microsoft.com/office/drawing/2014/main" id="{BC348B68-64F9-868D-FBBD-31F1FAECA59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82000" y="3740837"/>
            <a:ext cx="342900" cy="342900"/>
          </a:xfrm>
          <a:prstGeom prst="rect">
            <a:avLst/>
          </a:prstGeom>
        </p:spPr>
      </p:pic>
      <p:pic>
        <p:nvPicPr>
          <p:cNvPr id="90" name="Image 32" descr="preencoded.png">
            <a:extLst>
              <a:ext uri="{FF2B5EF4-FFF2-40B4-BE49-F238E27FC236}">
                <a16:creationId xmlns:a16="http://schemas.microsoft.com/office/drawing/2014/main" id="{77839B0C-F650-8BB1-E923-8DC1B9F38F1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58200" y="3836087"/>
            <a:ext cx="190500" cy="152400"/>
          </a:xfrm>
          <a:prstGeom prst="rect">
            <a:avLst/>
          </a:prstGeom>
        </p:spPr>
      </p:pic>
      <p:pic>
        <p:nvPicPr>
          <p:cNvPr id="91" name="Image 33" descr="preencoded.png">
            <a:extLst>
              <a:ext uri="{FF2B5EF4-FFF2-40B4-BE49-F238E27FC236}">
                <a16:creationId xmlns:a16="http://schemas.microsoft.com/office/drawing/2014/main" id="{FD24837C-1FC9-B19A-7DD5-7E07AB586C7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82000" y="4780918"/>
            <a:ext cx="342900" cy="342900"/>
          </a:xfrm>
          <a:prstGeom prst="rect">
            <a:avLst/>
          </a:prstGeom>
        </p:spPr>
      </p:pic>
      <p:pic>
        <p:nvPicPr>
          <p:cNvPr id="92" name="Image 34" descr="preencoded.png">
            <a:extLst>
              <a:ext uri="{FF2B5EF4-FFF2-40B4-BE49-F238E27FC236}">
                <a16:creationId xmlns:a16="http://schemas.microsoft.com/office/drawing/2014/main" id="{C886BA24-4DE6-2BC6-0963-20BFD0583458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58200" y="4876168"/>
            <a:ext cx="190500" cy="152400"/>
          </a:xfrm>
          <a:prstGeom prst="rect">
            <a:avLst/>
          </a:prstGeom>
        </p:spPr>
      </p:pic>
      <p:sp>
        <p:nvSpPr>
          <p:cNvPr id="93" name="Text 5">
            <a:extLst>
              <a:ext uri="{FF2B5EF4-FFF2-40B4-BE49-F238E27FC236}">
                <a16:creationId xmlns:a16="http://schemas.microsoft.com/office/drawing/2014/main" id="{D40921F5-0493-15B0-8282-9A2634AB4F89}"/>
              </a:ext>
            </a:extLst>
          </p:cNvPr>
          <p:cNvSpPr/>
          <p:nvPr/>
        </p:nvSpPr>
        <p:spPr>
          <a:xfrm>
            <a:off x="1066800" y="1835838"/>
            <a:ext cx="19145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Knowledge </a:t>
            </a:r>
            <a:r>
              <a:rPr lang="en-US" sz="135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(문서화)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DE41A80D-2605-2BD0-B111-C7BDEC4FDD42}"/>
              </a:ext>
            </a:extLst>
          </p:cNvPr>
          <p:cNvSpPr/>
          <p:nvPr/>
        </p:nvSpPr>
        <p:spPr>
          <a:xfrm>
            <a:off x="1371600" y="2654988"/>
            <a:ext cx="1417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Beginner to Expert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0984C993-1C0E-ADD7-4888-23D552160CEF}"/>
              </a:ext>
            </a:extLst>
          </p:cNvPr>
          <p:cNvSpPr/>
          <p:nvPr/>
        </p:nvSpPr>
        <p:spPr>
          <a:xfrm>
            <a:off x="1371600" y="2954373"/>
            <a:ext cx="25146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Getting Started / ADR 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체계적인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구조화</a:t>
            </a:r>
            <a:r>
              <a:rPr lang="en-US" altLang="ko-KR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신규 입문자부터 시니어까지 </a:t>
            </a:r>
            <a:r>
              <a:rPr lang="ko-KR" altLang="en-US" sz="1200" b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일관된 학습 흐름 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제공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3AACDA51-5DF4-74C6-A2DA-233D31CF7F26}"/>
              </a:ext>
            </a:extLst>
          </p:cNvPr>
          <p:cNvSpPr/>
          <p:nvPr/>
        </p:nvSpPr>
        <p:spPr>
          <a:xfrm>
            <a:off x="1371600" y="3797987"/>
            <a:ext cx="168402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Living Docs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7" name="Text 11">
            <a:extLst>
              <a:ext uri="{FF2B5EF4-FFF2-40B4-BE49-F238E27FC236}">
                <a16:creationId xmlns:a16="http://schemas.microsoft.com/office/drawing/2014/main" id="{E451E50F-B1F5-EC2C-2FFF-B349A7D35F16}"/>
              </a:ext>
            </a:extLst>
          </p:cNvPr>
          <p:cNvSpPr/>
          <p:nvPr/>
        </p:nvSpPr>
        <p:spPr>
          <a:xfrm>
            <a:off x="1371600" y="4083738"/>
            <a:ext cx="274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토론을 연결한 살아있는 지식체계</a:t>
            </a:r>
            <a:b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갱신 흐름을 포함해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조직의 기억을 보존</a:t>
            </a:r>
            <a:endParaRPr 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8" name="Text 14">
            <a:extLst>
              <a:ext uri="{FF2B5EF4-FFF2-40B4-BE49-F238E27FC236}">
                <a16:creationId xmlns:a16="http://schemas.microsoft.com/office/drawing/2014/main" id="{D1BA9064-92F2-2FDA-9BD5-8E1A749CF419}"/>
              </a:ext>
            </a:extLst>
          </p:cNvPr>
          <p:cNvSpPr/>
          <p:nvPr/>
        </p:nvSpPr>
        <p:spPr>
          <a:xfrm>
            <a:off x="1371599" y="4838067"/>
            <a:ext cx="2066926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Knowledge Stewardship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9" name="Text 15">
            <a:extLst>
              <a:ext uri="{FF2B5EF4-FFF2-40B4-BE49-F238E27FC236}">
                <a16:creationId xmlns:a16="http://schemas.microsoft.com/office/drawing/2014/main" id="{6E953BCE-CFE2-4BAE-13D4-C522EAB95E5D}"/>
              </a:ext>
            </a:extLst>
          </p:cNvPr>
          <p:cNvSpPr/>
          <p:nvPr/>
        </p:nvSpPr>
        <p:spPr>
          <a:xfrm>
            <a:off x="1371600" y="5133517"/>
            <a:ext cx="2514600" cy="6095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문서를 남기는 데 그치지 않고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함께 돌보며 지식의 품질을 유지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 문화 정착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0" name="Text 25">
            <a:extLst>
              <a:ext uri="{FF2B5EF4-FFF2-40B4-BE49-F238E27FC236}">
                <a16:creationId xmlns:a16="http://schemas.microsoft.com/office/drawing/2014/main" id="{E4F6F48B-4C33-66DD-FAEB-D6CEC0FE01F7}"/>
              </a:ext>
            </a:extLst>
          </p:cNvPr>
          <p:cNvSpPr/>
          <p:nvPr/>
        </p:nvSpPr>
        <p:spPr>
          <a:xfrm>
            <a:off x="4800600" y="1835838"/>
            <a:ext cx="25622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Enablement </a:t>
            </a:r>
            <a:r>
              <a:rPr lang="en-US" sz="135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(교육 &amp; 내재화)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1" name="Text 26">
            <a:extLst>
              <a:ext uri="{FF2B5EF4-FFF2-40B4-BE49-F238E27FC236}">
                <a16:creationId xmlns:a16="http://schemas.microsoft.com/office/drawing/2014/main" id="{23B0E01E-52D3-1C2D-57DC-3305BBA52208}"/>
              </a:ext>
            </a:extLst>
          </p:cNvPr>
          <p:cNvSpPr/>
          <p:nvPr/>
        </p:nvSpPr>
        <p:spPr>
          <a:xfrm>
            <a:off x="5105400" y="2654988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Community Enablement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2" name="Text 27">
            <a:extLst>
              <a:ext uri="{FF2B5EF4-FFF2-40B4-BE49-F238E27FC236}">
                <a16:creationId xmlns:a16="http://schemas.microsoft.com/office/drawing/2014/main" id="{2F8E8B08-6930-384E-DB0D-46EC794BC22C}"/>
              </a:ext>
            </a:extLst>
          </p:cNvPr>
          <p:cNvSpPr/>
          <p:nvPr/>
        </p:nvSpPr>
        <p:spPr>
          <a:xfrm>
            <a:off x="5105400" y="2983688"/>
            <a:ext cx="2648211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테크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세션</a:t>
            </a:r>
            <a:r>
              <a:rPr lang="en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en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DevTalk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등을 통해 경험 공유를 문화화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학습을 개인의 성장에서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조직의 자산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 확장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" name="Text 30">
            <a:extLst>
              <a:ext uri="{FF2B5EF4-FFF2-40B4-BE49-F238E27FC236}">
                <a16:creationId xmlns:a16="http://schemas.microsoft.com/office/drawing/2014/main" id="{29BEDA34-FACC-9B18-3873-8DB99B17EDA3}"/>
              </a:ext>
            </a:extLst>
          </p:cNvPr>
          <p:cNvSpPr/>
          <p:nvPr/>
        </p:nvSpPr>
        <p:spPr>
          <a:xfrm>
            <a:off x="5105400" y="3797987"/>
            <a:ext cx="16802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Developer Journey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4" name="Text 31">
            <a:extLst>
              <a:ext uri="{FF2B5EF4-FFF2-40B4-BE49-F238E27FC236}">
                <a16:creationId xmlns:a16="http://schemas.microsoft.com/office/drawing/2014/main" id="{D5CC145E-F226-2DA9-1053-30DF7DA4A227}"/>
              </a:ext>
            </a:extLst>
          </p:cNvPr>
          <p:cNvSpPr/>
          <p:nvPr/>
        </p:nvSpPr>
        <p:spPr>
          <a:xfrm>
            <a:off x="5105400" y="4093436"/>
            <a:ext cx="2648211" cy="6653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 개발자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전환자를 위한 </a:t>
            </a:r>
            <a:r>
              <a:rPr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온보딩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자동화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실습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멘토 </a:t>
            </a:r>
            <a:r>
              <a:rPr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챗봇을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연결한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경로 설계</a:t>
            </a:r>
            <a:endParaRPr lang="en-US"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5" name="Text 34">
            <a:extLst>
              <a:ext uri="{FF2B5EF4-FFF2-40B4-BE49-F238E27FC236}">
                <a16:creationId xmlns:a16="http://schemas.microsoft.com/office/drawing/2014/main" id="{2624B5ED-AB16-A827-822B-D5297046F628}"/>
              </a:ext>
            </a:extLst>
          </p:cNvPr>
          <p:cNvSpPr/>
          <p:nvPr/>
        </p:nvSpPr>
        <p:spPr>
          <a:xfrm>
            <a:off x="5105400" y="4838068"/>
            <a:ext cx="1520190" cy="2571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Learning in Work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82C20AFA-CE59-F5B9-F880-171D56F3865A}"/>
              </a:ext>
            </a:extLst>
          </p:cNvPr>
          <p:cNvSpPr/>
          <p:nvPr/>
        </p:nvSpPr>
        <p:spPr>
          <a:xfrm>
            <a:off x="5105400" y="5133518"/>
            <a:ext cx="264821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업무 과정 자체가 학습이 되도록 만드는 구조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b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도구가 아닌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경험이 학습을 이끌게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한다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7" name="Text 45">
            <a:extLst>
              <a:ext uri="{FF2B5EF4-FFF2-40B4-BE49-F238E27FC236}">
                <a16:creationId xmlns:a16="http://schemas.microsoft.com/office/drawing/2014/main" id="{F4ED57B4-3A40-B86A-5893-B505EF492E0A}"/>
              </a:ext>
            </a:extLst>
          </p:cNvPr>
          <p:cNvSpPr/>
          <p:nvPr/>
        </p:nvSpPr>
        <p:spPr>
          <a:xfrm>
            <a:off x="8534400" y="1835838"/>
            <a:ext cx="29146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084F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Intelligence </a:t>
            </a:r>
            <a:r>
              <a:rPr lang="en-US" sz="135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(AI 기반 </a:t>
            </a:r>
            <a:r>
              <a:rPr lang="en-US" sz="1350" b="1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</a:t>
            </a:r>
            <a:r>
              <a:rPr lang="en-US" sz="135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5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지원</a:t>
            </a:r>
            <a:r>
              <a:rPr lang="en-US" sz="1350" b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8" name="Text 46">
            <a:extLst>
              <a:ext uri="{FF2B5EF4-FFF2-40B4-BE49-F238E27FC236}">
                <a16:creationId xmlns:a16="http://schemas.microsoft.com/office/drawing/2014/main" id="{2E54B22A-ACD1-E28B-DD83-1AEA83728998}"/>
              </a:ext>
            </a:extLst>
          </p:cNvPr>
          <p:cNvSpPr/>
          <p:nvPr/>
        </p:nvSpPr>
        <p:spPr>
          <a:xfrm>
            <a:off x="8839199" y="2654988"/>
            <a:ext cx="2208757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Context-Aware Code Review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9" name="Text 47">
            <a:extLst>
              <a:ext uri="{FF2B5EF4-FFF2-40B4-BE49-F238E27FC236}">
                <a16:creationId xmlns:a16="http://schemas.microsoft.com/office/drawing/2014/main" id="{BB4AF1B0-1ABC-A0B4-C554-F1F256F89A27}"/>
              </a:ext>
            </a:extLst>
          </p:cNvPr>
          <p:cNvSpPr/>
          <p:nvPr/>
        </p:nvSpPr>
        <p:spPr>
          <a:xfrm>
            <a:off x="8839200" y="2983688"/>
            <a:ext cx="2609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코드와 문서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ADR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연결하여 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고유의 규칙</a:t>
            </a:r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패턴을 학습한 </a:t>
            </a:r>
            <a:r>
              <a:rPr lang="en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기반</a:t>
            </a:r>
            <a:r>
              <a:rPr lang="en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리뷰</a:t>
            </a:r>
            <a:endParaRPr 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0" name="Text 50">
            <a:extLst>
              <a:ext uri="{FF2B5EF4-FFF2-40B4-BE49-F238E27FC236}">
                <a16:creationId xmlns:a16="http://schemas.microsoft.com/office/drawing/2014/main" id="{314608EE-FCE5-D2B8-82BD-0B1F9E5FDB68}"/>
              </a:ext>
            </a:extLst>
          </p:cNvPr>
          <p:cNvSpPr/>
          <p:nvPr/>
        </p:nvSpPr>
        <p:spPr>
          <a:xfrm>
            <a:off x="8839200" y="3797987"/>
            <a:ext cx="165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Learning Assistant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1" name="Text 51">
            <a:extLst>
              <a:ext uri="{FF2B5EF4-FFF2-40B4-BE49-F238E27FC236}">
                <a16:creationId xmlns:a16="http://schemas.microsoft.com/office/drawing/2014/main" id="{9080C2E5-4ADE-863F-EB79-D77E7A31B925}"/>
              </a:ext>
            </a:extLst>
          </p:cNvPr>
          <p:cNvSpPr/>
          <p:nvPr/>
        </p:nvSpPr>
        <p:spPr>
          <a:xfrm>
            <a:off x="8839200" y="4093437"/>
            <a:ext cx="2609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개인별 코드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이슈를 학습해 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맞춤형 성장 방향을 제안하는 </a:t>
            </a:r>
            <a:r>
              <a:rPr lang="en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코치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2" name="Text 54">
            <a:extLst>
              <a:ext uri="{FF2B5EF4-FFF2-40B4-BE49-F238E27FC236}">
                <a16:creationId xmlns:a16="http://schemas.microsoft.com/office/drawing/2014/main" id="{F1149132-15E6-35E4-0146-38B258D11877}"/>
              </a:ext>
            </a:extLst>
          </p:cNvPr>
          <p:cNvSpPr/>
          <p:nvPr/>
        </p:nvSpPr>
        <p:spPr>
          <a:xfrm>
            <a:off x="8839199" y="4838068"/>
            <a:ext cx="1981201" cy="2571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Knowledge Feedback Loop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3" name="Text 55">
            <a:extLst>
              <a:ext uri="{FF2B5EF4-FFF2-40B4-BE49-F238E27FC236}">
                <a16:creationId xmlns:a16="http://schemas.microsoft.com/office/drawing/2014/main" id="{11FE7C99-E2D6-F0C6-2FA4-D4E6A0746D61}"/>
              </a:ext>
            </a:extLst>
          </p:cNvPr>
          <p:cNvSpPr/>
          <p:nvPr/>
        </p:nvSpPr>
        <p:spPr>
          <a:xfrm>
            <a:off x="8839200" y="5133518"/>
            <a:ext cx="2609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내 문서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 변경 패턴을 분석해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학습과 개선의 루프를 자동화</a:t>
            </a:r>
            <a:endParaRPr 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14" name="Image 12" descr="preencoded.png">
            <a:extLst>
              <a:ext uri="{FF2B5EF4-FFF2-40B4-BE49-F238E27FC236}">
                <a16:creationId xmlns:a16="http://schemas.microsoft.com/office/drawing/2014/main" id="{4E58A0CA-419C-F19F-08DD-EEB1A7E08B9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464724" y="2694653"/>
            <a:ext cx="152400" cy="152400"/>
          </a:xfrm>
          <a:prstGeom prst="rect">
            <a:avLst/>
          </a:prstGeom>
        </p:spPr>
      </p:pic>
      <p:sp>
        <p:nvSpPr>
          <p:cNvPr id="120" name="Text 2">
            <a:extLst>
              <a:ext uri="{FF2B5EF4-FFF2-40B4-BE49-F238E27FC236}">
                <a16:creationId xmlns:a16="http://schemas.microsoft.com/office/drawing/2014/main" id="{344D543A-0D95-FFC3-1F9B-4F345456C105}"/>
              </a:ext>
            </a:extLst>
          </p:cNvPr>
          <p:cNvSpPr/>
          <p:nvPr/>
        </p:nvSpPr>
        <p:spPr>
          <a:xfrm>
            <a:off x="609601" y="1191128"/>
            <a:ext cx="10972799" cy="2596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시대 플랫폼 팀은 조직의 지식을 </a:t>
            </a:r>
            <a:r>
              <a:rPr lang="ko-KR" alt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구조화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하고</a:t>
            </a:r>
            <a:r>
              <a:rPr lang="en-US" altLang="ko-KR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학습을 시스템에</a:t>
            </a:r>
            <a:r>
              <a:rPr lang="ko-KR" altLang="en-US" sz="1600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 err="1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내재화</a:t>
            </a:r>
            <a:r>
              <a:rPr lang="ko-KR" altLang="en-US" sz="16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하며</a:t>
            </a:r>
            <a:r>
              <a:rPr lang="en-US" altLang="ko-KR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16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통해 그 가치를 </a:t>
            </a:r>
            <a:r>
              <a:rPr lang="ko-KR" altLang="en-US" sz="1600" b="1" dirty="0">
                <a:solidFill>
                  <a:srgbClr val="C084F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극대화</a:t>
            </a:r>
            <a:r>
              <a:rPr lang="ko-KR" altLang="en-US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해야 한다</a:t>
            </a:r>
            <a:r>
              <a:rPr lang="en-US" altLang="ko-KR" sz="16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" y="20266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431"/>
            <a:ext cx="1714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276706"/>
            <a:ext cx="518160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429106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8" y="2524356"/>
            <a:ext cx="1238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495906"/>
            <a:ext cx="5181600" cy="838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8306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" y="3743556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486506"/>
            <a:ext cx="5181600" cy="838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638906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350" y="4734156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219431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8750" y="1590906"/>
            <a:ext cx="253365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63050" y="1743306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1593834"/>
            <a:ext cx="2533650" cy="723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1746234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2429106"/>
            <a:ext cx="2533650" cy="723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2581506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48750" y="2429106"/>
            <a:ext cx="2533650" cy="723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63050" y="2581506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3429231"/>
            <a:ext cx="22860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3800706"/>
            <a:ext cx="51816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5100" y="3953106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372206"/>
            <a:ext cx="518160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5100" y="4524606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943706"/>
            <a:ext cx="5181600" cy="457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5100" y="5096106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819900"/>
            <a:ext cx="7095679" cy="38100"/>
          </a:xfrm>
          <a:prstGeom prst="rect">
            <a:avLst/>
          </a:prstGeom>
        </p:spPr>
      </p:pic>
      <p:sp>
        <p:nvSpPr>
          <p:cNvPr id="38" name="Text 2"/>
          <p:cNvSpPr/>
          <p:nvPr/>
        </p:nvSpPr>
        <p:spPr>
          <a:xfrm>
            <a:off x="857250" y="1171806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</a:t>
            </a:r>
            <a:r>
              <a:rPr lang="ko-KR" altLang="en-US" sz="18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공감력이란</a:t>
            </a:r>
            <a:r>
              <a:rPr lang="en-US" altLang="ko-KR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3"/>
          <p:cNvSpPr/>
          <p:nvPr/>
        </p:nvSpPr>
        <p:spPr>
          <a:xfrm>
            <a:off x="609600" y="1590906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공감력은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감정적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이해가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아닌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</a:t>
            </a:r>
            <a:r>
              <a:rPr lang="en-US" altLang="ko-KR" sz="1500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통찰력</a:t>
            </a: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FF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실천적인</a:t>
            </a:r>
            <a:r>
              <a:rPr lang="en-US" altLang="ko-KR" sz="1500" dirty="0">
                <a:solidFill>
                  <a:srgbClr val="FF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FF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</a:t>
            </a: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필요로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</a:t>
            </a:r>
            <a:r>
              <a:rPr lang="en-US" altLang="ko-KR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500" dirty="0"/>
          </a:p>
        </p:txBody>
      </p:sp>
      <p:sp>
        <p:nvSpPr>
          <p:cNvPr id="40" name="Text 4"/>
          <p:cNvSpPr/>
          <p:nvPr/>
        </p:nvSpPr>
        <p:spPr>
          <a:xfrm>
            <a:off x="1371600" y="2429106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altLang="ko-KR" sz="1400" b="1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5"/>
          <p:cNvSpPr/>
          <p:nvPr/>
        </p:nvSpPr>
        <p:spPr>
          <a:xfrm>
            <a:off x="1371600" y="2733906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팀이 개발자의 업무 흐름</a:t>
            </a:r>
            <a:r>
              <a:rPr lang="en-US" altLang="ko-KR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어려움</a:t>
            </a:r>
            <a:r>
              <a:rPr lang="en-US" altLang="ko-KR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요구사항을 깊이 이해하고 개발자 관점에서 </a:t>
            </a:r>
            <a:r>
              <a:rPr lang="ko-KR" altLang="en-US" sz="1350" b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경험을 설계하는 능력</a:t>
            </a:r>
            <a:endParaRPr lang="en-US" sz="135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6"/>
          <p:cNvSpPr/>
          <p:nvPr/>
        </p:nvSpPr>
        <p:spPr>
          <a:xfrm>
            <a:off x="1371600" y="3648306"/>
            <a:ext cx="412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altLang="ko-KR" sz="1400" b="1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중요성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7"/>
          <p:cNvSpPr/>
          <p:nvPr/>
        </p:nvSpPr>
        <p:spPr>
          <a:xfrm>
            <a:off x="1371600" y="3953106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공감력은</a:t>
            </a:r>
            <a:r>
              <a:rPr lang="ko-KR" alt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플랫폼이 </a:t>
            </a:r>
            <a:r>
              <a:rPr lang="ko-KR" altLang="en-US" sz="135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선택받게</a:t>
            </a:r>
            <a:r>
              <a:rPr lang="ko-KR" alt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하는 설득의 힘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8"/>
          <p:cNvSpPr/>
          <p:nvPr/>
        </p:nvSpPr>
        <p:spPr>
          <a:xfrm>
            <a:off x="1371600" y="4638906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4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 부하 설계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9"/>
          <p:cNvSpPr/>
          <p:nvPr/>
        </p:nvSpPr>
        <p:spPr>
          <a:xfrm>
            <a:off x="1371600" y="4943706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공감은 </a:t>
            </a:r>
            <a:r>
              <a:rPr lang="en-US" altLang="ko-KR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감정</a:t>
            </a:r>
            <a:r>
              <a:rPr lang="en-US" altLang="ko-KR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아니라 </a:t>
            </a:r>
            <a:r>
              <a:rPr lang="ko-KR" altLang="en-US" sz="1350" b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인지적 부담을 줄이는 구조적 설계 행위</a:t>
            </a:r>
            <a:endParaRPr lang="en-US" sz="135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6705600" y="1171806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실천 방법 4가지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9353550" y="170520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마찰 로깅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9163050" y="2010006"/>
            <a:ext cx="2186940" cy="21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사용시 겪는 모든 불편함 기록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6743700" y="170813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도그</a:t>
            </a:r>
            <a:r>
              <a:rPr lang="ko-KR" alt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푸딩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6515100" y="2012934"/>
            <a:ext cx="2419350" cy="19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팀이 자신의 플랫폼 사용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6724650" y="2543406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섀도잉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6515100" y="2848206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옆에서 하루 관찰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9410700" y="2543405"/>
            <a:ext cx="1647378" cy="257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 루프 구축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9163050" y="2848205"/>
            <a:ext cx="2442210" cy="289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주기적 개선으로 지속 가능한 신뢰 구축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19"/>
          <p:cNvSpPr/>
          <p:nvPr/>
        </p:nvSpPr>
        <p:spPr>
          <a:xfrm>
            <a:off x="6705600" y="3381606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8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공감</a:t>
            </a:r>
            <a:r>
              <a:rPr lang="ko-KR" alt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력</a:t>
            </a: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부족의 실패 사례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 20"/>
          <p:cNvSpPr/>
          <p:nvPr/>
        </p:nvSpPr>
        <p:spPr>
          <a:xfrm>
            <a:off x="6743700" y="391500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사례 1: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7277100" y="3915006"/>
            <a:ext cx="41033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완벽한 기술, 하지만 배우는 데 2주 필요 →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채택률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감소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6743700" y="448650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사례 2: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7277100" y="4486506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50페이지 문서, 하지만 Getting Started 없음 →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Text 24"/>
          <p:cNvSpPr/>
          <p:nvPr/>
        </p:nvSpPr>
        <p:spPr>
          <a:xfrm>
            <a:off x="6743700" y="505800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사례 3: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 25"/>
          <p:cNvSpPr/>
          <p:nvPr/>
        </p:nvSpPr>
        <p:spPr>
          <a:xfrm>
            <a:off x="7277100" y="5058006"/>
            <a:ext cx="4194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강력한 기능, 하지만 기존 워크플로우 변경 강요 → 저항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 0">
            <a:extLst>
              <a:ext uri="{FF2B5EF4-FFF2-40B4-BE49-F238E27FC236}">
                <a16:creationId xmlns:a16="http://schemas.microsoft.com/office/drawing/2014/main" id="{F0CDA977-8119-8863-AF26-27792050F749}"/>
              </a:ext>
            </a:extLst>
          </p:cNvPr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– 4. 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</a:t>
            </a:r>
            <a:r>
              <a:rPr lang="ko-KR" alt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공감력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6" name="Image 27" descr="preencoded.png">
            <a:extLst>
              <a:ext uri="{FF2B5EF4-FFF2-40B4-BE49-F238E27FC236}">
                <a16:creationId xmlns:a16="http://schemas.microsoft.com/office/drawing/2014/main" id="{74840BBD-2835-3624-2B64-FAC12C2373B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" y="5737951"/>
            <a:ext cx="10972800" cy="571500"/>
          </a:xfrm>
          <a:prstGeom prst="rect">
            <a:avLst/>
          </a:prstGeom>
        </p:spPr>
      </p:pic>
      <p:pic>
        <p:nvPicPr>
          <p:cNvPr id="64" name="Image 28" descr="preencoded.png">
            <a:extLst>
              <a:ext uri="{FF2B5EF4-FFF2-40B4-BE49-F238E27FC236}">
                <a16:creationId xmlns:a16="http://schemas.microsoft.com/office/drawing/2014/main" id="{7AB73646-5122-6F1F-C642-310101E2E5A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2000" y="5847283"/>
            <a:ext cx="171450" cy="304800"/>
          </a:xfrm>
          <a:prstGeom prst="rect">
            <a:avLst/>
          </a:prstGeom>
        </p:spPr>
      </p:pic>
      <p:sp>
        <p:nvSpPr>
          <p:cNvPr id="65" name="Text 26">
            <a:extLst>
              <a:ext uri="{FF2B5EF4-FFF2-40B4-BE49-F238E27FC236}">
                <a16:creationId xmlns:a16="http://schemas.microsoft.com/office/drawing/2014/main" id="{A3394545-EBF0-57DB-EB09-5AFB7FBDDA4E}"/>
              </a:ext>
            </a:extLst>
          </p:cNvPr>
          <p:cNvSpPr/>
          <p:nvPr/>
        </p:nvSpPr>
        <p:spPr>
          <a:xfrm>
            <a:off x="1047750" y="5890351"/>
            <a:ext cx="1038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인사이트: </a:t>
            </a:r>
            <a:r>
              <a:rPr lang="ko-KR" altLang="en-US" sz="16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 도입의 성공은 기술 자체의 우수성</a:t>
            </a:r>
            <a:r>
              <a:rPr lang="ko-KR" altLang="en-US" sz="16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r>
              <a:rPr lang="en-US" sz="16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구성원의 인식</a:t>
            </a:r>
            <a:r>
              <a:rPr lang="ko-KR" altLang="en-US" sz="16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달려있다</a:t>
            </a:r>
            <a:r>
              <a:rPr lang="en-US" altLang="ko-KR" sz="16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en-US" altLang="ko-KR" sz="1200" i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Min</a:t>
            </a:r>
            <a:r>
              <a:rPr lang="ko-KR" altLang="en-US" sz="1200" i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i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Ren,</a:t>
            </a:r>
            <a:r>
              <a:rPr lang="ko-KR" altLang="en-US" sz="1200" i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i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 technology adoption </a:t>
            </a:r>
            <a:r>
              <a:rPr lang="en-US" altLang="ko-KR" sz="1200" i="1" dirty="0" err="1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succed</a:t>
            </a:r>
            <a:r>
              <a:rPr lang="en-US" altLang="ko-KR" sz="1200" i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of fails</a:t>
            </a:r>
            <a:endParaRPr lang="en-US" sz="1200" i="1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562100"/>
            <a:ext cx="2438400" cy="118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925" y="17145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0850" y="2038350"/>
            <a:ext cx="95250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8650" y="2038350"/>
            <a:ext cx="952500" cy="19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3350" y="2038350"/>
            <a:ext cx="1905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2038350"/>
            <a:ext cx="1905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4301" y="1562100"/>
            <a:ext cx="2438400" cy="118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0626" y="17145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9002" y="1562100"/>
            <a:ext cx="2438400" cy="1181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75327" y="171450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3702" y="1562100"/>
            <a:ext cx="2438400" cy="1181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53365" y="1714500"/>
            <a:ext cx="21907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3219450"/>
            <a:ext cx="5372100" cy="1714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344805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38100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4400" y="39243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52800" y="38100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67100" y="39243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43434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400" y="44577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52800" y="4343400"/>
            <a:ext cx="3810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67100" y="44577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3219450"/>
            <a:ext cx="5372100" cy="1714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3448050"/>
            <a:ext cx="19050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3810000"/>
            <a:ext cx="381000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15100" y="39243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95259" y="3810000"/>
            <a:ext cx="3810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90509" y="3924300"/>
            <a:ext cx="1905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00800" y="4343400"/>
            <a:ext cx="381000" cy="381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15100" y="4457700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48149" y="4343400"/>
            <a:ext cx="381000" cy="381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43399" y="4457700"/>
            <a:ext cx="1905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9600" y="5257800"/>
            <a:ext cx="10972800" cy="5715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95675" y="5486400"/>
            <a:ext cx="142875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21366" y="5486400"/>
            <a:ext cx="142875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0" y="6819900"/>
            <a:ext cx="7583388" cy="38100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609600" y="457200"/>
            <a:ext cx="110334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측정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프레임워크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–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DevEx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&amp; DevRel 성공 지표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1"/>
          <p:cNvSpPr/>
          <p:nvPr/>
        </p:nvSpPr>
        <p:spPr>
          <a:xfrm>
            <a:off x="762000" y="2133600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측정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2"/>
          <p:cNvSpPr/>
          <p:nvPr/>
        </p:nvSpPr>
        <p:spPr>
          <a:xfrm>
            <a:off x="762000" y="240030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정량 + 정성 데이터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3"/>
          <p:cNvSpPr/>
          <p:nvPr/>
        </p:nvSpPr>
        <p:spPr>
          <a:xfrm>
            <a:off x="3606701" y="2133600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DORA 지표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4"/>
          <p:cNvSpPr/>
          <p:nvPr/>
        </p:nvSpPr>
        <p:spPr>
          <a:xfrm>
            <a:off x="3393341" y="2400300"/>
            <a:ext cx="2560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DevEx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성과 측정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5"/>
          <p:cNvSpPr/>
          <p:nvPr/>
        </p:nvSpPr>
        <p:spPr>
          <a:xfrm>
            <a:off x="6238042" y="2133600"/>
            <a:ext cx="2560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HEART 프레임워크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6"/>
          <p:cNvSpPr/>
          <p:nvPr/>
        </p:nvSpPr>
        <p:spPr>
          <a:xfrm>
            <a:off x="6238042" y="2400300"/>
            <a:ext cx="2560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DevRel </a:t>
            </a: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성과 측정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7"/>
          <p:cNvSpPr/>
          <p:nvPr/>
        </p:nvSpPr>
        <p:spPr>
          <a:xfrm>
            <a:off x="9082742" y="2133600"/>
            <a:ext cx="2560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eNPS &amp; ROI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8"/>
          <p:cNvSpPr/>
          <p:nvPr/>
        </p:nvSpPr>
        <p:spPr>
          <a:xfrm>
            <a:off x="9082742" y="2400300"/>
            <a:ext cx="2560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추천, 시간/비용 절감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9"/>
          <p:cNvSpPr/>
          <p:nvPr/>
        </p:nvSpPr>
        <p:spPr>
          <a:xfrm>
            <a:off x="1066800" y="340995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DORA: </a:t>
            </a:r>
            <a:r>
              <a:rPr lang="ko-KR" alt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플랫폼에 대한 기술적 신뢰도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1295400" y="37909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배포 빈도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1295400" y="401955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 1회 → 일 수십 번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3848100" y="379095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Lead Time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3848100" y="4019550"/>
            <a:ext cx="1188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 작성 → 배포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1295400" y="432435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MTTR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1295399" y="4552950"/>
            <a:ext cx="14954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장애 발생에서 복구까지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3848100" y="4324350"/>
            <a:ext cx="902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배포</a:t>
            </a: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실패율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3848100" y="4552950"/>
            <a:ext cx="9029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신뢰성 측정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6667500" y="340995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HEART: </a:t>
            </a:r>
            <a:r>
              <a:rPr lang="ko-KR" alt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</a:t>
            </a:r>
            <a:r>
              <a:rPr lang="en-US" sz="15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경험·관계</a:t>
            </a: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만족도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 19"/>
          <p:cNvSpPr/>
          <p:nvPr/>
        </p:nvSpPr>
        <p:spPr>
          <a:xfrm>
            <a:off x="6896100" y="3790950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Happiness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6896100" y="4019550"/>
            <a:ext cx="937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만족도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 21"/>
          <p:cNvSpPr/>
          <p:nvPr/>
        </p:nvSpPr>
        <p:spPr>
          <a:xfrm>
            <a:off x="10190559" y="3790950"/>
            <a:ext cx="1131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Engagement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 22"/>
          <p:cNvSpPr/>
          <p:nvPr/>
        </p:nvSpPr>
        <p:spPr>
          <a:xfrm>
            <a:off x="10190559" y="40195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 빈도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6896100" y="4324350"/>
            <a:ext cx="81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Adoption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6896100" y="455295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</a:t>
            </a:r>
            <a:r>
              <a:rPr 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률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 25"/>
          <p:cNvSpPr/>
          <p:nvPr/>
        </p:nvSpPr>
        <p:spPr>
          <a:xfrm>
            <a:off x="8543449" y="432435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Retention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 26"/>
          <p:cNvSpPr/>
          <p:nvPr/>
        </p:nvSpPr>
        <p:spPr>
          <a:xfrm>
            <a:off x="8543449" y="4552950"/>
            <a:ext cx="8915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유지율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Text 27"/>
          <p:cNvSpPr/>
          <p:nvPr/>
        </p:nvSpPr>
        <p:spPr>
          <a:xfrm>
            <a:off x="3280410" y="5419725"/>
            <a:ext cx="56692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ko-KR" altLang="en-US" sz="1500" i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플랫폼팀의 성공은 기술과 감정</a:t>
            </a:r>
            <a:r>
              <a:rPr lang="en-US" altLang="ko-KR" sz="1500" i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500" i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두 언어로 증명된다</a:t>
            </a:r>
            <a:r>
              <a:rPr lang="en-US" altLang="ko-KR" sz="1500" i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0" name="Image 29" descr="preencoded.png">
            <a:extLst>
              <a:ext uri="{FF2B5EF4-FFF2-40B4-BE49-F238E27FC236}">
                <a16:creationId xmlns:a16="http://schemas.microsoft.com/office/drawing/2014/main" id="{73EDEE60-67A8-C3C6-1644-A9D9CB842AF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95259" y="4362450"/>
            <a:ext cx="381000" cy="381000"/>
          </a:xfrm>
          <a:prstGeom prst="rect">
            <a:avLst/>
          </a:prstGeom>
        </p:spPr>
      </p:pic>
      <p:pic>
        <p:nvPicPr>
          <p:cNvPr id="71" name="Image 30" descr="preencoded.png">
            <a:extLst>
              <a:ext uri="{FF2B5EF4-FFF2-40B4-BE49-F238E27FC236}">
                <a16:creationId xmlns:a16="http://schemas.microsoft.com/office/drawing/2014/main" id="{43B73745-73AD-BF6B-EA97-9587DFFB4CE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90509" y="4476750"/>
            <a:ext cx="190500" cy="152400"/>
          </a:xfrm>
          <a:prstGeom prst="rect">
            <a:avLst/>
          </a:prstGeom>
        </p:spPr>
      </p:pic>
      <p:sp>
        <p:nvSpPr>
          <p:cNvPr id="72" name="Text 21">
            <a:extLst>
              <a:ext uri="{FF2B5EF4-FFF2-40B4-BE49-F238E27FC236}">
                <a16:creationId xmlns:a16="http://schemas.microsoft.com/office/drawing/2014/main" id="{C393AC96-0D20-D73A-3A52-5C2BC3683F70}"/>
              </a:ext>
            </a:extLst>
          </p:cNvPr>
          <p:cNvSpPr/>
          <p:nvPr/>
        </p:nvSpPr>
        <p:spPr>
          <a:xfrm>
            <a:off x="10190559" y="4343400"/>
            <a:ext cx="1131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Task Success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90B498CB-6AD3-E4A0-A13B-B4DD7A93BCF5}"/>
              </a:ext>
            </a:extLst>
          </p:cNvPr>
          <p:cNvSpPr/>
          <p:nvPr/>
        </p:nvSpPr>
        <p:spPr>
          <a:xfrm>
            <a:off x="10190559" y="457200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성공률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382077"/>
            <a:ext cx="5181600" cy="304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3258377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513" y="3448877"/>
            <a:ext cx="20002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9725" y="3439352"/>
            <a:ext cx="2476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9325" y="3067877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1725" y="3210752"/>
            <a:ext cx="15240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52725" y="3067877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5125" y="3210752"/>
            <a:ext cx="15240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6125" y="3067877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8525" y="3210752"/>
            <a:ext cx="15240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9525" y="3067877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1925" y="3210752"/>
            <a:ext cx="15240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2925" y="3067877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5325" y="3210752"/>
            <a:ext cx="15240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86325" y="3067877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8725" y="3210752"/>
            <a:ext cx="15240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19425" y="3601277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1825" y="3744152"/>
            <a:ext cx="15240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52825" y="3601277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5225" y="3744152"/>
            <a:ext cx="152400" cy="1714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86225" y="3601277"/>
            <a:ext cx="4572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38625" y="3744152"/>
            <a:ext cx="152400" cy="1714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9700" y="4668077"/>
            <a:ext cx="358140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1524000"/>
            <a:ext cx="2514600" cy="1143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1676400"/>
            <a:ext cx="38100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67800" y="1524000"/>
            <a:ext cx="2514600" cy="1143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20200" y="1676400"/>
            <a:ext cx="381000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2819400"/>
            <a:ext cx="2514600" cy="1143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2971800"/>
            <a:ext cx="38100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67800" y="2819400"/>
            <a:ext cx="2514600" cy="1143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20200" y="2971800"/>
            <a:ext cx="381000" cy="381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381500"/>
            <a:ext cx="5181600" cy="1827145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818245"/>
            <a:ext cx="12192000" cy="381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6818245"/>
            <a:ext cx="7851577" cy="3810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609600" y="457200"/>
            <a:ext cx="113821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Force Multiplier - </a:t>
            </a:r>
            <a:r>
              <a:rPr lang="en-US" sz="27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1명이 100명을 활성화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1"/>
          <p:cNvSpPr/>
          <p:nvPr/>
        </p:nvSpPr>
        <p:spPr>
          <a:xfrm>
            <a:off x="838200" y="2610677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엔지니어의 레버리지 효과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2"/>
          <p:cNvSpPr/>
          <p:nvPr/>
        </p:nvSpPr>
        <p:spPr>
          <a:xfrm>
            <a:off x="365760" y="4325177"/>
            <a:ext cx="5669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10시간 투자 → 주 90시간 절감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3"/>
          <p:cNvSpPr/>
          <p:nvPr/>
        </p:nvSpPr>
        <p:spPr>
          <a:xfrm>
            <a:off x="1523925" y="4820478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번의 개선이 수십 명의 개발자 경험을 바꾼다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6400800" y="11049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레버리지 사고 4단계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6700838" y="1752600"/>
            <a:ext cx="102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7048500" y="1752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패턴 발견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6553200" y="2133600"/>
            <a:ext cx="2209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팀별 문제를 넘어 조직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전체의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공통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문제를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9367838" y="1752600"/>
            <a:ext cx="102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9715500" y="17526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추상화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9220200" y="2133600"/>
            <a:ext cx="2209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공통 문제를 추상화하고,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표준화된 형태로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일반화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6700838" y="3048000"/>
            <a:ext cx="102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7048500" y="30480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확산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6553200" y="3429000"/>
            <a:ext cx="2209800" cy="41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전체로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솔루션을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확산</a:t>
            </a:r>
            <a:endParaRPr lang="en-US" sz="1200" dirty="0">
              <a:solidFill>
                <a:srgbClr val="D1D5D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새로운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사용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패턴을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촉진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9367838" y="3048000"/>
            <a:ext cx="102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9715500" y="30480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측정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9220200" y="3429000"/>
            <a:ext cx="2209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효과를 측정하고, 지속적인 개선을 통해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레버리지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극대화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6591300" y="4572000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질문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6591300" y="49530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</a:t>
            </a:r>
            <a:r>
              <a:rPr lang="en-US" sz="110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개발자의</a:t>
            </a:r>
            <a:r>
              <a:rPr lang="en-US" sz="11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사고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6591300" y="518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en-US" sz="12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문제를 </a:t>
            </a:r>
            <a:r>
              <a:rPr lang="en-US" sz="12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해결하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9105900" y="49530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</a:t>
            </a:r>
            <a:r>
              <a:rPr lang="en-US" sz="110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엔지니어의</a:t>
            </a:r>
            <a:r>
              <a:rPr lang="en-US" sz="11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사고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 28"/>
          <p:cNvSpPr/>
          <p:nvPr/>
        </p:nvSpPr>
        <p:spPr>
          <a:xfrm>
            <a:off x="9105900" y="5181599"/>
            <a:ext cx="2324100" cy="268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"모든 팀이 겪는 문제인가?"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Text 29"/>
          <p:cNvSpPr/>
          <p:nvPr/>
        </p:nvSpPr>
        <p:spPr>
          <a:xfrm>
            <a:off x="6591300" y="555859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1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 방식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Text 30"/>
          <p:cNvSpPr/>
          <p:nvPr/>
        </p:nvSpPr>
        <p:spPr>
          <a:xfrm>
            <a:off x="6591300" y="5787190"/>
            <a:ext cx="2324100" cy="26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One-off 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스크립트</a:t>
            </a:r>
            <a:r>
              <a:rPr lang="en-US" altLang="ko-KR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수동 대응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Text 31"/>
          <p:cNvSpPr/>
          <p:nvPr/>
        </p:nvSpPr>
        <p:spPr>
          <a:xfrm>
            <a:off x="9105900" y="555693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1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 방식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Text 32"/>
          <p:cNvSpPr/>
          <p:nvPr/>
        </p:nvSpPr>
        <p:spPr>
          <a:xfrm>
            <a:off x="9105900" y="5785535"/>
            <a:ext cx="2476500" cy="265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재사용</a:t>
            </a: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가능한 플랫폼/</a:t>
            </a:r>
            <a:r>
              <a:rPr lang="en-US" sz="12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</a:t>
            </a: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 구축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Text 33"/>
          <p:cNvSpPr/>
          <p:nvPr/>
        </p:nvSpPr>
        <p:spPr>
          <a:xfrm>
            <a:off x="609600" y="5791200"/>
            <a:ext cx="5181600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i="1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</a:t>
            </a:r>
            <a:r>
              <a:rPr lang="en-US" sz="1350" i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50" i="1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엔지니어는</a:t>
            </a:r>
            <a:r>
              <a:rPr lang="en-US" sz="1350" i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50" i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</a:t>
            </a:r>
            <a:r>
              <a:rPr lang="en-US" sz="1350" i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팀이 아닌 </a:t>
            </a:r>
            <a:r>
              <a:rPr lang="en-US" sz="1350" i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전체를</a:t>
            </a:r>
            <a:r>
              <a:rPr lang="en-US" sz="1350" i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50" i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바라</a:t>
            </a:r>
            <a:r>
              <a:rPr lang="ko-KR" altLang="en-US" sz="1350" i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봐야 한</a:t>
            </a:r>
            <a:r>
              <a:rPr lang="en-US" sz="1350" i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</a:t>
            </a:r>
            <a:r>
              <a:rPr lang="en-US" sz="1350" i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5356F26F-FB59-4446-0F8D-D2B9DB7240B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1219431"/>
            <a:ext cx="171450" cy="228600"/>
          </a:xfrm>
          <a:prstGeom prst="rect">
            <a:avLst/>
          </a:prstGeom>
        </p:spPr>
      </p:pic>
      <p:sp>
        <p:nvSpPr>
          <p:cNvPr id="75" name="Text 2">
            <a:extLst>
              <a:ext uri="{FF2B5EF4-FFF2-40B4-BE49-F238E27FC236}">
                <a16:creationId xmlns:a16="http://schemas.microsoft.com/office/drawing/2014/main" id="{02709077-B4D5-2FE2-2CC5-1A55BAF49141}"/>
              </a:ext>
            </a:extLst>
          </p:cNvPr>
          <p:cNvSpPr/>
          <p:nvPr/>
        </p:nvSpPr>
        <p:spPr>
          <a:xfrm>
            <a:off x="857250" y="1171806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공감은 플랫폼 성공의 비밀 무기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Text 3">
            <a:extLst>
              <a:ext uri="{FF2B5EF4-FFF2-40B4-BE49-F238E27FC236}">
                <a16:creationId xmlns:a16="http://schemas.microsoft.com/office/drawing/2014/main" id="{C4B5B1CD-290C-393D-5C0C-59D4D7970E48}"/>
              </a:ext>
            </a:extLst>
          </p:cNvPr>
          <p:cNvSpPr/>
          <p:nvPr/>
        </p:nvSpPr>
        <p:spPr>
          <a:xfrm>
            <a:off x="609600" y="1590906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엔지니어는 생산성을 증폭시키는 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Force Multiplier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300" dirty="0">
              <a:solidFill>
                <a:srgbClr val="D1D5D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 한 번의 개선이 수십 명의 개발자 경험을 바꿀 수 있습니다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38250"/>
            <a:ext cx="4419600" cy="4362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543050"/>
            <a:ext cx="5334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1657350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305050"/>
            <a:ext cx="3810000" cy="419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836446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950746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460334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4798596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700" y="4912896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0" y="2352675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250" y="2352675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10188" y="3152775"/>
            <a:ext cx="1571625" cy="1333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62800" y="1238250"/>
            <a:ext cx="4419600" cy="4362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67600" y="1543050"/>
            <a:ext cx="533400" cy="533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0" y="165735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7600" y="2305050"/>
            <a:ext cx="3810000" cy="419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67600" y="2836446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91425" y="2950746"/>
            <a:ext cx="1333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67600" y="3460334"/>
            <a:ext cx="3810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72375" y="3574634"/>
            <a:ext cx="1714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67600" y="4798596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81900" y="4912896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5841332"/>
            <a:ext cx="10972800" cy="647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819900"/>
            <a:ext cx="8131969" cy="38100"/>
          </a:xfrm>
          <a:prstGeom prst="rect">
            <a:avLst/>
          </a:prstGeom>
        </p:spPr>
      </p:pic>
      <p:sp>
        <p:nvSpPr>
          <p:cNvPr id="33" name="Text 1"/>
          <p:cNvSpPr/>
          <p:nvPr/>
        </p:nvSpPr>
        <p:spPr>
          <a:xfrm>
            <a:off x="1600200" y="1657350"/>
            <a:ext cx="13373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개발자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2"/>
          <p:cNvSpPr/>
          <p:nvPr/>
        </p:nvSpPr>
        <p:spPr>
          <a:xfrm>
            <a:off x="914400" y="23050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</a:t>
            </a:r>
            <a:r>
              <a:rPr lang="en-US" sz="16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</a:t>
            </a:r>
            <a:r>
              <a:rPr 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만드는</a:t>
            </a:r>
            <a:r>
              <a:rPr 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사람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3"/>
          <p:cNvSpPr/>
          <p:nvPr/>
        </p:nvSpPr>
        <p:spPr>
          <a:xfrm>
            <a:off x="1447800" y="2836446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4"/>
          <p:cNvSpPr/>
          <p:nvPr/>
        </p:nvSpPr>
        <p:spPr>
          <a:xfrm>
            <a:off x="1447800" y="3103146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 사용자 (고객, 최종 사용자)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5"/>
          <p:cNvSpPr/>
          <p:nvPr/>
        </p:nvSpPr>
        <p:spPr>
          <a:xfrm>
            <a:off x="1447800" y="3460334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기여 방식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6"/>
          <p:cNvSpPr/>
          <p:nvPr/>
        </p:nvSpPr>
        <p:spPr>
          <a:xfrm>
            <a:off x="1447800" y="3727034"/>
            <a:ext cx="133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 문제 해결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7"/>
          <p:cNvSpPr/>
          <p:nvPr/>
        </p:nvSpPr>
        <p:spPr>
          <a:xfrm>
            <a:off x="1447800" y="4798596"/>
            <a:ext cx="236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 지표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8"/>
          <p:cNvSpPr/>
          <p:nvPr/>
        </p:nvSpPr>
        <p:spPr>
          <a:xfrm>
            <a:off x="1447800" y="50652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출시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만족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sz="13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비즈니스</a:t>
            </a: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KPI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9"/>
          <p:cNvSpPr/>
          <p:nvPr/>
        </p:nvSpPr>
        <p:spPr>
          <a:xfrm>
            <a:off x="5981700" y="2495550"/>
            <a:ext cx="2743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VS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5462588" y="33051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</a:t>
            </a: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가치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5335905" y="3648075"/>
            <a:ext cx="15201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100" dirty="0">
                <a:solidFill>
                  <a:srgbClr val="F3F4F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창조</a:t>
            </a:r>
            <a:r>
              <a:rPr lang="en-US" altLang="ko-KR" sz="1100" dirty="0">
                <a:solidFill>
                  <a:srgbClr val="F3F4F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(Creation)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5462588" y="3914775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vs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5335905" y="4143375"/>
            <a:ext cx="15201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100" dirty="0">
                <a:solidFill>
                  <a:srgbClr val="F3F4F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증폭</a:t>
            </a:r>
            <a:r>
              <a:rPr lang="en-US" altLang="ko-KR" sz="1100" dirty="0">
                <a:solidFill>
                  <a:srgbClr val="F3F4F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(Amplification)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8153400" y="1657350"/>
            <a:ext cx="18402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엔지니어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7467600" y="230505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기능을 더  잘 만들</a:t>
            </a: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 있게 </a:t>
            </a:r>
            <a:r>
              <a:rPr lang="en-US" sz="16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</a:t>
            </a:r>
            <a:r>
              <a:rPr 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사람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8001000" y="2836446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8001000" y="3103146"/>
            <a:ext cx="213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내부 개발자 (동료 엔지니어)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8001000" y="3460334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기여 방식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8000999" y="3727034"/>
            <a:ext cx="1781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해결 방식을 시스템화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8001000" y="4798596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 지표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8001000" y="5065296"/>
            <a:ext cx="2846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채택률, 개발자 만족도(eNPS), DORA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22"/>
          <p:cNvSpPr/>
          <p:nvPr/>
        </p:nvSpPr>
        <p:spPr>
          <a:xfrm>
            <a:off x="2594610" y="6012782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"일반 개발자는 </a:t>
            </a:r>
            <a:r>
              <a:rPr lang="en-US" sz="1350" i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건물을 짓는 사람 </a:t>
            </a:r>
            <a:r>
              <a:rPr lang="en-US" sz="1350" i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이고, 플랫폼 엔지니어는 </a:t>
            </a:r>
            <a:r>
              <a:rPr lang="en-US" sz="1350" i="1" dirty="0">
                <a:solidFill>
                  <a:srgbClr val="2DD4B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나은 도구와 청사진을 제공하는 사람 </a:t>
            </a:r>
            <a:r>
              <a:rPr lang="en-US" sz="1350" i="1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이다."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Image 12" descr="preencoded.png">
            <a:extLst>
              <a:ext uri="{FF2B5EF4-FFF2-40B4-BE49-F238E27FC236}">
                <a16:creationId xmlns:a16="http://schemas.microsoft.com/office/drawing/2014/main" id="{50CF2B5D-731F-ADC2-B266-B36657EE48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4105275"/>
            <a:ext cx="381000" cy="381000"/>
          </a:xfrm>
          <a:prstGeom prst="rect">
            <a:avLst/>
          </a:prstGeom>
        </p:spPr>
      </p:pic>
      <p:pic>
        <p:nvPicPr>
          <p:cNvPr id="55" name="Image 25" descr="preencoded.png">
            <a:extLst>
              <a:ext uri="{FF2B5EF4-FFF2-40B4-BE49-F238E27FC236}">
                <a16:creationId xmlns:a16="http://schemas.microsoft.com/office/drawing/2014/main" id="{98AB385F-3A4E-EFEB-064F-223EEA1CCB3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67600" y="4105275"/>
            <a:ext cx="381000" cy="381000"/>
          </a:xfrm>
          <a:prstGeom prst="rect">
            <a:avLst/>
          </a:prstGeom>
        </p:spPr>
      </p:pic>
      <p:sp>
        <p:nvSpPr>
          <p:cNvPr id="57" name="Text 7">
            <a:extLst>
              <a:ext uri="{FF2B5EF4-FFF2-40B4-BE49-F238E27FC236}">
                <a16:creationId xmlns:a16="http://schemas.microsoft.com/office/drawing/2014/main" id="{3B4E4A08-A0C2-4DF8-A85D-6C7A99194F74}"/>
              </a:ext>
            </a:extLst>
          </p:cNvPr>
          <p:cNvSpPr/>
          <p:nvPr/>
        </p:nvSpPr>
        <p:spPr>
          <a:xfrm>
            <a:off x="1447800" y="4105275"/>
            <a:ext cx="236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결과물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FE5EC213-F398-EF25-EC5B-CDF020574168}"/>
              </a:ext>
            </a:extLst>
          </p:cNvPr>
          <p:cNvSpPr/>
          <p:nvPr/>
        </p:nvSpPr>
        <p:spPr>
          <a:xfrm>
            <a:off x="1447800" y="4371975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 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기능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065E8ED7-7F2F-6F7F-6842-311FF09BD117}"/>
              </a:ext>
            </a:extLst>
          </p:cNvPr>
          <p:cNvSpPr/>
          <p:nvPr/>
        </p:nvSpPr>
        <p:spPr>
          <a:xfrm>
            <a:off x="8001000" y="4105275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결과물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89DE1B14-6CD4-29BE-E8A9-B278A4778BBD}"/>
              </a:ext>
            </a:extLst>
          </p:cNvPr>
          <p:cNvSpPr/>
          <p:nvPr/>
        </p:nvSpPr>
        <p:spPr>
          <a:xfrm>
            <a:off x="8001000" y="4371975"/>
            <a:ext cx="2846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도구 </a:t>
            </a:r>
            <a:r>
              <a:rPr lang="en-US" altLang="ko-KR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3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문화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1" name="Image 11" descr="preencoded.png">
            <a:extLst>
              <a:ext uri="{FF2B5EF4-FFF2-40B4-BE49-F238E27FC236}">
                <a16:creationId xmlns:a16="http://schemas.microsoft.com/office/drawing/2014/main" id="{948F56E1-B819-0D09-E37B-EB5193DC9EC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7197" y="4208294"/>
            <a:ext cx="171450" cy="152400"/>
          </a:xfrm>
          <a:prstGeom prst="rect">
            <a:avLst/>
          </a:prstGeom>
        </p:spPr>
      </p:pic>
      <p:pic>
        <p:nvPicPr>
          <p:cNvPr id="62" name="Image 11" descr="preencoded.png">
            <a:extLst>
              <a:ext uri="{FF2B5EF4-FFF2-40B4-BE49-F238E27FC236}">
                <a16:creationId xmlns:a16="http://schemas.microsoft.com/office/drawing/2014/main" id="{41E263C4-F172-D033-ECCF-36CC2576BE5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72374" y="4224340"/>
            <a:ext cx="171450" cy="152400"/>
          </a:xfrm>
          <a:prstGeom prst="rect">
            <a:avLst/>
          </a:prstGeom>
        </p:spPr>
      </p:pic>
      <p:pic>
        <p:nvPicPr>
          <p:cNvPr id="63" name="Image 24" descr="preencoded.png">
            <a:extLst>
              <a:ext uri="{FF2B5EF4-FFF2-40B4-BE49-F238E27FC236}">
                <a16:creationId xmlns:a16="http://schemas.microsoft.com/office/drawing/2014/main" id="{D47F756D-D3EC-3368-ACE3-C7E161F8DAE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5220" y="3566614"/>
            <a:ext cx="171450" cy="152400"/>
          </a:xfrm>
          <a:prstGeom prst="rect">
            <a:avLst/>
          </a:prstGeom>
        </p:spPr>
      </p:pic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FEAC1D32-0063-C397-BA74-744ECC83310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9600" y="914400"/>
            <a:ext cx="635000" cy="38100"/>
          </a:xfrm>
          <a:prstGeom prst="rect">
            <a:avLst/>
          </a:prstGeom>
        </p:spPr>
      </p:pic>
      <p:sp>
        <p:nvSpPr>
          <p:cNvPr id="68" name="Text 0">
            <a:extLst>
              <a:ext uri="{FF2B5EF4-FFF2-40B4-BE49-F238E27FC236}">
                <a16:creationId xmlns:a16="http://schemas.microsoft.com/office/drawing/2014/main" id="{D1DF4519-F0F1-11A5-57ED-757940797770}"/>
              </a:ext>
            </a:extLst>
          </p:cNvPr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개발자와 플랫폼 엔지니어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2190" y="1181100"/>
            <a:ext cx="1650705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458" y="1181100"/>
            <a:ext cx="2108966" cy="4286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4858" y="1266825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838325"/>
            <a:ext cx="10972800" cy="3810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1838325"/>
            <a:ext cx="109728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990725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2066925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600325"/>
            <a:ext cx="109728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2752725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300" y="2828925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362325"/>
            <a:ext cx="10972800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514725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3590925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124325"/>
            <a:ext cx="10972800" cy="762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276725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300" y="4352925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5038725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7725" y="5114925"/>
            <a:ext cx="28575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819900"/>
            <a:ext cx="8400157" cy="381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역할과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마인드셋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4220498" y="1266824"/>
            <a:ext cx="120153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개발자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 2"/>
          <p:cNvSpPr/>
          <p:nvPr/>
        </p:nvSpPr>
        <p:spPr>
          <a:xfrm>
            <a:off x="8100123" y="1266825"/>
            <a:ext cx="16030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엔지니어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3"/>
          <p:cNvSpPr/>
          <p:nvPr/>
        </p:nvSpPr>
        <p:spPr>
          <a:xfrm>
            <a:off x="1333500" y="2118059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4"/>
          <p:cNvSpPr/>
          <p:nvPr/>
        </p:nvSpPr>
        <p:spPr>
          <a:xfrm>
            <a:off x="2956471" y="1990725"/>
            <a:ext cx="38861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 완성, 출시 속도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5"/>
          <p:cNvSpPr/>
          <p:nvPr/>
        </p:nvSpPr>
        <p:spPr>
          <a:xfrm>
            <a:off x="7345561" y="1990725"/>
            <a:ext cx="40842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 전체 생산성·협업 증폭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6"/>
          <p:cNvSpPr/>
          <p:nvPr/>
        </p:nvSpPr>
        <p:spPr>
          <a:xfrm>
            <a:off x="1333500" y="2847975"/>
            <a:ext cx="834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사고 범위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7"/>
          <p:cNvSpPr/>
          <p:nvPr/>
        </p:nvSpPr>
        <p:spPr>
          <a:xfrm>
            <a:off x="2956471" y="2752725"/>
            <a:ext cx="3779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팀/제품 중심 (마이크로)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 8"/>
          <p:cNvSpPr/>
          <p:nvPr/>
        </p:nvSpPr>
        <p:spPr>
          <a:xfrm>
            <a:off x="7345561" y="2752725"/>
            <a:ext cx="40842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전사 경험 (매크로)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9"/>
          <p:cNvSpPr/>
          <p:nvPr/>
        </p:nvSpPr>
        <p:spPr>
          <a:xfrm>
            <a:off x="1333500" y="3609975"/>
            <a:ext cx="834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가치 측정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2956471" y="3514725"/>
            <a:ext cx="3779490" cy="466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지표, </a:t>
            </a:r>
            <a:r>
              <a:rPr lang="en-US" sz="16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버그</a:t>
            </a:r>
            <a:r>
              <a:rPr 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</a:t>
            </a:r>
            <a:r>
              <a:rPr lang="ko-KR" alt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Output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7345561" y="3514724"/>
            <a:ext cx="4084290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채택률, eNPS, DORA - Outcome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1333500" y="4371975"/>
            <a:ext cx="834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접근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2956471" y="4276724"/>
            <a:ext cx="37794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눈앞의 이슈를 신속히 해결 (Firefighting)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7345561" y="4276725"/>
            <a:ext cx="4084290" cy="45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시스템적 근본 제거, 패턴 찾기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1333500" y="5133975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2956471" y="5038725"/>
            <a:ext cx="4084290" cy="466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내부 위주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7345561" y="5038724"/>
            <a:ext cx="40842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 전체+경영진+커뮤니티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609600" y="5876925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개발자가 기능의 </a:t>
            </a:r>
            <a:r>
              <a:rPr lang="en-US" altLang="ko-KR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</a:t>
            </a:r>
            <a:r>
              <a:rPr lang="en-US" altLang="ko-KR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통해 평가 받는다면</a:t>
            </a:r>
            <a:r>
              <a:rPr lang="en-US" altLang="ko-KR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플랫폼 엔지니어는 생산성의 </a:t>
            </a:r>
            <a:r>
              <a:rPr lang="en-US" altLang="ko-KR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파급력</a:t>
            </a:r>
            <a:r>
              <a:rPr lang="en-US" altLang="ko-KR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통해 평가받는다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5" name="Image 6" descr="preencoded.png">
            <a:extLst>
              <a:ext uri="{FF2B5EF4-FFF2-40B4-BE49-F238E27FC236}">
                <a16:creationId xmlns:a16="http://schemas.microsoft.com/office/drawing/2014/main" id="{3D851C2D-904D-A2FB-F0DD-2754151CD5B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06014" y="1304426"/>
            <a:ext cx="205383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3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900"/>
            <a:ext cx="8668494" cy="381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엔지니어의 시간 지도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1"/>
          <p:cNvSpPr/>
          <p:nvPr/>
        </p:nvSpPr>
        <p:spPr>
          <a:xfrm>
            <a:off x="1100916" y="1181100"/>
            <a:ext cx="219700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 배분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8"/>
          <p:cNvSpPr/>
          <p:nvPr/>
        </p:nvSpPr>
        <p:spPr>
          <a:xfrm>
            <a:off x="6884402" y="1181100"/>
            <a:ext cx="2987576" cy="29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역할 스펙트럼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2539901" y="6109008"/>
            <a:ext cx="70289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"기술과 사람 사이에서 균형을 잡으며 시간을 배분하는 하이브리드 인재가 플랫폼 팀의 힘을 낼 것입니다."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6" name="Image 7" descr="preencoded.png">
            <a:extLst>
              <a:ext uri="{FF2B5EF4-FFF2-40B4-BE49-F238E27FC236}">
                <a16:creationId xmlns:a16="http://schemas.microsoft.com/office/drawing/2014/main" id="{85F52F61-66A0-E4AC-D081-82A03339E2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7375" y="1423175"/>
            <a:ext cx="2686050" cy="2686050"/>
          </a:xfrm>
          <a:prstGeom prst="rect">
            <a:avLst/>
          </a:prstGeom>
        </p:spPr>
      </p:pic>
      <p:pic>
        <p:nvPicPr>
          <p:cNvPr id="67" name="Image 8" descr="preencoded.png">
            <a:extLst>
              <a:ext uri="{FF2B5EF4-FFF2-40B4-BE49-F238E27FC236}">
                <a16:creationId xmlns:a16="http://schemas.microsoft.com/office/drawing/2014/main" id="{2BCFD313-F4FE-8128-2FC7-8EDB1CD4E7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105675"/>
            <a:ext cx="1549301" cy="1333500"/>
          </a:xfrm>
          <a:prstGeom prst="rect">
            <a:avLst/>
          </a:prstGeom>
        </p:spPr>
      </p:pic>
      <p:pic>
        <p:nvPicPr>
          <p:cNvPr id="68" name="Image 9" descr="preencoded.png">
            <a:extLst>
              <a:ext uri="{FF2B5EF4-FFF2-40B4-BE49-F238E27FC236}">
                <a16:creationId xmlns:a16="http://schemas.microsoft.com/office/drawing/2014/main" id="{25B2F5E0-8BC1-808D-31EC-1465743002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284895"/>
            <a:ext cx="152400" cy="152400"/>
          </a:xfrm>
          <a:prstGeom prst="rect">
            <a:avLst/>
          </a:prstGeom>
        </p:spPr>
      </p:pic>
      <p:pic>
        <p:nvPicPr>
          <p:cNvPr id="70" name="Image 11" descr="preencoded.png">
            <a:extLst>
              <a:ext uri="{FF2B5EF4-FFF2-40B4-BE49-F238E27FC236}">
                <a16:creationId xmlns:a16="http://schemas.microsoft.com/office/drawing/2014/main" id="{BEA5F03A-67B7-2FAB-D77A-96FDBB9504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7501" y="4105675"/>
            <a:ext cx="1549450" cy="1333500"/>
          </a:xfrm>
          <a:prstGeom prst="rect">
            <a:avLst/>
          </a:prstGeom>
        </p:spPr>
      </p:pic>
      <p:pic>
        <p:nvPicPr>
          <p:cNvPr id="71" name="Image 12" descr="preencoded.png">
            <a:extLst>
              <a:ext uri="{FF2B5EF4-FFF2-40B4-BE49-F238E27FC236}">
                <a16:creationId xmlns:a16="http://schemas.microsoft.com/office/drawing/2014/main" id="{A2603C53-CE43-2E25-3960-31768BB25C6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78001" y="4284895"/>
            <a:ext cx="152400" cy="152400"/>
          </a:xfrm>
          <a:prstGeom prst="rect">
            <a:avLst/>
          </a:prstGeom>
        </p:spPr>
      </p:pic>
      <p:pic>
        <p:nvPicPr>
          <p:cNvPr id="73" name="Image 14" descr="preencoded.png">
            <a:extLst>
              <a:ext uri="{FF2B5EF4-FFF2-40B4-BE49-F238E27FC236}">
                <a16:creationId xmlns:a16="http://schemas.microsoft.com/office/drawing/2014/main" id="{E695FA5D-0DD0-8DDE-7D9E-4A412D5643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9351" y="4117811"/>
            <a:ext cx="1549450" cy="1333500"/>
          </a:xfrm>
          <a:prstGeom prst="rect">
            <a:avLst/>
          </a:prstGeom>
        </p:spPr>
      </p:pic>
      <p:pic>
        <p:nvPicPr>
          <p:cNvPr id="74" name="Image 15" descr="preencoded.png">
            <a:extLst>
              <a:ext uri="{FF2B5EF4-FFF2-40B4-BE49-F238E27FC236}">
                <a16:creationId xmlns:a16="http://schemas.microsoft.com/office/drawing/2014/main" id="{289FFA7D-3C7A-2014-6BC6-73EFCF1059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6050" y="4284895"/>
            <a:ext cx="152400" cy="152400"/>
          </a:xfrm>
          <a:prstGeom prst="rect">
            <a:avLst/>
          </a:prstGeom>
        </p:spPr>
      </p:pic>
      <p:sp>
        <p:nvSpPr>
          <p:cNvPr id="76" name="Text 3">
            <a:extLst>
              <a:ext uri="{FF2B5EF4-FFF2-40B4-BE49-F238E27FC236}">
                <a16:creationId xmlns:a16="http://schemas.microsoft.com/office/drawing/2014/main" id="{E46EF634-515F-F653-05C3-55752CBDFE8D}"/>
              </a:ext>
            </a:extLst>
          </p:cNvPr>
          <p:cNvSpPr/>
          <p:nvPr/>
        </p:nvSpPr>
        <p:spPr>
          <a:xfrm>
            <a:off x="1028700" y="4251159"/>
            <a:ext cx="939701" cy="2286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 err="1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기술·플랫폼</a:t>
            </a:r>
            <a:r>
              <a:rPr lang="en-US" sz="1100" b="1" dirty="0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구축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50404CB3-4F20-6726-7A9F-EAF133D7CE08}"/>
              </a:ext>
            </a:extLst>
          </p:cNvPr>
          <p:cNvSpPr/>
          <p:nvPr/>
        </p:nvSpPr>
        <p:spPr>
          <a:xfrm>
            <a:off x="800100" y="4582647"/>
            <a:ext cx="11683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 코딩과 플랫폼 개발에 전념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Text 5">
            <a:extLst>
              <a:ext uri="{FF2B5EF4-FFF2-40B4-BE49-F238E27FC236}">
                <a16:creationId xmlns:a16="http://schemas.microsoft.com/office/drawing/2014/main" id="{4D5A44B1-288E-0A5A-06EF-1DF640123399}"/>
              </a:ext>
            </a:extLst>
          </p:cNvPr>
          <p:cNvSpPr/>
          <p:nvPr/>
        </p:nvSpPr>
        <p:spPr>
          <a:xfrm>
            <a:off x="800100" y="5096712"/>
            <a:ext cx="5372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 비중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Text 6">
            <a:extLst>
              <a:ext uri="{FF2B5EF4-FFF2-40B4-BE49-F238E27FC236}">
                <a16:creationId xmlns:a16="http://schemas.microsoft.com/office/drawing/2014/main" id="{86313EF6-B8CC-8733-514C-075114D457DF}"/>
              </a:ext>
            </a:extLst>
          </p:cNvPr>
          <p:cNvSpPr/>
          <p:nvPr/>
        </p:nvSpPr>
        <p:spPr>
          <a:xfrm>
            <a:off x="1596926" y="5039562"/>
            <a:ext cx="4457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2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50%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5C1517C7-7E11-FDD2-B6C3-A8E3735FD4A6}"/>
              </a:ext>
            </a:extLst>
          </p:cNvPr>
          <p:cNvSpPr/>
          <p:nvPr/>
        </p:nvSpPr>
        <p:spPr>
          <a:xfrm>
            <a:off x="2806601" y="4251159"/>
            <a:ext cx="1014144" cy="2286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 err="1">
                <a:solidFill>
                  <a:srgbClr val="5EEAD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커뮤니케이션·관계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F720A879-A1A0-C99E-80B3-C48246ABD160}"/>
              </a:ext>
            </a:extLst>
          </p:cNvPr>
          <p:cNvSpPr/>
          <p:nvPr/>
        </p:nvSpPr>
        <p:spPr>
          <a:xfrm>
            <a:off x="2578001" y="4582647"/>
            <a:ext cx="11684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내부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개발자들과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소통</a:t>
            </a: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교육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3CB6019-EFF2-9BBF-9735-47DB3D2A4B10}"/>
              </a:ext>
            </a:extLst>
          </p:cNvPr>
          <p:cNvSpPr/>
          <p:nvPr/>
        </p:nvSpPr>
        <p:spPr>
          <a:xfrm>
            <a:off x="2578001" y="5096712"/>
            <a:ext cx="5372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 비중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80883A6F-8B8B-28AB-B7A0-97E83F101132}"/>
              </a:ext>
            </a:extLst>
          </p:cNvPr>
          <p:cNvSpPr/>
          <p:nvPr/>
        </p:nvSpPr>
        <p:spPr>
          <a:xfrm>
            <a:off x="3374975" y="5039562"/>
            <a:ext cx="4457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6CCA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30%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2BF691AD-6B01-5AC5-EA47-0A46C66C273F}"/>
              </a:ext>
            </a:extLst>
          </p:cNvPr>
          <p:cNvSpPr/>
          <p:nvPr/>
        </p:nvSpPr>
        <p:spPr>
          <a:xfrm>
            <a:off x="4584650" y="4251159"/>
            <a:ext cx="939850" cy="2286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9A8D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피드백·지표·개선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4145B2C4-E958-A687-97D9-17A9876E3409}"/>
              </a:ext>
            </a:extLst>
          </p:cNvPr>
          <p:cNvSpPr/>
          <p:nvPr/>
        </p:nvSpPr>
        <p:spPr>
          <a:xfrm>
            <a:off x="4356050" y="4582647"/>
            <a:ext cx="11684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효과 측정하고 지속적 개선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C0F3CBB6-821A-8EBA-1FDC-E3DBA4EA31A6}"/>
              </a:ext>
            </a:extLst>
          </p:cNvPr>
          <p:cNvSpPr/>
          <p:nvPr/>
        </p:nvSpPr>
        <p:spPr>
          <a:xfrm>
            <a:off x="4356050" y="5096712"/>
            <a:ext cx="5372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 비중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352DA69F-4F7E-4B8B-A020-ADD9A92FFCEE}"/>
              </a:ext>
            </a:extLst>
          </p:cNvPr>
          <p:cNvSpPr/>
          <p:nvPr/>
        </p:nvSpPr>
        <p:spPr>
          <a:xfrm>
            <a:off x="5153025" y="5039562"/>
            <a:ext cx="4457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1358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8" name="Image 5" descr="preencoded.png">
            <a:extLst>
              <a:ext uri="{FF2B5EF4-FFF2-40B4-BE49-F238E27FC236}">
                <a16:creationId xmlns:a16="http://schemas.microsoft.com/office/drawing/2014/main" id="{8C573FA2-B3A0-6AB5-11E0-C67CFA48B3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1152026"/>
            <a:ext cx="381000" cy="381000"/>
          </a:xfrm>
          <a:prstGeom prst="rect">
            <a:avLst/>
          </a:prstGeom>
        </p:spPr>
      </p:pic>
      <p:pic>
        <p:nvPicPr>
          <p:cNvPr id="89" name="Image 6" descr="preencoded.png">
            <a:extLst>
              <a:ext uri="{FF2B5EF4-FFF2-40B4-BE49-F238E27FC236}">
                <a16:creationId xmlns:a16="http://schemas.microsoft.com/office/drawing/2014/main" id="{ABCB878D-63CE-0C2E-3AA9-834C295B4D0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1266326"/>
            <a:ext cx="152400" cy="152400"/>
          </a:xfrm>
          <a:prstGeom prst="rect">
            <a:avLst/>
          </a:prstGeom>
        </p:spPr>
      </p:pic>
      <p:pic>
        <p:nvPicPr>
          <p:cNvPr id="90" name="Image 17" descr="preencoded.png">
            <a:extLst>
              <a:ext uri="{FF2B5EF4-FFF2-40B4-BE49-F238E27FC236}">
                <a16:creationId xmlns:a16="http://schemas.microsoft.com/office/drawing/2014/main" id="{402FA9AE-CE39-1CDE-D430-86B1831A6EB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6790" y="1135984"/>
            <a:ext cx="381000" cy="381000"/>
          </a:xfrm>
          <a:prstGeom prst="rect">
            <a:avLst/>
          </a:prstGeom>
        </p:spPr>
      </p:pic>
      <p:pic>
        <p:nvPicPr>
          <p:cNvPr id="91" name="Image 18" descr="preencoded.png">
            <a:extLst>
              <a:ext uri="{FF2B5EF4-FFF2-40B4-BE49-F238E27FC236}">
                <a16:creationId xmlns:a16="http://schemas.microsoft.com/office/drawing/2014/main" id="{74CAFC54-7F4C-82EC-ECE2-A584E09ADCC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92040" y="1250284"/>
            <a:ext cx="190500" cy="152400"/>
          </a:xfrm>
          <a:prstGeom prst="rect">
            <a:avLst/>
          </a:prstGeom>
        </p:spPr>
      </p:pic>
      <p:pic>
        <p:nvPicPr>
          <p:cNvPr id="151" name="Image 19" descr="preencoded.png">
            <a:extLst>
              <a:ext uri="{FF2B5EF4-FFF2-40B4-BE49-F238E27FC236}">
                <a16:creationId xmlns:a16="http://schemas.microsoft.com/office/drawing/2014/main" id="{7ACB6100-246C-35C6-92A7-81D7BC1C67F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1755610"/>
            <a:ext cx="2457450" cy="1752600"/>
          </a:xfrm>
          <a:prstGeom prst="rect">
            <a:avLst/>
          </a:prstGeom>
        </p:spPr>
      </p:pic>
      <p:pic>
        <p:nvPicPr>
          <p:cNvPr id="152" name="Image 20" descr="preencoded.png">
            <a:extLst>
              <a:ext uri="{FF2B5EF4-FFF2-40B4-BE49-F238E27FC236}">
                <a16:creationId xmlns:a16="http://schemas.microsoft.com/office/drawing/2014/main" id="{47FD1C43-DAC2-EAF2-DD8D-FB01B0589F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0" y="1946110"/>
            <a:ext cx="457200" cy="457200"/>
          </a:xfrm>
          <a:prstGeom prst="rect">
            <a:avLst/>
          </a:prstGeom>
        </p:spPr>
      </p:pic>
      <p:pic>
        <p:nvPicPr>
          <p:cNvPr id="153" name="Image 21" descr="preencoded.png">
            <a:extLst>
              <a:ext uri="{FF2B5EF4-FFF2-40B4-BE49-F238E27FC236}">
                <a16:creationId xmlns:a16="http://schemas.microsoft.com/office/drawing/2014/main" id="{9999FEE0-4FB5-BD73-61D5-2A9D485AA18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77038" y="2041360"/>
            <a:ext cx="238125" cy="266700"/>
          </a:xfrm>
          <a:prstGeom prst="rect">
            <a:avLst/>
          </a:prstGeom>
        </p:spPr>
      </p:pic>
      <p:pic>
        <p:nvPicPr>
          <p:cNvPr id="154" name="Image 22" descr="preencoded.png">
            <a:extLst>
              <a:ext uri="{FF2B5EF4-FFF2-40B4-BE49-F238E27FC236}">
                <a16:creationId xmlns:a16="http://schemas.microsoft.com/office/drawing/2014/main" id="{43CD51EC-0E67-D8AB-1363-A1F98DB59BD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4384" r="-1427"/>
          <a:stretch>
            <a:fillRect/>
          </a:stretch>
        </p:blipFill>
        <p:spPr>
          <a:xfrm>
            <a:off x="7266436" y="1965160"/>
            <a:ext cx="684000" cy="266700"/>
          </a:xfrm>
          <a:prstGeom prst="rect">
            <a:avLst/>
          </a:prstGeom>
        </p:spPr>
      </p:pic>
      <p:pic>
        <p:nvPicPr>
          <p:cNvPr id="155" name="Image 23" descr="preencoded.png">
            <a:extLst>
              <a:ext uri="{FF2B5EF4-FFF2-40B4-BE49-F238E27FC236}">
                <a16:creationId xmlns:a16="http://schemas.microsoft.com/office/drawing/2014/main" id="{208160EA-ED84-FF67-F4DC-A53E657FC10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67500" y="2517610"/>
            <a:ext cx="190500" cy="190500"/>
          </a:xfrm>
          <a:prstGeom prst="rect">
            <a:avLst/>
          </a:prstGeom>
        </p:spPr>
      </p:pic>
      <p:pic>
        <p:nvPicPr>
          <p:cNvPr id="156" name="Image 24" descr="preencoded.png">
            <a:extLst>
              <a:ext uri="{FF2B5EF4-FFF2-40B4-BE49-F238E27FC236}">
                <a16:creationId xmlns:a16="http://schemas.microsoft.com/office/drawing/2014/main" id="{5E5C96FC-624C-87F1-2346-A9CBB25DADD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10363" y="2536660"/>
            <a:ext cx="104775" cy="152400"/>
          </a:xfrm>
          <a:prstGeom prst="rect">
            <a:avLst/>
          </a:prstGeom>
        </p:spPr>
      </p:pic>
      <p:pic>
        <p:nvPicPr>
          <p:cNvPr id="157" name="Image 25" descr="preencoded.png">
            <a:extLst>
              <a:ext uri="{FF2B5EF4-FFF2-40B4-BE49-F238E27FC236}">
                <a16:creationId xmlns:a16="http://schemas.microsoft.com/office/drawing/2014/main" id="{B22D80CE-BCB0-40A7-8AFA-78DF9BA7F63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67500" y="2822410"/>
            <a:ext cx="190500" cy="190500"/>
          </a:xfrm>
          <a:prstGeom prst="rect">
            <a:avLst/>
          </a:prstGeom>
        </p:spPr>
      </p:pic>
      <p:pic>
        <p:nvPicPr>
          <p:cNvPr id="158" name="Image 26" descr="preencoded.png">
            <a:extLst>
              <a:ext uri="{FF2B5EF4-FFF2-40B4-BE49-F238E27FC236}">
                <a16:creationId xmlns:a16="http://schemas.microsoft.com/office/drawing/2014/main" id="{9EEC4485-A2AF-EDD6-23EB-312EF295183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10363" y="2841460"/>
            <a:ext cx="104775" cy="152400"/>
          </a:xfrm>
          <a:prstGeom prst="rect">
            <a:avLst/>
          </a:prstGeom>
        </p:spPr>
      </p:pic>
      <p:pic>
        <p:nvPicPr>
          <p:cNvPr id="159" name="Image 27" descr="preencoded.png">
            <a:extLst>
              <a:ext uri="{FF2B5EF4-FFF2-40B4-BE49-F238E27FC236}">
                <a16:creationId xmlns:a16="http://schemas.microsoft.com/office/drawing/2014/main" id="{7996B6E3-AF6B-64C1-E211-997B80CDF63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67500" y="3127210"/>
            <a:ext cx="190500" cy="190500"/>
          </a:xfrm>
          <a:prstGeom prst="rect">
            <a:avLst/>
          </a:prstGeom>
        </p:spPr>
      </p:pic>
      <p:pic>
        <p:nvPicPr>
          <p:cNvPr id="160" name="Image 28" descr="preencoded.png">
            <a:extLst>
              <a:ext uri="{FF2B5EF4-FFF2-40B4-BE49-F238E27FC236}">
                <a16:creationId xmlns:a16="http://schemas.microsoft.com/office/drawing/2014/main" id="{205BE814-1DBE-8C71-BAB5-20ADFAB4675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10363" y="3146260"/>
            <a:ext cx="104775" cy="152400"/>
          </a:xfrm>
          <a:prstGeom prst="rect">
            <a:avLst/>
          </a:prstGeom>
        </p:spPr>
      </p:pic>
      <p:pic>
        <p:nvPicPr>
          <p:cNvPr id="161" name="Image 29" descr="preencoded.png">
            <a:extLst>
              <a:ext uri="{FF2B5EF4-FFF2-40B4-BE49-F238E27FC236}">
                <a16:creationId xmlns:a16="http://schemas.microsoft.com/office/drawing/2014/main" id="{AB19AFA7-E239-9308-2B73-CFC9BF2D61D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24950" y="1755610"/>
            <a:ext cx="2457450" cy="1752600"/>
          </a:xfrm>
          <a:prstGeom prst="rect">
            <a:avLst/>
          </a:prstGeom>
        </p:spPr>
      </p:pic>
      <p:pic>
        <p:nvPicPr>
          <p:cNvPr id="162" name="Image 30" descr="preencoded.png">
            <a:extLst>
              <a:ext uri="{FF2B5EF4-FFF2-40B4-BE49-F238E27FC236}">
                <a16:creationId xmlns:a16="http://schemas.microsoft.com/office/drawing/2014/main" id="{88E45272-7600-6756-D4FC-6576C1C2EF5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15450" y="1946110"/>
            <a:ext cx="457200" cy="457200"/>
          </a:xfrm>
          <a:prstGeom prst="rect">
            <a:avLst/>
          </a:prstGeom>
        </p:spPr>
      </p:pic>
      <p:pic>
        <p:nvPicPr>
          <p:cNvPr id="163" name="Image 31" descr="preencoded.png">
            <a:extLst>
              <a:ext uri="{FF2B5EF4-FFF2-40B4-BE49-F238E27FC236}">
                <a16:creationId xmlns:a16="http://schemas.microsoft.com/office/drawing/2014/main" id="{091B313D-8B21-6AD9-B142-AA74E28A582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48800" y="2041360"/>
            <a:ext cx="190500" cy="266700"/>
          </a:xfrm>
          <a:prstGeom prst="rect">
            <a:avLst/>
          </a:prstGeom>
        </p:spPr>
      </p:pic>
      <p:pic>
        <p:nvPicPr>
          <p:cNvPr id="164" name="Image 32" descr="preencoded.png">
            <a:extLst>
              <a:ext uri="{FF2B5EF4-FFF2-40B4-BE49-F238E27FC236}">
                <a16:creationId xmlns:a16="http://schemas.microsoft.com/office/drawing/2014/main" id="{39099FE8-FA97-7811-E5B1-9938D2F686D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6161" r="-6161"/>
          <a:stretch>
            <a:fillRect/>
          </a:stretch>
        </p:blipFill>
        <p:spPr>
          <a:xfrm>
            <a:off x="9930436" y="1965160"/>
            <a:ext cx="762000" cy="266700"/>
          </a:xfrm>
          <a:prstGeom prst="rect">
            <a:avLst/>
          </a:prstGeom>
        </p:spPr>
      </p:pic>
      <p:pic>
        <p:nvPicPr>
          <p:cNvPr id="165" name="Image 33" descr="preencoded.png">
            <a:extLst>
              <a:ext uri="{FF2B5EF4-FFF2-40B4-BE49-F238E27FC236}">
                <a16:creationId xmlns:a16="http://schemas.microsoft.com/office/drawing/2014/main" id="{37ACC824-BA23-DEB2-55F9-5D6C2233503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315450" y="2517610"/>
            <a:ext cx="190500" cy="190500"/>
          </a:xfrm>
          <a:prstGeom prst="rect">
            <a:avLst/>
          </a:prstGeom>
        </p:spPr>
      </p:pic>
      <p:pic>
        <p:nvPicPr>
          <p:cNvPr id="166" name="Image 34" descr="preencoded.png">
            <a:extLst>
              <a:ext uri="{FF2B5EF4-FFF2-40B4-BE49-F238E27FC236}">
                <a16:creationId xmlns:a16="http://schemas.microsoft.com/office/drawing/2014/main" id="{DBA60E21-7D8D-B46C-ADFA-84D86CD2E22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58313" y="2536660"/>
            <a:ext cx="104775" cy="152400"/>
          </a:xfrm>
          <a:prstGeom prst="rect">
            <a:avLst/>
          </a:prstGeom>
        </p:spPr>
      </p:pic>
      <p:pic>
        <p:nvPicPr>
          <p:cNvPr id="167" name="Image 35" descr="preencoded.png">
            <a:extLst>
              <a:ext uri="{FF2B5EF4-FFF2-40B4-BE49-F238E27FC236}">
                <a16:creationId xmlns:a16="http://schemas.microsoft.com/office/drawing/2014/main" id="{7FEFFEED-6A5E-3D32-F0D1-B8E2FE1E0AE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315450" y="2822410"/>
            <a:ext cx="190500" cy="190500"/>
          </a:xfrm>
          <a:prstGeom prst="rect">
            <a:avLst/>
          </a:prstGeom>
        </p:spPr>
      </p:pic>
      <p:pic>
        <p:nvPicPr>
          <p:cNvPr id="168" name="Image 36" descr="preencoded.png">
            <a:extLst>
              <a:ext uri="{FF2B5EF4-FFF2-40B4-BE49-F238E27FC236}">
                <a16:creationId xmlns:a16="http://schemas.microsoft.com/office/drawing/2014/main" id="{EB885307-DBC0-5CB1-5A17-A62C334FD76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58313" y="2841460"/>
            <a:ext cx="104775" cy="152400"/>
          </a:xfrm>
          <a:prstGeom prst="rect">
            <a:avLst/>
          </a:prstGeom>
        </p:spPr>
      </p:pic>
      <p:pic>
        <p:nvPicPr>
          <p:cNvPr id="169" name="Image 37" descr="preencoded.png">
            <a:extLst>
              <a:ext uri="{FF2B5EF4-FFF2-40B4-BE49-F238E27FC236}">
                <a16:creationId xmlns:a16="http://schemas.microsoft.com/office/drawing/2014/main" id="{158B11C2-C027-AAD6-3AB3-8A0D199B4B18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315450" y="3127210"/>
            <a:ext cx="190500" cy="190500"/>
          </a:xfrm>
          <a:prstGeom prst="rect">
            <a:avLst/>
          </a:prstGeom>
        </p:spPr>
      </p:pic>
      <p:pic>
        <p:nvPicPr>
          <p:cNvPr id="170" name="Image 38" descr="preencoded.png">
            <a:extLst>
              <a:ext uri="{FF2B5EF4-FFF2-40B4-BE49-F238E27FC236}">
                <a16:creationId xmlns:a16="http://schemas.microsoft.com/office/drawing/2014/main" id="{3DA55EE9-7100-5BF2-C866-F9044260C2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58313" y="3146260"/>
            <a:ext cx="104775" cy="152400"/>
          </a:xfrm>
          <a:prstGeom prst="rect">
            <a:avLst/>
          </a:prstGeom>
        </p:spPr>
      </p:pic>
      <p:pic>
        <p:nvPicPr>
          <p:cNvPr id="171" name="Image 39" descr="preencoded.png">
            <a:extLst>
              <a:ext uri="{FF2B5EF4-FFF2-40B4-BE49-F238E27FC236}">
                <a16:creationId xmlns:a16="http://schemas.microsoft.com/office/drawing/2014/main" id="{A4D9D489-56CD-EFCB-F2F8-05EC30198A6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77000" y="3698710"/>
            <a:ext cx="2457450" cy="1752600"/>
          </a:xfrm>
          <a:prstGeom prst="rect">
            <a:avLst/>
          </a:prstGeom>
        </p:spPr>
      </p:pic>
      <p:pic>
        <p:nvPicPr>
          <p:cNvPr id="172" name="Image 40" descr="preencoded.png">
            <a:extLst>
              <a:ext uri="{FF2B5EF4-FFF2-40B4-BE49-F238E27FC236}">
                <a16:creationId xmlns:a16="http://schemas.microsoft.com/office/drawing/2014/main" id="{E3125B8E-A9F5-C207-ADF9-5EA1BFB8F19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667500" y="3889210"/>
            <a:ext cx="457200" cy="457200"/>
          </a:xfrm>
          <a:prstGeom prst="rect">
            <a:avLst/>
          </a:prstGeom>
        </p:spPr>
      </p:pic>
      <p:pic>
        <p:nvPicPr>
          <p:cNvPr id="173" name="Image 41" descr="preencoded.png">
            <a:extLst>
              <a:ext uri="{FF2B5EF4-FFF2-40B4-BE49-F238E27FC236}">
                <a16:creationId xmlns:a16="http://schemas.microsoft.com/office/drawing/2014/main" id="{913EBC65-D850-99DF-EE3A-32CD39017A8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777038" y="3984460"/>
            <a:ext cx="238125" cy="266700"/>
          </a:xfrm>
          <a:prstGeom prst="rect">
            <a:avLst/>
          </a:prstGeom>
        </p:spPr>
      </p:pic>
      <p:pic>
        <p:nvPicPr>
          <p:cNvPr id="174" name="Image 42" descr="preencoded.png">
            <a:extLst>
              <a:ext uri="{FF2B5EF4-FFF2-40B4-BE49-F238E27FC236}">
                <a16:creationId xmlns:a16="http://schemas.microsoft.com/office/drawing/2014/main" id="{5CEC2D09-1B7D-A1F1-BECD-8962F580A65B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1" r="-2761"/>
          <a:stretch>
            <a:fillRect/>
          </a:stretch>
        </p:blipFill>
        <p:spPr>
          <a:xfrm>
            <a:off x="7266436" y="3908260"/>
            <a:ext cx="1119188" cy="266700"/>
          </a:xfrm>
          <a:prstGeom prst="rect">
            <a:avLst/>
          </a:prstGeom>
        </p:spPr>
      </p:pic>
      <p:pic>
        <p:nvPicPr>
          <p:cNvPr id="175" name="Image 43" descr="preencoded.png">
            <a:extLst>
              <a:ext uri="{FF2B5EF4-FFF2-40B4-BE49-F238E27FC236}">
                <a16:creationId xmlns:a16="http://schemas.microsoft.com/office/drawing/2014/main" id="{C286A434-6C5D-8033-2705-DF08249D5075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667500" y="4460710"/>
            <a:ext cx="190500" cy="190500"/>
          </a:xfrm>
          <a:prstGeom prst="rect">
            <a:avLst/>
          </a:prstGeom>
        </p:spPr>
      </p:pic>
      <p:pic>
        <p:nvPicPr>
          <p:cNvPr id="176" name="Image 44" descr="preencoded.png">
            <a:extLst>
              <a:ext uri="{FF2B5EF4-FFF2-40B4-BE49-F238E27FC236}">
                <a16:creationId xmlns:a16="http://schemas.microsoft.com/office/drawing/2014/main" id="{A8E74519-A01B-B1CF-A308-09F1FF1E6FB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10363" y="4479760"/>
            <a:ext cx="104775" cy="152400"/>
          </a:xfrm>
          <a:prstGeom prst="rect">
            <a:avLst/>
          </a:prstGeom>
        </p:spPr>
      </p:pic>
      <p:pic>
        <p:nvPicPr>
          <p:cNvPr id="177" name="Image 45" descr="preencoded.png">
            <a:extLst>
              <a:ext uri="{FF2B5EF4-FFF2-40B4-BE49-F238E27FC236}">
                <a16:creationId xmlns:a16="http://schemas.microsoft.com/office/drawing/2014/main" id="{9107ACFE-9EE7-F1A3-12B1-A87624ACC5D2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667500" y="4765510"/>
            <a:ext cx="190500" cy="190500"/>
          </a:xfrm>
          <a:prstGeom prst="rect">
            <a:avLst/>
          </a:prstGeom>
        </p:spPr>
      </p:pic>
      <p:pic>
        <p:nvPicPr>
          <p:cNvPr id="178" name="Image 46" descr="preencoded.png">
            <a:extLst>
              <a:ext uri="{FF2B5EF4-FFF2-40B4-BE49-F238E27FC236}">
                <a16:creationId xmlns:a16="http://schemas.microsoft.com/office/drawing/2014/main" id="{A52D9293-24DD-CEE7-3C0A-01A1BC113FE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10363" y="4784560"/>
            <a:ext cx="104775" cy="152400"/>
          </a:xfrm>
          <a:prstGeom prst="rect">
            <a:avLst/>
          </a:prstGeom>
        </p:spPr>
      </p:pic>
      <p:pic>
        <p:nvPicPr>
          <p:cNvPr id="179" name="Image 47" descr="preencoded.png">
            <a:extLst>
              <a:ext uri="{FF2B5EF4-FFF2-40B4-BE49-F238E27FC236}">
                <a16:creationId xmlns:a16="http://schemas.microsoft.com/office/drawing/2014/main" id="{BBC09349-DF29-CEA6-D44D-20109655641C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667500" y="5070310"/>
            <a:ext cx="190500" cy="190500"/>
          </a:xfrm>
          <a:prstGeom prst="rect">
            <a:avLst/>
          </a:prstGeom>
        </p:spPr>
      </p:pic>
      <p:pic>
        <p:nvPicPr>
          <p:cNvPr id="180" name="Image 48" descr="preencoded.png">
            <a:extLst>
              <a:ext uri="{FF2B5EF4-FFF2-40B4-BE49-F238E27FC236}">
                <a16:creationId xmlns:a16="http://schemas.microsoft.com/office/drawing/2014/main" id="{4A2579AC-4FF5-A04F-AC88-A99E1D589D9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10363" y="5089360"/>
            <a:ext cx="104775" cy="152400"/>
          </a:xfrm>
          <a:prstGeom prst="rect">
            <a:avLst/>
          </a:prstGeom>
        </p:spPr>
      </p:pic>
      <p:pic>
        <p:nvPicPr>
          <p:cNvPr id="181" name="Image 49" descr="preencoded.png">
            <a:extLst>
              <a:ext uri="{FF2B5EF4-FFF2-40B4-BE49-F238E27FC236}">
                <a16:creationId xmlns:a16="http://schemas.microsoft.com/office/drawing/2014/main" id="{2EC5D326-6D8A-769A-2DB5-742AC774FFDE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124950" y="3698710"/>
            <a:ext cx="2457450" cy="1752600"/>
          </a:xfrm>
          <a:prstGeom prst="rect">
            <a:avLst/>
          </a:prstGeom>
        </p:spPr>
      </p:pic>
      <p:pic>
        <p:nvPicPr>
          <p:cNvPr id="182" name="Image 50" descr="preencoded.png">
            <a:extLst>
              <a:ext uri="{FF2B5EF4-FFF2-40B4-BE49-F238E27FC236}">
                <a16:creationId xmlns:a16="http://schemas.microsoft.com/office/drawing/2014/main" id="{E3F292B4-5F43-7DF8-9586-8D97F60D13A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315450" y="3889210"/>
            <a:ext cx="457200" cy="457200"/>
          </a:xfrm>
          <a:prstGeom prst="rect">
            <a:avLst/>
          </a:prstGeom>
        </p:spPr>
      </p:pic>
      <p:pic>
        <p:nvPicPr>
          <p:cNvPr id="183" name="Image 51" descr="preencoded.png">
            <a:extLst>
              <a:ext uri="{FF2B5EF4-FFF2-40B4-BE49-F238E27FC236}">
                <a16:creationId xmlns:a16="http://schemas.microsoft.com/office/drawing/2014/main" id="{29FC0E0A-8FA4-9118-069D-F0F88B1638DA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2513" r="-2513"/>
          <a:stretch>
            <a:fillRect/>
          </a:stretch>
        </p:blipFill>
        <p:spPr>
          <a:xfrm>
            <a:off x="9905645" y="3908260"/>
            <a:ext cx="1295400" cy="266700"/>
          </a:xfrm>
          <a:prstGeom prst="rect">
            <a:avLst/>
          </a:prstGeom>
        </p:spPr>
      </p:pic>
      <p:pic>
        <p:nvPicPr>
          <p:cNvPr id="184" name="Image 52" descr="preencoded.png">
            <a:extLst>
              <a:ext uri="{FF2B5EF4-FFF2-40B4-BE49-F238E27FC236}">
                <a16:creationId xmlns:a16="http://schemas.microsoft.com/office/drawing/2014/main" id="{2E62E372-FC11-3E39-7905-0BF9DAB6074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315450" y="4460710"/>
            <a:ext cx="190500" cy="190500"/>
          </a:xfrm>
          <a:prstGeom prst="rect">
            <a:avLst/>
          </a:prstGeom>
        </p:spPr>
      </p:pic>
      <p:pic>
        <p:nvPicPr>
          <p:cNvPr id="185" name="Image 53" descr="preencoded.png">
            <a:extLst>
              <a:ext uri="{FF2B5EF4-FFF2-40B4-BE49-F238E27FC236}">
                <a16:creationId xmlns:a16="http://schemas.microsoft.com/office/drawing/2014/main" id="{7901B670-9313-4ED4-BA70-E75C747DCDC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58313" y="4479760"/>
            <a:ext cx="104775" cy="152400"/>
          </a:xfrm>
          <a:prstGeom prst="rect">
            <a:avLst/>
          </a:prstGeom>
        </p:spPr>
      </p:pic>
      <p:pic>
        <p:nvPicPr>
          <p:cNvPr id="186" name="Image 54" descr="preencoded.png">
            <a:extLst>
              <a:ext uri="{FF2B5EF4-FFF2-40B4-BE49-F238E27FC236}">
                <a16:creationId xmlns:a16="http://schemas.microsoft.com/office/drawing/2014/main" id="{9127F2E7-09B1-63BF-C265-5A4BCAECF47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315450" y="4765510"/>
            <a:ext cx="190500" cy="190500"/>
          </a:xfrm>
          <a:prstGeom prst="rect">
            <a:avLst/>
          </a:prstGeom>
        </p:spPr>
      </p:pic>
      <p:pic>
        <p:nvPicPr>
          <p:cNvPr id="187" name="Image 55" descr="preencoded.png">
            <a:extLst>
              <a:ext uri="{FF2B5EF4-FFF2-40B4-BE49-F238E27FC236}">
                <a16:creationId xmlns:a16="http://schemas.microsoft.com/office/drawing/2014/main" id="{E951951A-0263-4A59-951F-510A5B0CDC7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58313" y="4784560"/>
            <a:ext cx="104775" cy="152400"/>
          </a:xfrm>
          <a:prstGeom prst="rect">
            <a:avLst/>
          </a:prstGeom>
        </p:spPr>
      </p:pic>
      <p:pic>
        <p:nvPicPr>
          <p:cNvPr id="188" name="Image 56" descr="preencoded.png">
            <a:extLst>
              <a:ext uri="{FF2B5EF4-FFF2-40B4-BE49-F238E27FC236}">
                <a16:creationId xmlns:a16="http://schemas.microsoft.com/office/drawing/2014/main" id="{C5C8B08D-385A-7BD8-6C22-B29CD7376AE9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315450" y="5070310"/>
            <a:ext cx="190500" cy="190500"/>
          </a:xfrm>
          <a:prstGeom prst="rect">
            <a:avLst/>
          </a:prstGeom>
        </p:spPr>
      </p:pic>
      <p:pic>
        <p:nvPicPr>
          <p:cNvPr id="189" name="Image 57" descr="preencoded.png">
            <a:extLst>
              <a:ext uri="{FF2B5EF4-FFF2-40B4-BE49-F238E27FC236}">
                <a16:creationId xmlns:a16="http://schemas.microsoft.com/office/drawing/2014/main" id="{EE647254-EC2C-23F2-F8D4-371B4DAFBBE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58313" y="5089360"/>
            <a:ext cx="104775" cy="152400"/>
          </a:xfrm>
          <a:prstGeom prst="rect">
            <a:avLst/>
          </a:prstGeom>
        </p:spPr>
      </p:pic>
      <p:sp>
        <p:nvSpPr>
          <p:cNvPr id="190" name="Text 16">
            <a:extLst>
              <a:ext uri="{FF2B5EF4-FFF2-40B4-BE49-F238E27FC236}">
                <a16:creationId xmlns:a16="http://schemas.microsoft.com/office/drawing/2014/main" id="{49381957-3C1A-B224-79A7-4980CE66BB79}"/>
              </a:ext>
            </a:extLst>
          </p:cNvPr>
          <p:cNvSpPr/>
          <p:nvPr/>
        </p:nvSpPr>
        <p:spPr>
          <a:xfrm>
            <a:off x="7277100" y="1965160"/>
            <a:ext cx="845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1" name="Text 17">
            <a:extLst>
              <a:ext uri="{FF2B5EF4-FFF2-40B4-BE49-F238E27FC236}">
                <a16:creationId xmlns:a16="http://schemas.microsoft.com/office/drawing/2014/main" id="{FAF133FD-8065-3E25-844B-CB7AF841ED7D}"/>
              </a:ext>
            </a:extLst>
          </p:cNvPr>
          <p:cNvSpPr/>
          <p:nvPr/>
        </p:nvSpPr>
        <p:spPr>
          <a:xfrm>
            <a:off x="7277100" y="2231860"/>
            <a:ext cx="7048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 중심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2" name="Text 18">
            <a:extLst>
              <a:ext uri="{FF2B5EF4-FFF2-40B4-BE49-F238E27FC236}">
                <a16:creationId xmlns:a16="http://schemas.microsoft.com/office/drawing/2014/main" id="{5C141672-60B6-81F8-EF73-B2FF5275B24D}"/>
              </a:ext>
            </a:extLst>
          </p:cNvPr>
          <p:cNvSpPr/>
          <p:nvPr/>
        </p:nvSpPr>
        <p:spPr>
          <a:xfrm>
            <a:off x="6934200" y="2517610"/>
            <a:ext cx="1623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 코딩과 문제 해결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3" name="Text 19">
            <a:extLst>
              <a:ext uri="{FF2B5EF4-FFF2-40B4-BE49-F238E27FC236}">
                <a16:creationId xmlns:a16="http://schemas.microsoft.com/office/drawing/2014/main" id="{17FA49C7-5361-0E98-67DD-BF894442F122}"/>
              </a:ext>
            </a:extLst>
          </p:cNvPr>
          <p:cNvSpPr/>
          <p:nvPr/>
        </p:nvSpPr>
        <p:spPr>
          <a:xfrm>
            <a:off x="6934200" y="2822410"/>
            <a:ext cx="1428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아키텍처 설계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4" name="Text 20">
            <a:extLst>
              <a:ext uri="{FF2B5EF4-FFF2-40B4-BE49-F238E27FC236}">
                <a16:creationId xmlns:a16="http://schemas.microsoft.com/office/drawing/2014/main" id="{048E2540-6B83-180C-F8EC-C526C9577389}"/>
              </a:ext>
            </a:extLst>
          </p:cNvPr>
          <p:cNvSpPr/>
          <p:nvPr/>
        </p:nvSpPr>
        <p:spPr>
          <a:xfrm>
            <a:off x="6934200" y="3127210"/>
            <a:ext cx="1131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자동화 도구 개발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6" name="Text 22">
            <a:extLst>
              <a:ext uri="{FF2B5EF4-FFF2-40B4-BE49-F238E27FC236}">
                <a16:creationId xmlns:a16="http://schemas.microsoft.com/office/drawing/2014/main" id="{FFDF68F3-5998-B305-6AE2-5AA5FFC67327}"/>
              </a:ext>
            </a:extLst>
          </p:cNvPr>
          <p:cNvSpPr/>
          <p:nvPr/>
        </p:nvSpPr>
        <p:spPr>
          <a:xfrm>
            <a:off x="9925050" y="2231860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우선순위 &amp; 지표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7" name="Text 23">
            <a:extLst>
              <a:ext uri="{FF2B5EF4-FFF2-40B4-BE49-F238E27FC236}">
                <a16:creationId xmlns:a16="http://schemas.microsoft.com/office/drawing/2014/main" id="{9187173A-A3C8-0B3B-A7E3-5412E4F9AD4F}"/>
              </a:ext>
            </a:extLst>
          </p:cNvPr>
          <p:cNvSpPr/>
          <p:nvPr/>
        </p:nvSpPr>
        <p:spPr>
          <a:xfrm>
            <a:off x="9582150" y="2517610"/>
            <a:ext cx="788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로드맵 관리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8" name="Text 24">
            <a:extLst>
              <a:ext uri="{FF2B5EF4-FFF2-40B4-BE49-F238E27FC236}">
                <a16:creationId xmlns:a16="http://schemas.microsoft.com/office/drawing/2014/main" id="{E0C98AB0-E438-9ED5-A1D5-D06C668D0928}"/>
              </a:ext>
            </a:extLst>
          </p:cNvPr>
          <p:cNvSpPr/>
          <p:nvPr/>
        </p:nvSpPr>
        <p:spPr>
          <a:xfrm>
            <a:off x="9582150" y="2822410"/>
            <a:ext cx="11772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지표 분석 및 보고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9" name="Text 25">
            <a:extLst>
              <a:ext uri="{FF2B5EF4-FFF2-40B4-BE49-F238E27FC236}">
                <a16:creationId xmlns:a16="http://schemas.microsoft.com/office/drawing/2014/main" id="{3A969FE1-212A-82D7-A3BB-F2750B289193}"/>
              </a:ext>
            </a:extLst>
          </p:cNvPr>
          <p:cNvSpPr/>
          <p:nvPr/>
        </p:nvSpPr>
        <p:spPr>
          <a:xfrm>
            <a:off x="9582150" y="3127210"/>
            <a:ext cx="1623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 문제 우선순위 설정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1" name="Text 27">
            <a:extLst>
              <a:ext uri="{FF2B5EF4-FFF2-40B4-BE49-F238E27FC236}">
                <a16:creationId xmlns:a16="http://schemas.microsoft.com/office/drawing/2014/main" id="{8DAF4037-E68D-07AD-303C-2F42128166D3}"/>
              </a:ext>
            </a:extLst>
          </p:cNvPr>
          <p:cNvSpPr/>
          <p:nvPr/>
        </p:nvSpPr>
        <p:spPr>
          <a:xfrm>
            <a:off x="7277100" y="4174960"/>
            <a:ext cx="111918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소통 &amp; 교육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2" name="Text 28">
            <a:extLst>
              <a:ext uri="{FF2B5EF4-FFF2-40B4-BE49-F238E27FC236}">
                <a16:creationId xmlns:a16="http://schemas.microsoft.com/office/drawing/2014/main" id="{E97ABAAB-CF04-2D40-C3C6-81FCBC5257E9}"/>
              </a:ext>
            </a:extLst>
          </p:cNvPr>
          <p:cNvSpPr/>
          <p:nvPr/>
        </p:nvSpPr>
        <p:spPr>
          <a:xfrm>
            <a:off x="6934200" y="4460710"/>
            <a:ext cx="1474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채용 및 온보딩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3" name="Text 29">
            <a:extLst>
              <a:ext uri="{FF2B5EF4-FFF2-40B4-BE49-F238E27FC236}">
                <a16:creationId xmlns:a16="http://schemas.microsoft.com/office/drawing/2014/main" id="{34978B7D-730E-9735-624D-C83E7EC65127}"/>
              </a:ext>
            </a:extLst>
          </p:cNvPr>
          <p:cNvSpPr/>
          <p:nvPr/>
        </p:nvSpPr>
        <p:spPr>
          <a:xfrm>
            <a:off x="6934200" y="4765510"/>
            <a:ext cx="982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문서화 및 교육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4" name="Text 30">
            <a:extLst>
              <a:ext uri="{FF2B5EF4-FFF2-40B4-BE49-F238E27FC236}">
                <a16:creationId xmlns:a16="http://schemas.microsoft.com/office/drawing/2014/main" id="{5D5858CB-B570-1F62-3F24-EEB62D6005E6}"/>
              </a:ext>
            </a:extLst>
          </p:cNvPr>
          <p:cNvSpPr/>
          <p:nvPr/>
        </p:nvSpPr>
        <p:spPr>
          <a:xfrm>
            <a:off x="6934200" y="5070310"/>
            <a:ext cx="1577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커뮤니티 활성화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6" name="Text 32">
            <a:extLst>
              <a:ext uri="{FF2B5EF4-FFF2-40B4-BE49-F238E27FC236}">
                <a16:creationId xmlns:a16="http://schemas.microsoft.com/office/drawing/2014/main" id="{3821F382-EBCD-5456-87B4-3A548A641EAA}"/>
              </a:ext>
            </a:extLst>
          </p:cNvPr>
          <p:cNvSpPr/>
          <p:nvPr/>
        </p:nvSpPr>
        <p:spPr>
          <a:xfrm>
            <a:off x="9925050" y="4174960"/>
            <a:ext cx="1295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통합적 사고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7" name="Text 33">
            <a:extLst>
              <a:ext uri="{FF2B5EF4-FFF2-40B4-BE49-F238E27FC236}">
                <a16:creationId xmlns:a16="http://schemas.microsoft.com/office/drawing/2014/main" id="{2E9F2971-5832-C110-E52F-1A355C73BB95}"/>
              </a:ext>
            </a:extLst>
          </p:cNvPr>
          <p:cNvSpPr/>
          <p:nvPr/>
        </p:nvSpPr>
        <p:spPr>
          <a:xfrm>
            <a:off x="9582150" y="4460710"/>
            <a:ext cx="1809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정량(DORA)과 정성(eNPS) 지표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8" name="Text 34">
            <a:extLst>
              <a:ext uri="{FF2B5EF4-FFF2-40B4-BE49-F238E27FC236}">
                <a16:creationId xmlns:a16="http://schemas.microsoft.com/office/drawing/2014/main" id="{C4370ABD-129F-87B5-E4A2-7E6AA78C31ED}"/>
              </a:ext>
            </a:extLst>
          </p:cNvPr>
          <p:cNvSpPr/>
          <p:nvPr/>
        </p:nvSpPr>
        <p:spPr>
          <a:xfrm>
            <a:off x="9582150" y="4765510"/>
            <a:ext cx="1965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기술과 사람 사이 간극 메우기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9" name="Text 35">
            <a:extLst>
              <a:ext uri="{FF2B5EF4-FFF2-40B4-BE49-F238E27FC236}">
                <a16:creationId xmlns:a16="http://schemas.microsoft.com/office/drawing/2014/main" id="{FCD4DF71-399A-C5E8-B93F-80A15BBADCA2}"/>
              </a:ext>
            </a:extLst>
          </p:cNvPr>
          <p:cNvSpPr/>
          <p:nvPr/>
        </p:nvSpPr>
        <p:spPr>
          <a:xfrm>
            <a:off x="9582150" y="5070310"/>
            <a:ext cx="17945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기술적/비기술적 역량 균형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14" name="Image 25" descr="preencoded.png">
            <a:extLst>
              <a:ext uri="{FF2B5EF4-FFF2-40B4-BE49-F238E27FC236}">
                <a16:creationId xmlns:a16="http://schemas.microsoft.com/office/drawing/2014/main" id="{048774D5-57DB-6105-F7BC-1D1CA8F4505B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439877" y="3975418"/>
            <a:ext cx="202489" cy="2699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361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19900"/>
            <a:ext cx="10021788" cy="381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인재 발굴 우선순위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F6BC8A3C-4A6E-3B65-3635-2348B6F0AE94}"/>
              </a:ext>
            </a:extLst>
          </p:cNvPr>
          <p:cNvSpPr/>
          <p:nvPr/>
        </p:nvSpPr>
        <p:spPr>
          <a:xfrm>
            <a:off x="609600" y="1066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내부에서 먼저 찾고</a:t>
            </a:r>
            <a:r>
              <a:rPr lang="en-US" altLang="ko-KR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외부는 관점과 전문성을 보완하는 촉매제로 활용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A06A7FD6-85F5-5E7B-8033-2AF6560656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524000"/>
            <a:ext cx="5524500" cy="3733800"/>
          </a:xfrm>
          <a:prstGeom prst="rect">
            <a:avLst/>
          </a:prstGeom>
        </p:spPr>
      </p:pic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618A732B-DBBE-BFBD-C420-8220C258E5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676400"/>
            <a:ext cx="381000" cy="381000"/>
          </a:xfrm>
          <a:prstGeom prst="rect">
            <a:avLst/>
          </a:prstGeom>
        </p:spPr>
      </p:pic>
      <p:pic>
        <p:nvPicPr>
          <p:cNvPr id="45" name="Image 4" descr="preencoded.png">
            <a:extLst>
              <a:ext uri="{FF2B5EF4-FFF2-40B4-BE49-F238E27FC236}">
                <a16:creationId xmlns:a16="http://schemas.microsoft.com/office/drawing/2014/main" id="{F61D1B08-2D33-606E-84E4-081970C669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1733550"/>
            <a:ext cx="190500" cy="266700"/>
          </a:xfrm>
          <a:prstGeom prst="rect">
            <a:avLst/>
          </a:prstGeom>
        </p:spPr>
      </p:pic>
      <p:pic>
        <p:nvPicPr>
          <p:cNvPr id="46" name="Image 5" descr="preencoded.png">
            <a:extLst>
              <a:ext uri="{FF2B5EF4-FFF2-40B4-BE49-F238E27FC236}">
                <a16:creationId xmlns:a16="http://schemas.microsoft.com/office/drawing/2014/main" id="{F9544427-D611-6CD3-9D7D-CAFF836560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043" y="2892226"/>
            <a:ext cx="304800" cy="304800"/>
          </a:xfrm>
          <a:prstGeom prst="rect">
            <a:avLst/>
          </a:prstGeom>
        </p:spPr>
      </p:pic>
      <p:pic>
        <p:nvPicPr>
          <p:cNvPr id="47" name="Image 6" descr="preencoded.png">
            <a:extLst>
              <a:ext uri="{FF2B5EF4-FFF2-40B4-BE49-F238E27FC236}">
                <a16:creationId xmlns:a16="http://schemas.microsoft.com/office/drawing/2014/main" id="{BD0B1294-B1CC-66F1-D641-9030973356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243" y="2968426"/>
            <a:ext cx="152400" cy="152400"/>
          </a:xfrm>
          <a:prstGeom prst="rect">
            <a:avLst/>
          </a:prstGeom>
        </p:spPr>
      </p:pic>
      <p:pic>
        <p:nvPicPr>
          <p:cNvPr id="48" name="Image 7" descr="preencoded.png">
            <a:extLst>
              <a:ext uri="{FF2B5EF4-FFF2-40B4-BE49-F238E27FC236}">
                <a16:creationId xmlns:a16="http://schemas.microsoft.com/office/drawing/2014/main" id="{67797C11-FFF4-C931-37D9-DFF25E5BA8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043" y="3445946"/>
            <a:ext cx="304800" cy="304800"/>
          </a:xfrm>
          <a:prstGeom prst="rect">
            <a:avLst/>
          </a:prstGeom>
        </p:spPr>
      </p:pic>
      <p:pic>
        <p:nvPicPr>
          <p:cNvPr id="49" name="Image 8" descr="preencoded.png">
            <a:extLst>
              <a:ext uri="{FF2B5EF4-FFF2-40B4-BE49-F238E27FC236}">
                <a16:creationId xmlns:a16="http://schemas.microsoft.com/office/drawing/2014/main" id="{1EEC5377-D49F-7F38-56D9-76032366C47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193" y="3522146"/>
            <a:ext cx="190500" cy="152400"/>
          </a:xfrm>
          <a:prstGeom prst="rect">
            <a:avLst/>
          </a:prstGeom>
        </p:spPr>
      </p:pic>
      <p:pic>
        <p:nvPicPr>
          <p:cNvPr id="50" name="Image 9" descr="preencoded.png">
            <a:extLst>
              <a:ext uri="{FF2B5EF4-FFF2-40B4-BE49-F238E27FC236}">
                <a16:creationId xmlns:a16="http://schemas.microsoft.com/office/drawing/2014/main" id="{82E16438-91ED-19C6-DCC2-2813CF8527D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043" y="3999666"/>
            <a:ext cx="304800" cy="304800"/>
          </a:xfrm>
          <a:prstGeom prst="rect">
            <a:avLst/>
          </a:prstGeom>
        </p:spPr>
      </p:pic>
      <p:pic>
        <p:nvPicPr>
          <p:cNvPr id="51" name="Image 10" descr="preencoded.png">
            <a:extLst>
              <a:ext uri="{FF2B5EF4-FFF2-40B4-BE49-F238E27FC236}">
                <a16:creationId xmlns:a16="http://schemas.microsoft.com/office/drawing/2014/main" id="{23AFE9BC-F4FB-BE8B-748C-8161FB35F6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293" y="4075866"/>
            <a:ext cx="114300" cy="152400"/>
          </a:xfrm>
          <a:prstGeom prst="rect">
            <a:avLst/>
          </a:prstGeom>
        </p:spPr>
      </p:pic>
      <p:pic>
        <p:nvPicPr>
          <p:cNvPr id="52" name="Image 11" descr="preencoded.png">
            <a:extLst>
              <a:ext uri="{FF2B5EF4-FFF2-40B4-BE49-F238E27FC236}">
                <a16:creationId xmlns:a16="http://schemas.microsoft.com/office/drawing/2014/main" id="{E2A78072-98CA-7776-2168-0DE7CCADE72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3043" y="4553386"/>
            <a:ext cx="304800" cy="304800"/>
          </a:xfrm>
          <a:prstGeom prst="rect">
            <a:avLst/>
          </a:prstGeom>
        </p:spPr>
      </p:pic>
      <p:pic>
        <p:nvPicPr>
          <p:cNvPr id="53" name="Image 12" descr="preencoded.png">
            <a:extLst>
              <a:ext uri="{FF2B5EF4-FFF2-40B4-BE49-F238E27FC236}">
                <a16:creationId xmlns:a16="http://schemas.microsoft.com/office/drawing/2014/main" id="{109217FC-6B5A-F788-4342-DAEE08E8387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193" y="4629586"/>
            <a:ext cx="190500" cy="152400"/>
          </a:xfrm>
          <a:prstGeom prst="rect">
            <a:avLst/>
          </a:prstGeom>
        </p:spPr>
      </p:pic>
      <p:pic>
        <p:nvPicPr>
          <p:cNvPr id="54" name="Image 13" descr="preencoded.png">
            <a:extLst>
              <a:ext uri="{FF2B5EF4-FFF2-40B4-BE49-F238E27FC236}">
                <a16:creationId xmlns:a16="http://schemas.microsoft.com/office/drawing/2014/main" id="{20264E5B-DE28-3D0D-6AC1-80B55D352E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1524000"/>
            <a:ext cx="5524500" cy="3733800"/>
          </a:xfrm>
          <a:prstGeom prst="rect">
            <a:avLst/>
          </a:prstGeom>
        </p:spPr>
      </p:pic>
      <p:pic>
        <p:nvPicPr>
          <p:cNvPr id="55" name="Image 14" descr="preencoded.png">
            <a:extLst>
              <a:ext uri="{FF2B5EF4-FFF2-40B4-BE49-F238E27FC236}">
                <a16:creationId xmlns:a16="http://schemas.microsoft.com/office/drawing/2014/main" id="{9CF66BEA-1531-DE12-D5DF-E2D034EC440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1676400"/>
            <a:ext cx="381000" cy="381000"/>
          </a:xfrm>
          <a:prstGeom prst="rect">
            <a:avLst/>
          </a:prstGeom>
        </p:spPr>
      </p:pic>
      <p:pic>
        <p:nvPicPr>
          <p:cNvPr id="56" name="Image 15" descr="preencoded.png">
            <a:extLst>
              <a:ext uri="{FF2B5EF4-FFF2-40B4-BE49-F238E27FC236}">
                <a16:creationId xmlns:a16="http://schemas.microsoft.com/office/drawing/2014/main" id="{317F220E-0311-D0E3-697E-D4F92DB5970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57950" y="1733550"/>
            <a:ext cx="190500" cy="266700"/>
          </a:xfrm>
          <a:prstGeom prst="rect">
            <a:avLst/>
          </a:prstGeom>
        </p:spPr>
      </p:pic>
      <p:pic>
        <p:nvPicPr>
          <p:cNvPr id="57" name="Image 16" descr="preencoded.png">
            <a:extLst>
              <a:ext uri="{FF2B5EF4-FFF2-40B4-BE49-F238E27FC236}">
                <a16:creationId xmlns:a16="http://schemas.microsoft.com/office/drawing/2014/main" id="{B5FDFB85-0142-6A33-FF8E-C71F665DEF8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6143" y="2877820"/>
            <a:ext cx="304800" cy="304800"/>
          </a:xfrm>
          <a:prstGeom prst="rect">
            <a:avLst/>
          </a:prstGeom>
        </p:spPr>
      </p:pic>
      <p:pic>
        <p:nvPicPr>
          <p:cNvPr id="58" name="Image 17" descr="preencoded.png">
            <a:extLst>
              <a:ext uri="{FF2B5EF4-FFF2-40B4-BE49-F238E27FC236}">
                <a16:creationId xmlns:a16="http://schemas.microsoft.com/office/drawing/2014/main" id="{6F412BD6-3C0E-1E9A-97E1-15B26E7C0A8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2343" y="2954020"/>
            <a:ext cx="152400" cy="152400"/>
          </a:xfrm>
          <a:prstGeom prst="rect">
            <a:avLst/>
          </a:prstGeom>
        </p:spPr>
      </p:pic>
      <p:pic>
        <p:nvPicPr>
          <p:cNvPr id="59" name="Image 18" descr="preencoded.png">
            <a:extLst>
              <a:ext uri="{FF2B5EF4-FFF2-40B4-BE49-F238E27FC236}">
                <a16:creationId xmlns:a16="http://schemas.microsoft.com/office/drawing/2014/main" id="{FF864445-9072-C1DC-548C-F0BF224816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6143" y="3411220"/>
            <a:ext cx="304800" cy="304800"/>
          </a:xfrm>
          <a:prstGeom prst="rect">
            <a:avLst/>
          </a:prstGeom>
        </p:spPr>
      </p:pic>
      <p:pic>
        <p:nvPicPr>
          <p:cNvPr id="60" name="Image 19" descr="preencoded.png">
            <a:extLst>
              <a:ext uri="{FF2B5EF4-FFF2-40B4-BE49-F238E27FC236}">
                <a16:creationId xmlns:a16="http://schemas.microsoft.com/office/drawing/2014/main" id="{88528410-64AC-DE97-FE20-ED794A6C45F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3293" y="3487420"/>
            <a:ext cx="190500" cy="152400"/>
          </a:xfrm>
          <a:prstGeom prst="rect">
            <a:avLst/>
          </a:prstGeom>
        </p:spPr>
      </p:pic>
      <p:pic>
        <p:nvPicPr>
          <p:cNvPr id="61" name="Image 20" descr="preencoded.png">
            <a:extLst>
              <a:ext uri="{FF2B5EF4-FFF2-40B4-BE49-F238E27FC236}">
                <a16:creationId xmlns:a16="http://schemas.microsoft.com/office/drawing/2014/main" id="{C49A0E1B-2EB0-F76A-7F08-4D97C00D4A3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16143" y="3944620"/>
            <a:ext cx="304800" cy="304800"/>
          </a:xfrm>
          <a:prstGeom prst="rect">
            <a:avLst/>
          </a:prstGeom>
        </p:spPr>
      </p:pic>
      <p:pic>
        <p:nvPicPr>
          <p:cNvPr id="62" name="Image 21" descr="preencoded.png">
            <a:extLst>
              <a:ext uri="{FF2B5EF4-FFF2-40B4-BE49-F238E27FC236}">
                <a16:creationId xmlns:a16="http://schemas.microsoft.com/office/drawing/2014/main" id="{8EA09FDC-DA7B-0BCE-C4B2-66204C8836C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3293" y="4020820"/>
            <a:ext cx="190500" cy="152400"/>
          </a:xfrm>
          <a:prstGeom prst="rect">
            <a:avLst/>
          </a:prstGeom>
        </p:spPr>
      </p:pic>
      <p:sp>
        <p:nvSpPr>
          <p:cNvPr id="63" name="Text 2">
            <a:extLst>
              <a:ext uri="{FF2B5EF4-FFF2-40B4-BE49-F238E27FC236}">
                <a16:creationId xmlns:a16="http://schemas.microsoft.com/office/drawing/2014/main" id="{D4D4C857-48E7-1463-EE29-7DD7AF4DC82C}"/>
              </a:ext>
            </a:extLst>
          </p:cNvPr>
          <p:cNvSpPr/>
          <p:nvPr/>
        </p:nvSpPr>
        <p:spPr>
          <a:xfrm>
            <a:off x="1104900" y="1714500"/>
            <a:ext cx="19545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내부</a:t>
            </a: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80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발굴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02D298D1-C9DB-90FC-0A88-40AC48522C38}"/>
              </a:ext>
            </a:extLst>
          </p:cNvPr>
          <p:cNvSpPr/>
          <p:nvPr/>
        </p:nvSpPr>
        <p:spPr>
          <a:xfrm>
            <a:off x="663043" y="2171700"/>
            <a:ext cx="5219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경험 개선에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있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거나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자발적 도구 개선 이력, 멘토링 활동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활발한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인재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탐색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021C6347-1FA2-5765-DCA6-7DFEC75778CA}"/>
              </a:ext>
            </a:extLst>
          </p:cNvPr>
          <p:cNvSpPr/>
          <p:nvPr/>
        </p:nvSpPr>
        <p:spPr>
          <a:xfrm>
            <a:off x="663043" y="2529006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내부 발굴 시그널: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AB02B4CD-0D9F-EEBD-6CBF-C484A1C6EC5B}"/>
              </a:ext>
            </a:extLst>
          </p:cNvPr>
          <p:cNvSpPr/>
          <p:nvPr/>
        </p:nvSpPr>
        <p:spPr>
          <a:xfrm>
            <a:off x="1082143" y="2892226"/>
            <a:ext cx="41052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자발적 개선자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4B27FD1D-B626-783A-E079-F1FF932DB647}"/>
              </a:ext>
            </a:extLst>
          </p:cNvPr>
          <p:cNvSpPr/>
          <p:nvPr/>
        </p:nvSpPr>
        <p:spPr>
          <a:xfrm>
            <a:off x="1082143" y="3120826"/>
            <a:ext cx="49263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효율적인 프로세스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제안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팀 내 도구/스크립트 만들어 공유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802C0233-7EEB-C013-11D7-D4991908A5AB}"/>
              </a:ext>
            </a:extLst>
          </p:cNvPr>
          <p:cNvSpPr/>
          <p:nvPr/>
        </p:nvSpPr>
        <p:spPr>
          <a:xfrm>
            <a:off x="1082143" y="3445946"/>
            <a:ext cx="396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멘토/교육자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1E833F92-ACF8-24AE-DCD7-289478914CD2}"/>
              </a:ext>
            </a:extLst>
          </p:cNvPr>
          <p:cNvSpPr/>
          <p:nvPr/>
        </p:nvSpPr>
        <p:spPr>
          <a:xfrm>
            <a:off x="1082143" y="3674546"/>
            <a:ext cx="4754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신입 온보딩 자발적 도움, 기술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작성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사내 기술 세미나 발표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4082D120-E21F-52C1-49F7-61EFE171F61A}"/>
              </a:ext>
            </a:extLst>
          </p:cNvPr>
          <p:cNvSpPr/>
          <p:nvPr/>
        </p:nvSpPr>
        <p:spPr>
          <a:xfrm>
            <a:off x="1082143" y="3999666"/>
            <a:ext cx="403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제기자 (긍정적)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FE439DB6-6A73-B071-4D50-537A8B0D006E}"/>
              </a:ext>
            </a:extLst>
          </p:cNvPr>
          <p:cNvSpPr/>
          <p:nvPr/>
        </p:nvSpPr>
        <p:spPr>
          <a:xfrm>
            <a:off x="1082143" y="4228266"/>
            <a:ext cx="4846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불만이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아닌 개선 제안, 다른 팀 문제도 관심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CCB0B9CA-D45A-A959-B376-10F2B084BFDE}"/>
              </a:ext>
            </a:extLst>
          </p:cNvPr>
          <p:cNvSpPr/>
          <p:nvPr/>
        </p:nvSpPr>
        <p:spPr>
          <a:xfrm>
            <a:off x="1082143" y="4553386"/>
            <a:ext cx="4648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연결자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86B8571D-9D23-5CAF-D2BE-71D43F1FDC19}"/>
              </a:ext>
            </a:extLst>
          </p:cNvPr>
          <p:cNvSpPr/>
          <p:nvPr/>
        </p:nvSpPr>
        <p:spPr>
          <a:xfrm>
            <a:off x="1082143" y="4781986"/>
            <a:ext cx="4846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간 중재/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조율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역할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D438AB1C-A262-87B1-564C-8DD12A6BD22F}"/>
              </a:ext>
            </a:extLst>
          </p:cNvPr>
          <p:cNvSpPr/>
          <p:nvPr/>
        </p:nvSpPr>
        <p:spPr>
          <a:xfrm>
            <a:off x="6858000" y="1714500"/>
            <a:ext cx="19545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</a:t>
            </a:r>
            <a:r>
              <a:rPr lang="en-US" sz="1800" b="1" dirty="0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800" b="1" dirty="0" err="1">
                <a:solidFill>
                  <a:srgbClr val="F472B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채용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BF3716B7-E9B8-A918-5703-FD6187023A86}"/>
              </a:ext>
            </a:extLst>
          </p:cNvPr>
          <p:cNvSpPr/>
          <p:nvPr/>
        </p:nvSpPr>
        <p:spPr>
          <a:xfrm>
            <a:off x="6416143" y="25146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 채용 시 주의사항: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E4055920-A74C-A608-3AF0-5A8E102C706C}"/>
              </a:ext>
            </a:extLst>
          </p:cNvPr>
          <p:cNvSpPr/>
          <p:nvPr/>
        </p:nvSpPr>
        <p:spPr>
          <a:xfrm>
            <a:off x="6835243" y="2877820"/>
            <a:ext cx="30765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"빅테크 경험"만 보지 마라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7" name="Text 17">
            <a:extLst>
              <a:ext uri="{FF2B5EF4-FFF2-40B4-BE49-F238E27FC236}">
                <a16:creationId xmlns:a16="http://schemas.microsoft.com/office/drawing/2014/main" id="{BF20F763-BA68-DBCE-22D4-9E4A0E87080B}"/>
              </a:ext>
            </a:extLst>
          </p:cNvPr>
          <p:cNvSpPr/>
          <p:nvPr/>
        </p:nvSpPr>
        <p:spPr>
          <a:xfrm>
            <a:off x="6835243" y="3106420"/>
            <a:ext cx="36918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우리 조직 규모/문화와 다름, 문화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적합성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평가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Text 18">
            <a:extLst>
              <a:ext uri="{FF2B5EF4-FFF2-40B4-BE49-F238E27FC236}">
                <a16:creationId xmlns:a16="http://schemas.microsoft.com/office/drawing/2014/main" id="{7DC2D025-B051-DAA5-1BF1-DE7F72949A39}"/>
              </a:ext>
            </a:extLst>
          </p:cNvPr>
          <p:cNvSpPr/>
          <p:nvPr/>
        </p:nvSpPr>
        <p:spPr>
          <a:xfrm>
            <a:off x="6835243" y="3411220"/>
            <a:ext cx="28860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기술만 보지 마라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C75E7DBA-6C84-9CD5-FC00-00F1EB30E36A}"/>
              </a:ext>
            </a:extLst>
          </p:cNvPr>
          <p:cNvSpPr/>
          <p:nvPr/>
        </p:nvSpPr>
        <p:spPr>
          <a:xfrm>
            <a:off x="6835243" y="3639820"/>
            <a:ext cx="34632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= 70% 사람 스킬,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 검증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Text 20">
            <a:extLst>
              <a:ext uri="{FF2B5EF4-FFF2-40B4-BE49-F238E27FC236}">
                <a16:creationId xmlns:a16="http://schemas.microsoft.com/office/drawing/2014/main" id="{6AE76BE0-9235-2118-B099-5AB9A12AE35E}"/>
              </a:ext>
            </a:extLst>
          </p:cNvPr>
          <p:cNvSpPr/>
          <p:nvPr/>
        </p:nvSpPr>
        <p:spPr>
          <a:xfrm>
            <a:off x="6835243" y="3944620"/>
            <a:ext cx="2686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"구원자" 기대 말라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1" name="Text 21">
            <a:extLst>
              <a:ext uri="{FF2B5EF4-FFF2-40B4-BE49-F238E27FC236}">
                <a16:creationId xmlns:a16="http://schemas.microsoft.com/office/drawing/2014/main" id="{613810F2-E3B3-117A-0F81-5963F01126E5}"/>
              </a:ext>
            </a:extLst>
          </p:cNvPr>
          <p:cNvSpPr/>
          <p:nvPr/>
        </p:nvSpPr>
        <p:spPr>
          <a:xfrm>
            <a:off x="6835243" y="4173220"/>
            <a:ext cx="3223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1명이 조직 바꿀 수 없음, 팀으로 변화, 시간 필요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1" name="Text 14">
            <a:extLst>
              <a:ext uri="{FF2B5EF4-FFF2-40B4-BE49-F238E27FC236}">
                <a16:creationId xmlns:a16="http://schemas.microsoft.com/office/drawing/2014/main" id="{4C87FF71-F00B-5F5A-54BA-C95EFE3C994A}"/>
              </a:ext>
            </a:extLst>
          </p:cNvPr>
          <p:cNvSpPr/>
          <p:nvPr/>
        </p:nvSpPr>
        <p:spPr>
          <a:xfrm>
            <a:off x="6416143" y="2171700"/>
            <a:ext cx="5067151" cy="3001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조직에 새로운 관점을 줄 수 있으면서 전문성 보완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2" name="Image 13" descr="preencoded.png">
            <a:extLst>
              <a:ext uri="{FF2B5EF4-FFF2-40B4-BE49-F238E27FC236}">
                <a16:creationId xmlns:a16="http://schemas.microsoft.com/office/drawing/2014/main" id="{206EB877-6EA5-6D20-4F49-F3DF712A4B7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1326" y="4553386"/>
            <a:ext cx="5081968" cy="565953"/>
          </a:xfrm>
          <a:prstGeom prst="rect">
            <a:avLst/>
          </a:prstGeom>
        </p:spPr>
      </p:pic>
      <p:pic>
        <p:nvPicPr>
          <p:cNvPr id="123" name="Image 14" descr="preencoded.png">
            <a:extLst>
              <a:ext uri="{FF2B5EF4-FFF2-40B4-BE49-F238E27FC236}">
                <a16:creationId xmlns:a16="http://schemas.microsoft.com/office/drawing/2014/main" id="{E981463D-4235-9441-1EEA-9A6305F76EF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3726" y="4704081"/>
            <a:ext cx="209550" cy="304800"/>
          </a:xfrm>
          <a:prstGeom prst="rect">
            <a:avLst/>
          </a:prstGeom>
        </p:spPr>
      </p:pic>
      <p:sp>
        <p:nvSpPr>
          <p:cNvPr id="124" name="Text 19">
            <a:extLst>
              <a:ext uri="{FF2B5EF4-FFF2-40B4-BE49-F238E27FC236}">
                <a16:creationId xmlns:a16="http://schemas.microsoft.com/office/drawing/2014/main" id="{C97D111A-6FF8-9F9F-219A-1520BDA951C0}"/>
              </a:ext>
            </a:extLst>
          </p:cNvPr>
          <p:cNvSpPr/>
          <p:nvPr/>
        </p:nvSpPr>
        <p:spPr>
          <a:xfrm>
            <a:off x="6877576" y="4623647"/>
            <a:ext cx="4339167" cy="421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채용은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특히 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조직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적합성과 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필수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5" name="Image 22" descr="preencoded.png">
            <a:extLst>
              <a:ext uri="{FF2B5EF4-FFF2-40B4-BE49-F238E27FC236}">
                <a16:creationId xmlns:a16="http://schemas.microsoft.com/office/drawing/2014/main" id="{D00678D9-BC80-7B95-263D-C06E022EECA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7200" y="5562600"/>
            <a:ext cx="11277600" cy="800100"/>
          </a:xfrm>
          <a:prstGeom prst="rect">
            <a:avLst/>
          </a:prstGeom>
        </p:spPr>
      </p:pic>
      <p:pic>
        <p:nvPicPr>
          <p:cNvPr id="126" name="Image 23" descr="preencoded.png">
            <a:extLst>
              <a:ext uri="{FF2B5EF4-FFF2-40B4-BE49-F238E27FC236}">
                <a16:creationId xmlns:a16="http://schemas.microsoft.com/office/drawing/2014/main" id="{F1CACBD0-0721-8E6F-2670-6783CABCA60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" y="5772150"/>
            <a:ext cx="381000" cy="381000"/>
          </a:xfrm>
          <a:prstGeom prst="rect">
            <a:avLst/>
          </a:prstGeom>
        </p:spPr>
      </p:pic>
      <p:pic>
        <p:nvPicPr>
          <p:cNvPr id="127" name="Image 24" descr="preencoded.png">
            <a:extLst>
              <a:ext uri="{FF2B5EF4-FFF2-40B4-BE49-F238E27FC236}">
                <a16:creationId xmlns:a16="http://schemas.microsoft.com/office/drawing/2014/main" id="{2CB62483-6F48-0CE0-555A-F982DD671E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8663" y="5829300"/>
            <a:ext cx="142875" cy="266700"/>
          </a:xfrm>
          <a:prstGeom prst="rect">
            <a:avLst/>
          </a:prstGeom>
        </p:spPr>
      </p:pic>
      <p:sp>
        <p:nvSpPr>
          <p:cNvPr id="128" name="Text 22">
            <a:extLst>
              <a:ext uri="{FF2B5EF4-FFF2-40B4-BE49-F238E27FC236}">
                <a16:creationId xmlns:a16="http://schemas.microsoft.com/office/drawing/2014/main" id="{104FC01A-64C2-C950-A437-52D63536F70F}"/>
              </a:ext>
            </a:extLst>
          </p:cNvPr>
          <p:cNvSpPr/>
          <p:nvPr/>
        </p:nvSpPr>
        <p:spPr>
          <a:xfrm>
            <a:off x="1104900" y="5715000"/>
            <a:ext cx="7429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인사이트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Text 23">
            <a:extLst>
              <a:ext uri="{FF2B5EF4-FFF2-40B4-BE49-F238E27FC236}">
                <a16:creationId xmlns:a16="http://schemas.microsoft.com/office/drawing/2014/main" id="{6256C10D-C4F6-B52C-A787-658853786F22}"/>
              </a:ext>
            </a:extLst>
          </p:cNvPr>
          <p:cNvSpPr/>
          <p:nvPr/>
        </p:nvSpPr>
        <p:spPr>
          <a:xfrm>
            <a:off x="1104900" y="5981700"/>
            <a:ext cx="891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"완벽한 슈퍼맨을 찾지 말고, 팀으로 역량을 채워라" - 플랫폼 팀은 다양한 역량을 가진 팀원들의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조합으로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1447800"/>
            <a:ext cx="1524000" cy="152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4075" y="1771650"/>
            <a:ext cx="3238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3100" y="3390900"/>
            <a:ext cx="95250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276600"/>
            <a:ext cx="2133600" cy="1600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4290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352425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038600"/>
            <a:ext cx="104775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267200"/>
            <a:ext cx="104775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495800"/>
            <a:ext cx="104775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9400" y="3276600"/>
            <a:ext cx="2133600" cy="1600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34290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05150" y="3524250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1800" y="4038600"/>
            <a:ext cx="104775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1800" y="4267200"/>
            <a:ext cx="104775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1800" y="4495800"/>
            <a:ext cx="104775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276600"/>
            <a:ext cx="2133600" cy="1600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81600" y="3467100"/>
            <a:ext cx="42416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98430" y="3562350"/>
            <a:ext cx="190500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1600" y="4114800"/>
            <a:ext cx="104775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1600" y="4343400"/>
            <a:ext cx="104775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1600" y="4572000"/>
            <a:ext cx="104775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0" y="3276600"/>
            <a:ext cx="2133600" cy="1600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91400" y="3467100"/>
            <a:ext cx="314176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351" y="3562350"/>
            <a:ext cx="238125" cy="2667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1400" y="4114800"/>
            <a:ext cx="104775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1400" y="4343400"/>
            <a:ext cx="104775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1400" y="4572000"/>
            <a:ext cx="104775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8800" y="3276600"/>
            <a:ext cx="2133600" cy="16002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01200" y="3467100"/>
            <a:ext cx="399455" cy="4572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5202" y="3562350"/>
            <a:ext cx="171450" cy="2667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0" y="4114800"/>
            <a:ext cx="104775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0" y="4343400"/>
            <a:ext cx="104775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0" y="4572000"/>
            <a:ext cx="104775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181600"/>
            <a:ext cx="10972800" cy="8001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000" y="5657850"/>
            <a:ext cx="13335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77225" y="5657850"/>
            <a:ext cx="19050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 구성 예시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09600" y="1066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사람의 슈퍼맨이 아니라, 서로 보완되는 소수 정예 팀이 필요합니다.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5650230" y="2190750"/>
            <a:ext cx="891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3"/>
          <p:cNvSpPr/>
          <p:nvPr/>
        </p:nvSpPr>
        <p:spPr>
          <a:xfrm>
            <a:off x="5678805" y="2457450"/>
            <a:ext cx="8343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소수 정예 팀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4"/>
          <p:cNvSpPr/>
          <p:nvPr/>
        </p:nvSpPr>
        <p:spPr>
          <a:xfrm>
            <a:off x="1333500" y="3524250"/>
            <a:ext cx="1005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Tech Lead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5"/>
          <p:cNvSpPr/>
          <p:nvPr/>
        </p:nvSpPr>
        <p:spPr>
          <a:xfrm>
            <a:off x="714375" y="4000500"/>
            <a:ext cx="2423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클라우드/아키텍처 총괄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6"/>
          <p:cNvSpPr/>
          <p:nvPr/>
        </p:nvSpPr>
        <p:spPr>
          <a:xfrm>
            <a:off x="714375" y="42291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가드레일 설계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7"/>
          <p:cNvSpPr/>
          <p:nvPr/>
        </p:nvSpPr>
        <p:spPr>
          <a:xfrm>
            <a:off x="1076324" y="4457700"/>
            <a:ext cx="14097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 전략 수립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8"/>
          <p:cNvSpPr/>
          <p:nvPr/>
        </p:nvSpPr>
        <p:spPr>
          <a:xfrm>
            <a:off x="3543300" y="3524250"/>
            <a:ext cx="1211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CI/CD 전문가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 9"/>
          <p:cNvSpPr/>
          <p:nvPr/>
        </p:nvSpPr>
        <p:spPr>
          <a:xfrm>
            <a:off x="2924175" y="4000500"/>
            <a:ext cx="2423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자동화/배포 파이프라인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2924175" y="42291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품질 확보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2924175" y="44577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안전한 릴리스 전략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5720060" y="3543300"/>
            <a:ext cx="12903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프로덕트</a:t>
            </a: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엔지니어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5133975" y="40767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로드맵/지표 관리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5133975" y="43053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사용자 리서치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5133975" y="4533900"/>
            <a:ext cx="2423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채택률/만족도 모니터링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7819876" y="3562350"/>
            <a:ext cx="14003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커뮤니티</a:t>
            </a: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350" b="1" dirty="0" err="1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매니저</a:t>
            </a: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형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 17"/>
          <p:cNvSpPr/>
          <p:nvPr/>
        </p:nvSpPr>
        <p:spPr>
          <a:xfrm>
            <a:off x="7343775" y="40767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문서화/교육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7343775" y="43053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DevRel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7343775" y="45339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 블로그 등 운영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10114955" y="3562350"/>
            <a:ext cx="145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시니어 제너럴리스트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9553575" y="4076700"/>
            <a:ext cx="1924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폭넓은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경험으로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브릿지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9553575" y="43053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멘토링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해결 및 조정자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9553575" y="453390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조직 외 전문가 관계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762000" y="5334000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운영 원칙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971550" y="5638800"/>
            <a:ext cx="3783330" cy="190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T자형 역량: 넓은 기술 스택 + </a:t>
            </a: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자기 분야의 </a:t>
            </a:r>
            <a:r>
              <a:rPr lang="en-US" sz="105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깊은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전문성 + </a:t>
            </a:r>
            <a:r>
              <a:rPr lang="ko-KR" alt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비기술적</a:t>
            </a: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스킬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Text 26"/>
          <p:cNvSpPr/>
          <p:nvPr/>
        </p:nvSpPr>
        <p:spPr>
          <a:xfrm>
            <a:off x="8543925" y="5638800"/>
            <a:ext cx="3463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 파트너/챕터(보안, SRE, 데이터)와 느슨한 연합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" name="Image 22" descr="preencoded.png">
            <a:extLst>
              <a:ext uri="{FF2B5EF4-FFF2-40B4-BE49-F238E27FC236}">
                <a16:creationId xmlns:a16="http://schemas.microsoft.com/office/drawing/2014/main" id="{BD14745A-661B-517E-0726-6E470CC43D8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819691"/>
            <a:ext cx="9485263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628775"/>
            <a:ext cx="2438400" cy="1676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819275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1895475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428875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69557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962275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4301" y="1628775"/>
            <a:ext cx="2438400" cy="1676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4801" y="1819275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9101" y="1895475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4801" y="24288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4801" y="269557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4801" y="2962275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99002" y="1628775"/>
            <a:ext cx="2438400" cy="1676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9502" y="1819275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5227" y="1895475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9502" y="2428875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9502" y="269557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9502" y="2962275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3702" y="1628775"/>
            <a:ext cx="2438400" cy="1676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4202" y="1819275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48502" y="1895475"/>
            <a:ext cx="2286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34202" y="2428875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34202" y="2695575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34202" y="2962275"/>
            <a:ext cx="133350" cy="133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4048125"/>
            <a:ext cx="5257800" cy="1447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100" y="4286250"/>
            <a:ext cx="142875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4048125"/>
            <a:ext cx="5257800" cy="1447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4286250"/>
            <a:ext cx="219075" cy="1905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인재 육성 - 4단계 로드맵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1"/>
          <p:cNvSpPr/>
          <p:nvPr/>
        </p:nvSpPr>
        <p:spPr>
          <a:xfrm>
            <a:off x="1371600" y="1914525"/>
            <a:ext cx="1177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기술 역량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2"/>
          <p:cNvSpPr/>
          <p:nvPr/>
        </p:nvSpPr>
        <p:spPr>
          <a:xfrm>
            <a:off x="1009650" y="2390775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 인증 취득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3"/>
          <p:cNvSpPr/>
          <p:nvPr/>
        </p:nvSpPr>
        <p:spPr>
          <a:xfrm>
            <a:off x="1009650" y="2657475"/>
            <a:ext cx="14744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컨퍼런스 지원 및 참여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4"/>
          <p:cNvSpPr/>
          <p:nvPr/>
        </p:nvSpPr>
        <p:spPr>
          <a:xfrm>
            <a:off x="1009650" y="2924175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 전문성 기르기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5"/>
          <p:cNvSpPr/>
          <p:nvPr/>
        </p:nvSpPr>
        <p:spPr>
          <a:xfrm>
            <a:off x="4216301" y="1914525"/>
            <a:ext cx="1177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제품 역량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6"/>
          <p:cNvSpPr/>
          <p:nvPr/>
        </p:nvSpPr>
        <p:spPr>
          <a:xfrm>
            <a:off x="3854351" y="2390775"/>
            <a:ext cx="720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PM 쉐도잉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7"/>
          <p:cNvSpPr/>
          <p:nvPr/>
        </p:nvSpPr>
        <p:spPr>
          <a:xfrm>
            <a:off x="3854351" y="2657475"/>
            <a:ext cx="11315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분석 교육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8"/>
          <p:cNvSpPr/>
          <p:nvPr/>
        </p:nvSpPr>
        <p:spPr>
          <a:xfrm>
            <a:off x="3854351" y="292417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제품 마인드셋 기르기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9"/>
          <p:cNvSpPr/>
          <p:nvPr/>
        </p:nvSpPr>
        <p:spPr>
          <a:xfrm>
            <a:off x="7061002" y="1914525"/>
            <a:ext cx="13830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소프트 스킬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6699052" y="2390775"/>
            <a:ext cx="1234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프레젠테이션 기술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6699052" y="265747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글쓰기 및 스토리텔링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6699052" y="2924175"/>
            <a:ext cx="1577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 역량 강화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9905702" y="1914525"/>
            <a:ext cx="1177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순환 보직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9543752" y="2390775"/>
            <a:ext cx="15201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개발팀 파견 (3~6개월)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9543752" y="2657475"/>
            <a:ext cx="1817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 Squad에서 사용 경험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9543752" y="2924175"/>
            <a:ext cx="11315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공감 체득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1019175" y="423862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채용보다 육성이 더 중요하다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800100" y="4619625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엔지니어는 만들어진다. 기술적인 역량과 비기술적인 역량을 모두 갖춘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인재를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찾아내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것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중요하지만, 지속적인 투자를 통해 인재를 성장시키는 것이 더 효과적입니다.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6810375" y="423862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스포티파이 케이스 스터디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6515100" y="4619625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Spotify에서 Backstage 팀원들을 실제 Squad에 파견시켜 직접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사용하게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하면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채택률이 </a:t>
            </a:r>
            <a:r>
              <a:rPr lang="en-US" sz="1200" b="1" dirty="0">
                <a:solidFill>
                  <a:srgbClr val="FACC1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2배 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증가했습니다. 이는 개발자 경험과 개발자 관계를 동시에 강화하는 효과적인 방법입니다.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7" name="Image 15" descr="preencoded.png">
            <a:extLst>
              <a:ext uri="{FF2B5EF4-FFF2-40B4-BE49-F238E27FC236}">
                <a16:creationId xmlns:a16="http://schemas.microsoft.com/office/drawing/2014/main" id="{BB7BCBF8-24D0-C251-8200-07623CA3D12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819900"/>
            <a:ext cx="10838557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055316"/>
            <a:ext cx="3682901" cy="243691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437" y="2207717"/>
            <a:ext cx="514350" cy="514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5312" y="2312492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939182"/>
            <a:ext cx="3378101" cy="28098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1135" y="4015382"/>
            <a:ext cx="95250" cy="1238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1" y="2055316"/>
            <a:ext cx="3683050" cy="243691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5838" y="2207717"/>
            <a:ext cx="514350" cy="514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0138" y="2312492"/>
            <a:ext cx="2857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6801" y="3939182"/>
            <a:ext cx="3378250" cy="28098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9307" y="4032007"/>
            <a:ext cx="123825" cy="1238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7950" y="2055316"/>
            <a:ext cx="3682901" cy="243691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49387" y="2207717"/>
            <a:ext cx="514350" cy="514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92262" y="2312492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0350" y="3939182"/>
            <a:ext cx="3378101" cy="28098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07721" y="4032007"/>
            <a:ext cx="152400" cy="123825"/>
          </a:xfrm>
          <a:prstGeom prst="rect">
            <a:avLst/>
          </a:prstGeom>
        </p:spPr>
      </p:pic>
      <p:sp>
        <p:nvSpPr>
          <p:cNvPr id="33" name="Text 1"/>
          <p:cNvSpPr/>
          <p:nvPr/>
        </p:nvSpPr>
        <p:spPr>
          <a:xfrm>
            <a:off x="609600" y="1217117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등장은 플랫폼 팀에게 위협이 아니라, </a:t>
            </a:r>
            <a:r>
              <a:rPr lang="en-US" sz="1500" b="1" dirty="0">
                <a:solidFill>
                  <a:srgbClr val="9D4E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확장의 기회</a:t>
            </a: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609600" y="1521917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팀은 이제 </a:t>
            </a:r>
            <a:r>
              <a:rPr lang="en-US" sz="15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축</a:t>
            </a: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진화합니다.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533400" y="2836367"/>
            <a:ext cx="337810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Enabler</a:t>
            </a:r>
            <a:endParaRPr lang="en-US" dirty="0"/>
          </a:p>
        </p:txBody>
      </p:sp>
      <p:sp>
        <p:nvSpPr>
          <p:cNvPr id="36" name="Text 4"/>
          <p:cNvSpPr/>
          <p:nvPr/>
        </p:nvSpPr>
        <p:spPr>
          <a:xfrm>
            <a:off x="533400" y="3293862"/>
            <a:ext cx="337810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r>
              <a:rPr lang="ko-KR" altLang="en-US" sz="14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기반의 자율성과 표준화를 가능하게 하는 팀</a:t>
            </a:r>
            <a:endParaRPr lang="en-US" sz="1400" dirty="0"/>
          </a:p>
        </p:txBody>
      </p:sp>
      <p:sp>
        <p:nvSpPr>
          <p:cNvPr id="37" name="Text 5"/>
          <p:cNvSpPr/>
          <p:nvPr/>
        </p:nvSpPr>
        <p:spPr>
          <a:xfrm>
            <a:off x="533400" y="3939182"/>
            <a:ext cx="3378101" cy="2809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1200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 민첩성 유연성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4406801" y="2836367"/>
            <a:ext cx="3530650" cy="2809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b="1" dirty="0">
                <a:solidFill>
                  <a:srgbClr val="FFB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Culture Builder</a:t>
            </a:r>
            <a:endParaRPr lang="en-US" dirty="0"/>
          </a:p>
        </p:txBody>
      </p:sp>
      <p:sp>
        <p:nvSpPr>
          <p:cNvPr id="39" name="Text 7"/>
          <p:cNvSpPr/>
          <p:nvPr/>
        </p:nvSpPr>
        <p:spPr>
          <a:xfrm>
            <a:off x="4406801" y="3293862"/>
            <a:ext cx="337825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r>
              <a:rPr lang="ko-KR" altLang="en-US" sz="14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문화와 개발자 경험을 설계하는 팀</a:t>
            </a:r>
            <a:endParaRPr lang="en-US" sz="1400" dirty="0"/>
          </a:p>
        </p:txBody>
      </p:sp>
      <p:sp>
        <p:nvSpPr>
          <p:cNvPr id="40" name="Text 8"/>
          <p:cNvSpPr/>
          <p:nvPr/>
        </p:nvSpPr>
        <p:spPr>
          <a:xfrm>
            <a:off x="4406801" y="3939182"/>
            <a:ext cx="3378250" cy="2809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ko-KR" altLang="en-US" sz="1200" dirty="0">
                <a:solidFill>
                  <a:srgbClr val="FFB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투명성 자율성 공동체</a:t>
            </a:r>
            <a:endParaRPr lang="en-US" sz="1200" dirty="0"/>
          </a:p>
        </p:txBody>
      </p:sp>
      <p:sp>
        <p:nvSpPr>
          <p:cNvPr id="41" name="Text 9"/>
          <p:cNvSpPr/>
          <p:nvPr/>
        </p:nvSpPr>
        <p:spPr>
          <a:xfrm>
            <a:off x="8280350" y="2836367"/>
            <a:ext cx="337810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b="1" dirty="0">
                <a:solidFill>
                  <a:srgbClr val="9D4E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Integrator</a:t>
            </a:r>
            <a:endParaRPr lang="en-US" dirty="0"/>
          </a:p>
        </p:txBody>
      </p:sp>
      <p:sp>
        <p:nvSpPr>
          <p:cNvPr id="42" name="Text 10"/>
          <p:cNvSpPr/>
          <p:nvPr/>
        </p:nvSpPr>
        <p:spPr>
          <a:xfrm>
            <a:off x="8280350" y="3293862"/>
            <a:ext cx="3378101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400" dirty="0" err="1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ko-KR" altLang="en-US" sz="14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조직의 지능으로 통합하는 전략적 두뇌</a:t>
            </a:r>
            <a:endParaRPr lang="en-US" sz="1400" dirty="0"/>
          </a:p>
        </p:txBody>
      </p:sp>
      <p:pic>
        <p:nvPicPr>
          <p:cNvPr id="52" name="Image 13" descr="preencoded.png">
            <a:extLst>
              <a:ext uri="{FF2B5EF4-FFF2-40B4-BE49-F238E27FC236}">
                <a16:creationId xmlns:a16="http://schemas.microsoft.com/office/drawing/2014/main" id="{6897FCD5-8CB9-477B-9684-7684F1D4C5F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0999" y="4961500"/>
            <a:ext cx="11429851" cy="838200"/>
          </a:xfrm>
          <a:prstGeom prst="rect">
            <a:avLst/>
          </a:prstGeom>
        </p:spPr>
      </p:pic>
      <p:sp>
        <p:nvSpPr>
          <p:cNvPr id="43" name="Text 11"/>
          <p:cNvSpPr/>
          <p:nvPr/>
        </p:nvSpPr>
        <p:spPr>
          <a:xfrm>
            <a:off x="8280350" y="3939182"/>
            <a:ext cx="3378101" cy="2809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ko-KR" altLang="en-US" sz="1200" dirty="0">
                <a:solidFill>
                  <a:srgbClr val="9D4E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지능 예측 확장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609600" y="5049738"/>
            <a:ext cx="10972800" cy="6596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856"/>
              </a:lnSpc>
            </a:pP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AI는 '도구'가 </a:t>
            </a:r>
            <a:r>
              <a:rPr lang="en-US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아니라</a:t>
            </a: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b="1" dirty="0">
                <a:solidFill>
                  <a:srgbClr val="FFB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조직의 두 번째 두뇌</a:t>
            </a:r>
            <a:r>
              <a:rPr lang="en-US" altLang="ko-KR" sz="1600" b="1" dirty="0">
                <a:solidFill>
                  <a:srgbClr val="FFB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(Second Brain)</a:t>
            </a:r>
            <a:r>
              <a:rPr lang="en-US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
플랫폼 팀은 이 두뇌가 올바르게 작동하도록 </a:t>
            </a:r>
            <a:r>
              <a:rPr lang="en-US" sz="15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정보의 흐름을 설계하는 신경망(Network)</a:t>
            </a: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역할을 맡게 됩니다.</a:t>
            </a:r>
            <a:endParaRPr lang="en-US" sz="1500" dirty="0"/>
          </a:p>
        </p:txBody>
      </p:sp>
      <p:pic>
        <p:nvPicPr>
          <p:cNvPr id="48" name="Image 24" descr="preencoded.png">
            <a:extLst>
              <a:ext uri="{FF2B5EF4-FFF2-40B4-BE49-F238E27FC236}">
                <a16:creationId xmlns:a16="http://schemas.microsoft.com/office/drawing/2014/main" id="{46456CA9-B5C6-738F-72D6-5CDC247FAE9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49" name="Image 25" descr="preencoded.png">
            <a:extLst>
              <a:ext uri="{FF2B5EF4-FFF2-40B4-BE49-F238E27FC236}">
                <a16:creationId xmlns:a16="http://schemas.microsoft.com/office/drawing/2014/main" id="{7E88AEF8-1CF1-F0DF-CB35-3B80E2895DC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819900"/>
            <a:ext cx="11106894" cy="38100"/>
          </a:xfrm>
          <a:prstGeom prst="rect">
            <a:avLst/>
          </a:prstGeom>
        </p:spPr>
      </p:pic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7C0B570-8FA3-CFCD-3EFC-CEF986B3079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sp>
        <p:nvSpPr>
          <p:cNvPr id="51" name="Text 0">
            <a:extLst>
              <a:ext uri="{FF2B5EF4-FFF2-40B4-BE49-F238E27FC236}">
                <a16:creationId xmlns:a16="http://schemas.microsoft.com/office/drawing/2014/main" id="{65EBA140-3E7E-527B-D0A8-12CCFA03619C}"/>
              </a:ext>
            </a:extLst>
          </p:cNvPr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시대 플랫폼 팀의 확장된 역할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729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8" y="14403"/>
            <a:ext cx="12192000" cy="686729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" y="1714500"/>
            <a:ext cx="5278755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431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9" y="2790984"/>
            <a:ext cx="5278755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019584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99" y="3876516"/>
            <a:ext cx="5278755" cy="7277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090259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600700"/>
            <a:ext cx="5278754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57531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6505" y="5600700"/>
            <a:ext cx="474345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50" y="5753100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714500"/>
            <a:ext cx="53340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781300"/>
            <a:ext cx="533400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702" y="2911098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879096"/>
            <a:ext cx="533400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24625" y="3993396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896100"/>
            <a:ext cx="12192000" cy="38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29194"/>
            <a:ext cx="12192000" cy="381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정리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 1"/>
          <p:cNvSpPr/>
          <p:nvPr/>
        </p:nvSpPr>
        <p:spPr>
          <a:xfrm>
            <a:off x="609600" y="11811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Message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104900" y="182880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DevOps -&gt; </a:t>
            </a:r>
            <a:r>
              <a:rPr lang="en-US" sz="15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DevEx</a:t>
            </a: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&amp; DevRel -&gt; </a:t>
            </a:r>
            <a:r>
              <a:rPr lang="en-US" sz="15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DevIntelligence</a:t>
            </a:r>
            <a:endParaRPr lang="en-US" sz="1500" b="1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 3"/>
          <p:cNvSpPr/>
          <p:nvPr/>
        </p:nvSpPr>
        <p:spPr>
          <a:xfrm>
            <a:off x="1162050" y="2905284"/>
            <a:ext cx="462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팀의 수준 = 개발자들이 얼마나 행복하고 잘 협업하는가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 4"/>
          <p:cNvSpPr/>
          <p:nvPr/>
        </p:nvSpPr>
        <p:spPr>
          <a:xfrm>
            <a:off x="1133475" y="4109309"/>
            <a:ext cx="4754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개발자들이 행복하게 일하는 회사가 AI 시대의 승자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09600" y="51816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마지막 질문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6"/>
          <p:cNvSpPr/>
          <p:nvPr/>
        </p:nvSpPr>
        <p:spPr>
          <a:xfrm>
            <a:off x="1104900" y="577215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"여러분의 개발자들은 행복합니까?"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7"/>
          <p:cNvSpPr/>
          <p:nvPr/>
        </p:nvSpPr>
        <p:spPr>
          <a:xfrm>
            <a:off x="6934200" y="5772150"/>
            <a:ext cx="364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"여러분의 팀들은 잘 협업하고 있습니까?"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8"/>
          <p:cNvSpPr/>
          <p:nvPr/>
        </p:nvSpPr>
        <p:spPr>
          <a:xfrm>
            <a:off x="6400800" y="11811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Remember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9"/>
          <p:cNvSpPr/>
          <p:nvPr/>
        </p:nvSpPr>
        <p:spPr>
          <a:xfrm>
            <a:off x="7086600" y="171450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7086600" y="2019300"/>
            <a:ext cx="2411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플랫폼은 기술이 아니라 </a:t>
            </a:r>
            <a:r>
              <a:rPr 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 </a:t>
            </a: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7086600" y="23241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사람에게 투자하라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7086600" y="2781300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활성화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7086600" y="30861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좋은 플랫폼은 </a:t>
            </a:r>
            <a:r>
              <a:rPr 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통제하지 않고 활성화 </a:t>
            </a: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시킨다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7086600" y="339090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자율성을 보장하라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15"/>
          <p:cNvSpPr/>
          <p:nvPr/>
        </p:nvSpPr>
        <p:spPr>
          <a:xfrm>
            <a:off x="7086600" y="3848100"/>
            <a:ext cx="265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7086600" y="4152900"/>
            <a:ext cx="3188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개발자들이 서로를 도울 수 있게 </a:t>
            </a:r>
            <a:r>
              <a:rPr lang="en-US" sz="1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 </a:t>
            </a:r>
            <a:r>
              <a:rPr lang="en-US" sz="14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한다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7086600" y="445770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커뮤니티를 만들어라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0" name="Image 4" descr="preencoded.png">
            <a:extLst>
              <a:ext uri="{FF2B5EF4-FFF2-40B4-BE49-F238E27FC236}">
                <a16:creationId xmlns:a16="http://schemas.microsoft.com/office/drawing/2014/main" id="{50D20A61-E24C-E5EA-FF8C-CF8FF9D351E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47727" y="1892067"/>
            <a:ext cx="230505" cy="1844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 0" descr="preencoded.png">
            <a:extLst>
              <a:ext uri="{FF2B5EF4-FFF2-40B4-BE49-F238E27FC236}">
                <a16:creationId xmlns:a16="http://schemas.microsoft.com/office/drawing/2014/main" id="{70D11FD4-2958-F0B2-A2B9-EC499E571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7294"/>
          </a:xfrm>
          <a:prstGeom prst="rect">
            <a:avLst/>
          </a:prstGeom>
        </p:spPr>
      </p:pic>
      <p:pic>
        <p:nvPicPr>
          <p:cNvPr id="135" name="Image 24" descr="preencoded.png">
            <a:extLst>
              <a:ext uri="{FF2B5EF4-FFF2-40B4-BE49-F238E27FC236}">
                <a16:creationId xmlns:a16="http://schemas.microsoft.com/office/drawing/2014/main" id="{476E45C2-B3E8-09EA-F438-C97184983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145474"/>
            <a:ext cx="10972800" cy="800100"/>
          </a:xfrm>
          <a:prstGeom prst="rect">
            <a:avLst/>
          </a:prstGeom>
        </p:spPr>
      </p:pic>
      <p:pic>
        <p:nvPicPr>
          <p:cNvPr id="138" name="Image 27" descr="preencoded.png">
            <a:extLst>
              <a:ext uri="{FF2B5EF4-FFF2-40B4-BE49-F238E27FC236}">
                <a16:creationId xmlns:a16="http://schemas.microsoft.com/office/drawing/2014/main" id="{00F4077E-0F81-55C7-0624-019356FAE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71470"/>
            <a:ext cx="10972800" cy="800100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2435754" y="2279082"/>
            <a:ext cx="8044392" cy="2455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400" b="1" dirty="0">
                <a:solidFill>
                  <a:srgbClr val="63B8E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 Warp: The Gap Between Developer's Ideal vs Actual Workweeks in an AI-Driven Era</a:t>
            </a:r>
            <a:r>
              <a:rPr lang="ko-KR" altLang="en-US" sz="1400" b="1" dirty="0">
                <a:solidFill>
                  <a:srgbClr val="63B8E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400" dirty="0">
              <a:solidFill>
                <a:srgbClr val="63B8E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6" name="Image 2" descr="preencoded.png">
            <a:extLst>
              <a:ext uri="{FF2B5EF4-FFF2-40B4-BE49-F238E27FC236}">
                <a16:creationId xmlns:a16="http://schemas.microsoft.com/office/drawing/2014/main" id="{71D622AC-FEE9-0313-9BAE-B0CFDAC8A4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914400"/>
            <a:ext cx="762000" cy="38100"/>
          </a:xfrm>
          <a:prstGeom prst="rect">
            <a:avLst/>
          </a:prstGeom>
        </p:spPr>
      </p:pic>
      <p:sp>
        <p:nvSpPr>
          <p:cNvPr id="47" name="Text 0">
            <a:extLst>
              <a:ext uri="{FF2B5EF4-FFF2-40B4-BE49-F238E27FC236}">
                <a16:creationId xmlns:a16="http://schemas.microsoft.com/office/drawing/2014/main" id="{D2D504A0-880E-28D9-26AF-C758A9330C9B}"/>
              </a:ext>
            </a:extLst>
          </p:cNvPr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 자료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41" name="Image 30" descr="preencoded.png">
            <a:extLst>
              <a:ext uri="{FF2B5EF4-FFF2-40B4-BE49-F238E27FC236}">
                <a16:creationId xmlns:a16="http://schemas.microsoft.com/office/drawing/2014/main" id="{585350B5-6E79-3573-E0F9-0DEF9570E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97466"/>
            <a:ext cx="10972800" cy="800100"/>
          </a:xfrm>
          <a:prstGeom prst="rect">
            <a:avLst/>
          </a:prstGeom>
        </p:spPr>
      </p:pic>
      <p:sp>
        <p:nvSpPr>
          <p:cNvPr id="53" name="Text 19">
            <a:extLst>
              <a:ext uri="{FF2B5EF4-FFF2-40B4-BE49-F238E27FC236}">
                <a16:creationId xmlns:a16="http://schemas.microsoft.com/office/drawing/2014/main" id="{8680A08B-279B-947E-399B-F2DEA4E11CBA}"/>
              </a:ext>
            </a:extLst>
          </p:cNvPr>
          <p:cNvSpPr/>
          <p:nvPr/>
        </p:nvSpPr>
        <p:spPr>
          <a:xfrm>
            <a:off x="2435754" y="1361869"/>
            <a:ext cx="8044392" cy="2455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400" b="1" dirty="0">
                <a:solidFill>
                  <a:srgbClr val="63B8E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Predicts Software Developers' Productivity?</a:t>
            </a:r>
            <a:endParaRPr lang="en-US" altLang="ko-KR" sz="1400" dirty="0">
              <a:solidFill>
                <a:srgbClr val="63B8E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44" name="Image 33" descr="preencoded.png">
            <a:extLst>
              <a:ext uri="{FF2B5EF4-FFF2-40B4-BE49-F238E27FC236}">
                <a16:creationId xmlns:a16="http://schemas.microsoft.com/office/drawing/2014/main" id="{C4ACAF23-00B7-BF9D-94F2-F2AB98601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23462"/>
            <a:ext cx="10972800" cy="800100"/>
          </a:xfrm>
          <a:prstGeom prst="rect">
            <a:avLst/>
          </a:prstGeom>
        </p:spPr>
      </p:pic>
      <p:sp>
        <p:nvSpPr>
          <p:cNvPr id="56" name="Text 19">
            <a:extLst>
              <a:ext uri="{FF2B5EF4-FFF2-40B4-BE49-F238E27FC236}">
                <a16:creationId xmlns:a16="http://schemas.microsoft.com/office/drawing/2014/main" id="{1C5E8444-5DB9-5E83-2054-7A865C48FC41}"/>
              </a:ext>
            </a:extLst>
          </p:cNvPr>
          <p:cNvSpPr/>
          <p:nvPr/>
        </p:nvSpPr>
        <p:spPr>
          <a:xfrm>
            <a:off x="2435754" y="3201041"/>
            <a:ext cx="8044392" cy="2455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400" b="1" dirty="0">
                <a:solidFill>
                  <a:srgbClr val="63B8E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 Engineering is a Key Driver of Developer Productivity and Experience</a:t>
            </a:r>
            <a:endParaRPr lang="en-US" altLang="ko-KR" sz="1400" dirty="0">
              <a:solidFill>
                <a:srgbClr val="63B8E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B12E4817-5757-51E3-B4D8-E6F20C877B24}"/>
              </a:ext>
            </a:extLst>
          </p:cNvPr>
          <p:cNvSpPr/>
          <p:nvPr/>
        </p:nvSpPr>
        <p:spPr>
          <a:xfrm>
            <a:off x="2435754" y="4128309"/>
            <a:ext cx="8044392" cy="2455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400" b="1" dirty="0">
                <a:solidFill>
                  <a:srgbClr val="63B8E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Developer Coefficient</a:t>
            </a:r>
            <a:endParaRPr lang="en-US" altLang="ko-KR" sz="1400" dirty="0">
              <a:solidFill>
                <a:srgbClr val="63B8E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6" name="Image 25" descr="preencoded.png">
            <a:extLst>
              <a:ext uri="{FF2B5EF4-FFF2-40B4-BE49-F238E27FC236}">
                <a16:creationId xmlns:a16="http://schemas.microsoft.com/office/drawing/2014/main" id="{ABCED065-888F-91A1-E690-77C0B26DA1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355024"/>
            <a:ext cx="381000" cy="381000"/>
          </a:xfrm>
          <a:prstGeom prst="rect">
            <a:avLst/>
          </a:prstGeom>
        </p:spPr>
      </p:pic>
      <p:pic>
        <p:nvPicPr>
          <p:cNvPr id="137" name="Image 26" descr="preencoded.png">
            <a:extLst>
              <a:ext uri="{FF2B5EF4-FFF2-40B4-BE49-F238E27FC236}">
                <a16:creationId xmlns:a16="http://schemas.microsoft.com/office/drawing/2014/main" id="{8AE8C5EE-DA00-112A-18BC-78EC1B918E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013" y="1412174"/>
            <a:ext cx="180975" cy="266700"/>
          </a:xfrm>
          <a:prstGeom prst="rect">
            <a:avLst/>
          </a:prstGeom>
        </p:spPr>
      </p:pic>
      <p:pic>
        <p:nvPicPr>
          <p:cNvPr id="139" name="Image 28" descr="preencoded.png">
            <a:extLst>
              <a:ext uri="{FF2B5EF4-FFF2-40B4-BE49-F238E27FC236}">
                <a16:creationId xmlns:a16="http://schemas.microsoft.com/office/drawing/2014/main" id="{491D43DA-E5A5-842F-E27B-BFD90DB5D1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2281020"/>
            <a:ext cx="381000" cy="381000"/>
          </a:xfrm>
          <a:prstGeom prst="rect">
            <a:avLst/>
          </a:prstGeom>
        </p:spPr>
      </p:pic>
      <p:pic>
        <p:nvPicPr>
          <p:cNvPr id="140" name="Image 29" descr="preencoded.png">
            <a:extLst>
              <a:ext uri="{FF2B5EF4-FFF2-40B4-BE49-F238E27FC236}">
                <a16:creationId xmlns:a16="http://schemas.microsoft.com/office/drawing/2014/main" id="{84338781-0987-5FA4-0D35-536DEDA09E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775" y="2338170"/>
            <a:ext cx="171450" cy="266700"/>
          </a:xfrm>
          <a:prstGeom prst="rect">
            <a:avLst/>
          </a:prstGeom>
        </p:spPr>
      </p:pic>
      <p:pic>
        <p:nvPicPr>
          <p:cNvPr id="142" name="Image 31" descr="preencoded.png">
            <a:extLst>
              <a:ext uri="{FF2B5EF4-FFF2-40B4-BE49-F238E27FC236}">
                <a16:creationId xmlns:a16="http://schemas.microsoft.com/office/drawing/2014/main" id="{AEF216DB-777E-8DBD-C7C6-A402796DA47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3207016"/>
            <a:ext cx="381000" cy="381000"/>
          </a:xfrm>
          <a:prstGeom prst="rect">
            <a:avLst/>
          </a:prstGeom>
        </p:spPr>
      </p:pic>
      <p:pic>
        <p:nvPicPr>
          <p:cNvPr id="143" name="Image 32" descr="preencoded.png">
            <a:extLst>
              <a:ext uri="{FF2B5EF4-FFF2-40B4-BE49-F238E27FC236}">
                <a16:creationId xmlns:a16="http://schemas.microsoft.com/office/drawing/2014/main" id="{366DC748-600A-E45D-97E4-7CBFCF313B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438" y="3264166"/>
            <a:ext cx="238125" cy="266700"/>
          </a:xfrm>
          <a:prstGeom prst="rect">
            <a:avLst/>
          </a:prstGeom>
        </p:spPr>
      </p:pic>
      <p:pic>
        <p:nvPicPr>
          <p:cNvPr id="145" name="Image 34" descr="preencoded.png">
            <a:extLst>
              <a:ext uri="{FF2B5EF4-FFF2-40B4-BE49-F238E27FC236}">
                <a16:creationId xmlns:a16="http://schemas.microsoft.com/office/drawing/2014/main" id="{DB422797-60CD-4D00-FE2F-D58AE9FE4BF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133012"/>
            <a:ext cx="381000" cy="381000"/>
          </a:xfrm>
          <a:prstGeom prst="rect">
            <a:avLst/>
          </a:prstGeom>
        </p:spPr>
      </p:pic>
      <p:pic>
        <p:nvPicPr>
          <p:cNvPr id="146" name="Image 35" descr="preencoded.png">
            <a:extLst>
              <a:ext uri="{FF2B5EF4-FFF2-40B4-BE49-F238E27FC236}">
                <a16:creationId xmlns:a16="http://schemas.microsoft.com/office/drawing/2014/main" id="{EAA677DB-1294-92CC-61F7-35164000E9A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963" y="4190162"/>
            <a:ext cx="219075" cy="266700"/>
          </a:xfrm>
          <a:prstGeom prst="rect">
            <a:avLst/>
          </a:prstGeom>
        </p:spPr>
      </p:pic>
      <p:sp>
        <p:nvSpPr>
          <p:cNvPr id="147" name="Text 15">
            <a:extLst>
              <a:ext uri="{FF2B5EF4-FFF2-40B4-BE49-F238E27FC236}">
                <a16:creationId xmlns:a16="http://schemas.microsoft.com/office/drawing/2014/main" id="{93324514-DA5C-84C9-485D-3BD2C7ED63FF}"/>
              </a:ext>
            </a:extLst>
          </p:cNvPr>
          <p:cNvSpPr/>
          <p:nvPr/>
        </p:nvSpPr>
        <p:spPr>
          <a:xfrm>
            <a:off x="1257300" y="1297873"/>
            <a:ext cx="1272480" cy="3027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Google</a:t>
            </a:r>
            <a:endParaRPr lang="en-US" sz="1350" dirty="0">
              <a:solidFill>
                <a:srgbClr val="63B8E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8" name="Text 16">
            <a:extLst>
              <a:ext uri="{FF2B5EF4-FFF2-40B4-BE49-F238E27FC236}">
                <a16:creationId xmlns:a16="http://schemas.microsoft.com/office/drawing/2014/main" id="{7334CA22-5790-8D92-E0B7-73C0BC000280}"/>
              </a:ext>
            </a:extLst>
          </p:cNvPr>
          <p:cNvSpPr/>
          <p:nvPr/>
        </p:nvSpPr>
        <p:spPr>
          <a:xfrm>
            <a:off x="1257300" y="1602674"/>
            <a:ext cx="6035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</a:t>
            </a: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생산성</a:t>
            </a:r>
            <a:r>
              <a:rPr lang="ko-KR" alt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예측하는 요인들</a:t>
            </a:r>
            <a:r>
              <a:rPr 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대한 </a:t>
            </a:r>
            <a:r>
              <a:rPr 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Google의</a:t>
            </a: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</a:t>
            </a:r>
            <a:r>
              <a:rPr lang="ko-KR" alt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9" name="Text 17">
            <a:extLst>
              <a:ext uri="{FF2B5EF4-FFF2-40B4-BE49-F238E27FC236}">
                <a16:creationId xmlns:a16="http://schemas.microsoft.com/office/drawing/2014/main" id="{684FC8D8-8FB3-9ED5-B3C7-49337866CD81}"/>
              </a:ext>
            </a:extLst>
          </p:cNvPr>
          <p:cNvSpPr/>
          <p:nvPr/>
        </p:nvSpPr>
        <p:spPr>
          <a:xfrm>
            <a:off x="1257300" y="2223870"/>
            <a:ext cx="14775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Microsoft</a:t>
            </a:r>
            <a:endParaRPr lang="en-US" sz="1350" dirty="0">
              <a:solidFill>
                <a:srgbClr val="63B8E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0" name="Text 18">
            <a:extLst>
              <a:ext uri="{FF2B5EF4-FFF2-40B4-BE49-F238E27FC236}">
                <a16:creationId xmlns:a16="http://schemas.microsoft.com/office/drawing/2014/main" id="{5D34CD29-0DEA-81D2-46CB-98267DC7E7CD}"/>
              </a:ext>
            </a:extLst>
          </p:cNvPr>
          <p:cNvSpPr/>
          <p:nvPr/>
        </p:nvSpPr>
        <p:spPr>
          <a:xfrm>
            <a:off x="1257300" y="2528670"/>
            <a:ext cx="6972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ko-KR" alt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시대의 </a:t>
            </a:r>
            <a:r>
              <a:rPr 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개발자들의</a:t>
            </a: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이상적인 업무 시간과 실제 업무 시간의 차이에 관한 Microsoft의 연구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1" name="Text 19">
            <a:extLst>
              <a:ext uri="{FF2B5EF4-FFF2-40B4-BE49-F238E27FC236}">
                <a16:creationId xmlns:a16="http://schemas.microsoft.com/office/drawing/2014/main" id="{17516FE2-57A2-C4CA-F2F6-5C76B41A8CC0}"/>
              </a:ext>
            </a:extLst>
          </p:cNvPr>
          <p:cNvSpPr/>
          <p:nvPr/>
        </p:nvSpPr>
        <p:spPr>
          <a:xfrm>
            <a:off x="1257300" y="3149866"/>
            <a:ext cx="1272480" cy="2856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CloudBees</a:t>
            </a:r>
            <a:endParaRPr lang="en-US" sz="1350" dirty="0">
              <a:solidFill>
                <a:srgbClr val="63B8E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2" name="Text 20">
            <a:extLst>
              <a:ext uri="{FF2B5EF4-FFF2-40B4-BE49-F238E27FC236}">
                <a16:creationId xmlns:a16="http://schemas.microsoft.com/office/drawing/2014/main" id="{A56723DD-7284-E19E-DCBD-52BB21132408}"/>
              </a:ext>
            </a:extLst>
          </p:cNvPr>
          <p:cNvSpPr/>
          <p:nvPr/>
        </p:nvSpPr>
        <p:spPr>
          <a:xfrm>
            <a:off x="1257300" y="3454666"/>
            <a:ext cx="5086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플랫폼 엔지니어링 도입 효과와 개발자 경험 향상에 </a:t>
            </a:r>
            <a:r>
              <a:rPr 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대한</a:t>
            </a: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3" name="Text 21">
            <a:extLst>
              <a:ext uri="{FF2B5EF4-FFF2-40B4-BE49-F238E27FC236}">
                <a16:creationId xmlns:a16="http://schemas.microsoft.com/office/drawing/2014/main" id="{168D5445-1E5C-66EE-0EC0-21582F0D8EAD}"/>
              </a:ext>
            </a:extLst>
          </p:cNvPr>
          <p:cNvSpPr/>
          <p:nvPr/>
        </p:nvSpPr>
        <p:spPr>
          <a:xfrm>
            <a:off x="1257300" y="4075862"/>
            <a:ext cx="108400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Stripe</a:t>
            </a:r>
            <a:endParaRPr lang="en-US" sz="1350" dirty="0">
              <a:solidFill>
                <a:srgbClr val="63B8E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4" name="Text 22">
            <a:extLst>
              <a:ext uri="{FF2B5EF4-FFF2-40B4-BE49-F238E27FC236}">
                <a16:creationId xmlns:a16="http://schemas.microsoft.com/office/drawing/2014/main" id="{E22A9036-13D3-9921-916A-3291F6AA113A}"/>
              </a:ext>
            </a:extLst>
          </p:cNvPr>
          <p:cNvSpPr/>
          <p:nvPr/>
        </p:nvSpPr>
        <p:spPr>
          <a:xfrm>
            <a:off x="1257300" y="4380662"/>
            <a:ext cx="4572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생산성 저해 요인과 경제적 영향에 관한 Stripe의 글로벌 연구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87" name="Image 7" descr="preencoded.png">
            <a:extLst>
              <a:ext uri="{FF2B5EF4-FFF2-40B4-BE49-F238E27FC236}">
                <a16:creationId xmlns:a16="http://schemas.microsoft.com/office/drawing/2014/main" id="{C352C621-8231-7E89-63E5-2B676693EF4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873905"/>
            <a:ext cx="285750" cy="228600"/>
          </a:xfrm>
          <a:prstGeom prst="rect">
            <a:avLst/>
          </a:prstGeom>
        </p:spPr>
      </p:pic>
      <p:pic>
        <p:nvPicPr>
          <p:cNvPr id="215" name="Image 17" descr="preencoded.png">
            <a:extLst>
              <a:ext uri="{FF2B5EF4-FFF2-40B4-BE49-F238E27FC236}">
                <a16:creationId xmlns:a16="http://schemas.microsoft.com/office/drawing/2014/main" id="{AE09703E-D7DC-FC59-3EBA-B96174D63CD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4555" y="5249510"/>
            <a:ext cx="2072580" cy="1409700"/>
          </a:xfrm>
          <a:prstGeom prst="rect">
            <a:avLst/>
          </a:prstGeom>
        </p:spPr>
      </p:pic>
      <p:pic>
        <p:nvPicPr>
          <p:cNvPr id="189" name="Image 9" descr="preencoded.png">
            <a:extLst>
              <a:ext uri="{FF2B5EF4-FFF2-40B4-BE49-F238E27FC236}">
                <a16:creationId xmlns:a16="http://schemas.microsoft.com/office/drawing/2014/main" id="{AC1512A9-7F46-CBBE-1C8D-CE7900714D0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17290" y="5409376"/>
            <a:ext cx="457200" cy="457200"/>
          </a:xfrm>
          <a:prstGeom prst="rect">
            <a:avLst/>
          </a:prstGeom>
        </p:spPr>
      </p:pic>
      <p:pic>
        <p:nvPicPr>
          <p:cNvPr id="190" name="Image 10" descr="preencoded.png">
            <a:extLst>
              <a:ext uri="{FF2B5EF4-FFF2-40B4-BE49-F238E27FC236}">
                <a16:creationId xmlns:a16="http://schemas.microsoft.com/office/drawing/2014/main" id="{F6FCBCAD-C8E4-C96F-ACF6-D213927A142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50640" y="5504626"/>
            <a:ext cx="190500" cy="266700"/>
          </a:xfrm>
          <a:prstGeom prst="rect">
            <a:avLst/>
          </a:prstGeom>
        </p:spPr>
      </p:pic>
      <p:pic>
        <p:nvPicPr>
          <p:cNvPr id="191" name="Image 11" descr="preencoded.png">
            <a:extLst>
              <a:ext uri="{FF2B5EF4-FFF2-40B4-BE49-F238E27FC236}">
                <a16:creationId xmlns:a16="http://schemas.microsoft.com/office/drawing/2014/main" id="{E9D3A3B6-2930-FF58-572F-47EDB9F93DA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34580" y="5256976"/>
            <a:ext cx="2072580" cy="1409700"/>
          </a:xfrm>
          <a:prstGeom prst="rect">
            <a:avLst/>
          </a:prstGeom>
        </p:spPr>
      </p:pic>
      <p:pic>
        <p:nvPicPr>
          <p:cNvPr id="192" name="Image 12" descr="preencoded.png">
            <a:extLst>
              <a:ext uri="{FF2B5EF4-FFF2-40B4-BE49-F238E27FC236}">
                <a16:creationId xmlns:a16="http://schemas.microsoft.com/office/drawing/2014/main" id="{5F8CFDF4-FF00-0C1E-4F31-FD336ABFC01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42271" y="5409376"/>
            <a:ext cx="457200" cy="457200"/>
          </a:xfrm>
          <a:prstGeom prst="rect">
            <a:avLst/>
          </a:prstGeom>
        </p:spPr>
      </p:pic>
      <p:pic>
        <p:nvPicPr>
          <p:cNvPr id="193" name="Image 13" descr="preencoded.png">
            <a:extLst>
              <a:ext uri="{FF2B5EF4-FFF2-40B4-BE49-F238E27FC236}">
                <a16:creationId xmlns:a16="http://schemas.microsoft.com/office/drawing/2014/main" id="{E1054AB2-945B-5DB0-7F78-A3850215D4B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761333" y="5504626"/>
            <a:ext cx="219075" cy="266700"/>
          </a:xfrm>
          <a:prstGeom prst="rect">
            <a:avLst/>
          </a:prstGeom>
        </p:spPr>
      </p:pic>
      <p:pic>
        <p:nvPicPr>
          <p:cNvPr id="194" name="Image 14" descr="preencoded.png">
            <a:extLst>
              <a:ext uri="{FF2B5EF4-FFF2-40B4-BE49-F238E27FC236}">
                <a16:creationId xmlns:a16="http://schemas.microsoft.com/office/drawing/2014/main" id="{F7C00C7A-6444-F971-6945-E56B386D5C0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59561" y="5256976"/>
            <a:ext cx="2072729" cy="1409700"/>
          </a:xfrm>
          <a:prstGeom prst="rect">
            <a:avLst/>
          </a:prstGeom>
        </p:spPr>
      </p:pic>
      <p:pic>
        <p:nvPicPr>
          <p:cNvPr id="195" name="Image 15" descr="preencoded.png">
            <a:extLst>
              <a:ext uri="{FF2B5EF4-FFF2-40B4-BE49-F238E27FC236}">
                <a16:creationId xmlns:a16="http://schemas.microsoft.com/office/drawing/2014/main" id="{41265694-12CD-6549-67E5-0CCDC22F49D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67251" y="5409376"/>
            <a:ext cx="457200" cy="457200"/>
          </a:xfrm>
          <a:prstGeom prst="rect">
            <a:avLst/>
          </a:prstGeom>
        </p:spPr>
      </p:pic>
      <p:pic>
        <p:nvPicPr>
          <p:cNvPr id="196" name="Image 16" descr="preencoded.png">
            <a:extLst>
              <a:ext uri="{FF2B5EF4-FFF2-40B4-BE49-F238E27FC236}">
                <a16:creationId xmlns:a16="http://schemas.microsoft.com/office/drawing/2014/main" id="{994D20A1-BEF0-E8DC-63A7-66C9100C76B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24414" y="5504626"/>
            <a:ext cx="142875" cy="266700"/>
          </a:xfrm>
          <a:prstGeom prst="rect">
            <a:avLst/>
          </a:prstGeom>
        </p:spPr>
      </p:pic>
      <p:pic>
        <p:nvPicPr>
          <p:cNvPr id="197" name="Image 17" descr="preencoded.png">
            <a:extLst>
              <a:ext uri="{FF2B5EF4-FFF2-40B4-BE49-F238E27FC236}">
                <a16:creationId xmlns:a16="http://schemas.microsoft.com/office/drawing/2014/main" id="{457E4CF1-B8F9-8B62-09DF-6DE6BB65CE2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84690" y="5256976"/>
            <a:ext cx="2072580" cy="1409700"/>
          </a:xfrm>
          <a:prstGeom prst="rect">
            <a:avLst/>
          </a:prstGeom>
        </p:spPr>
      </p:pic>
      <p:pic>
        <p:nvPicPr>
          <p:cNvPr id="198" name="Image 18" descr="preencoded.png">
            <a:extLst>
              <a:ext uri="{FF2B5EF4-FFF2-40B4-BE49-F238E27FC236}">
                <a16:creationId xmlns:a16="http://schemas.microsoft.com/office/drawing/2014/main" id="{404E2683-8B7B-0D7F-67F0-66F70942468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92380" y="5409376"/>
            <a:ext cx="457200" cy="457200"/>
          </a:xfrm>
          <a:prstGeom prst="rect">
            <a:avLst/>
          </a:prstGeom>
        </p:spPr>
      </p:pic>
      <p:pic>
        <p:nvPicPr>
          <p:cNvPr id="214" name="Image 17" descr="preencoded.png">
            <a:extLst>
              <a:ext uri="{FF2B5EF4-FFF2-40B4-BE49-F238E27FC236}">
                <a16:creationId xmlns:a16="http://schemas.microsoft.com/office/drawing/2014/main" id="{8BB62860-5334-21CD-AC45-721E42231B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14715" y="5276026"/>
            <a:ext cx="2072580" cy="1409700"/>
          </a:xfrm>
          <a:prstGeom prst="rect">
            <a:avLst/>
          </a:prstGeom>
        </p:spPr>
      </p:pic>
      <p:pic>
        <p:nvPicPr>
          <p:cNvPr id="199" name="Image 19" descr="preencoded.png">
            <a:extLst>
              <a:ext uri="{FF2B5EF4-FFF2-40B4-BE49-F238E27FC236}">
                <a16:creationId xmlns:a16="http://schemas.microsoft.com/office/drawing/2014/main" id="{815FE3D3-255A-012F-C79A-AE73A063EF9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11443" y="5504626"/>
            <a:ext cx="219075" cy="266700"/>
          </a:xfrm>
          <a:prstGeom prst="rect">
            <a:avLst/>
          </a:prstGeom>
        </p:spPr>
      </p:pic>
      <p:pic>
        <p:nvPicPr>
          <p:cNvPr id="201" name="Image 21" descr="preencoded.png">
            <a:extLst>
              <a:ext uri="{FF2B5EF4-FFF2-40B4-BE49-F238E27FC236}">
                <a16:creationId xmlns:a16="http://schemas.microsoft.com/office/drawing/2014/main" id="{2258D102-EB6E-F0BA-9814-FC404499BF6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317361" y="5409376"/>
            <a:ext cx="457200" cy="457200"/>
          </a:xfrm>
          <a:prstGeom prst="rect">
            <a:avLst/>
          </a:prstGeom>
        </p:spPr>
      </p:pic>
      <p:pic>
        <p:nvPicPr>
          <p:cNvPr id="202" name="Image 22" descr="preencoded.png">
            <a:extLst>
              <a:ext uri="{FF2B5EF4-FFF2-40B4-BE49-F238E27FC236}">
                <a16:creationId xmlns:a16="http://schemas.microsoft.com/office/drawing/2014/main" id="{E2236A52-80ED-B41B-4ACB-00B98F193BA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36423" y="5504626"/>
            <a:ext cx="219075" cy="266700"/>
          </a:xfrm>
          <a:prstGeom prst="rect">
            <a:avLst/>
          </a:prstGeom>
        </p:spPr>
      </p:pic>
      <p:sp>
        <p:nvSpPr>
          <p:cNvPr id="203" name="Text 3">
            <a:extLst>
              <a:ext uri="{FF2B5EF4-FFF2-40B4-BE49-F238E27FC236}">
                <a16:creationId xmlns:a16="http://schemas.microsoft.com/office/drawing/2014/main" id="{98D6752E-C424-B9E6-09D7-86F9DD5563AB}"/>
              </a:ext>
            </a:extLst>
          </p:cNvPr>
          <p:cNvSpPr/>
          <p:nvPr/>
        </p:nvSpPr>
        <p:spPr>
          <a:xfrm>
            <a:off x="971550" y="4866036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b="1" dirty="0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제작 지원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4" name="Text 4">
            <a:extLst>
              <a:ext uri="{FF2B5EF4-FFF2-40B4-BE49-F238E27FC236}">
                <a16:creationId xmlns:a16="http://schemas.microsoft.com/office/drawing/2014/main" id="{8EB25C79-95B4-738B-1583-42A75228B503}"/>
              </a:ext>
            </a:extLst>
          </p:cNvPr>
          <p:cNvSpPr/>
          <p:nvPr/>
        </p:nvSpPr>
        <p:spPr>
          <a:xfrm>
            <a:off x="585222" y="5980876"/>
            <a:ext cx="21213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Perplexity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5" name="Text 5">
            <a:extLst>
              <a:ext uri="{FF2B5EF4-FFF2-40B4-BE49-F238E27FC236}">
                <a16:creationId xmlns:a16="http://schemas.microsoft.com/office/drawing/2014/main" id="{E21675C9-F67C-9FB8-877D-5982A9ADA028}"/>
              </a:ext>
            </a:extLst>
          </p:cNvPr>
          <p:cNvSpPr/>
          <p:nvPr/>
        </p:nvSpPr>
        <p:spPr>
          <a:xfrm>
            <a:off x="762000" y="6323776"/>
            <a:ext cx="17677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자료 조사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6" name="Text 6">
            <a:extLst>
              <a:ext uri="{FF2B5EF4-FFF2-40B4-BE49-F238E27FC236}">
                <a16:creationId xmlns:a16="http://schemas.microsoft.com/office/drawing/2014/main" id="{39B2E515-CAB0-B0CF-7AE9-F058BE42D983}"/>
              </a:ext>
            </a:extLst>
          </p:cNvPr>
          <p:cNvSpPr/>
          <p:nvPr/>
        </p:nvSpPr>
        <p:spPr>
          <a:xfrm>
            <a:off x="2986980" y="5980876"/>
            <a:ext cx="1767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Claude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7" name="Text 7">
            <a:extLst>
              <a:ext uri="{FF2B5EF4-FFF2-40B4-BE49-F238E27FC236}">
                <a16:creationId xmlns:a16="http://schemas.microsoft.com/office/drawing/2014/main" id="{C030643A-BF20-EE86-88D5-90AD2D20EB1F}"/>
              </a:ext>
            </a:extLst>
          </p:cNvPr>
          <p:cNvSpPr/>
          <p:nvPr/>
        </p:nvSpPr>
        <p:spPr>
          <a:xfrm>
            <a:off x="2986980" y="6323776"/>
            <a:ext cx="17677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PPT 구조 작성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8" name="Text 8">
            <a:extLst>
              <a:ext uri="{FF2B5EF4-FFF2-40B4-BE49-F238E27FC236}">
                <a16:creationId xmlns:a16="http://schemas.microsoft.com/office/drawing/2014/main" id="{0D9FC08A-72C3-C844-27F7-755499AB5FAA}"/>
              </a:ext>
            </a:extLst>
          </p:cNvPr>
          <p:cNvSpPr/>
          <p:nvPr/>
        </p:nvSpPr>
        <p:spPr>
          <a:xfrm>
            <a:off x="5211961" y="5980876"/>
            <a:ext cx="17679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ChatGPT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9" name="Text 9">
            <a:extLst>
              <a:ext uri="{FF2B5EF4-FFF2-40B4-BE49-F238E27FC236}">
                <a16:creationId xmlns:a16="http://schemas.microsoft.com/office/drawing/2014/main" id="{86941C1D-0853-17FD-BE4F-2606A3E5A221}"/>
              </a:ext>
            </a:extLst>
          </p:cNvPr>
          <p:cNvSpPr/>
          <p:nvPr/>
        </p:nvSpPr>
        <p:spPr>
          <a:xfrm>
            <a:off x="5211961" y="6323776"/>
            <a:ext cx="17679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발표 대본 작성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0" name="Text 10">
            <a:extLst>
              <a:ext uri="{FF2B5EF4-FFF2-40B4-BE49-F238E27FC236}">
                <a16:creationId xmlns:a16="http://schemas.microsoft.com/office/drawing/2014/main" id="{C0D7553A-CA95-B4E4-4297-06CBC8DD0771}"/>
              </a:ext>
            </a:extLst>
          </p:cNvPr>
          <p:cNvSpPr/>
          <p:nvPr/>
        </p:nvSpPr>
        <p:spPr>
          <a:xfrm>
            <a:off x="7437090" y="5980876"/>
            <a:ext cx="1767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SkyWork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1" name="Text 11">
            <a:extLst>
              <a:ext uri="{FF2B5EF4-FFF2-40B4-BE49-F238E27FC236}">
                <a16:creationId xmlns:a16="http://schemas.microsoft.com/office/drawing/2014/main" id="{81712215-3DB7-2DA2-5FD9-F82911BF39B5}"/>
              </a:ext>
            </a:extLst>
          </p:cNvPr>
          <p:cNvSpPr/>
          <p:nvPr/>
        </p:nvSpPr>
        <p:spPr>
          <a:xfrm>
            <a:off x="7437090" y="6323776"/>
            <a:ext cx="17677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PPT 제작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2" name="Text 12">
            <a:extLst>
              <a:ext uri="{FF2B5EF4-FFF2-40B4-BE49-F238E27FC236}">
                <a16:creationId xmlns:a16="http://schemas.microsoft.com/office/drawing/2014/main" id="{F96FD59A-2C39-7706-CE19-9AB3E385748A}"/>
              </a:ext>
            </a:extLst>
          </p:cNvPr>
          <p:cNvSpPr/>
          <p:nvPr/>
        </p:nvSpPr>
        <p:spPr>
          <a:xfrm>
            <a:off x="9485278" y="5980876"/>
            <a:ext cx="21215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NotebookLM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3" name="Text 13">
            <a:extLst>
              <a:ext uri="{FF2B5EF4-FFF2-40B4-BE49-F238E27FC236}">
                <a16:creationId xmlns:a16="http://schemas.microsoft.com/office/drawing/2014/main" id="{F1D56337-01D8-8F6F-D401-D0ED586CB468}"/>
              </a:ext>
            </a:extLst>
          </p:cNvPr>
          <p:cNvSpPr/>
          <p:nvPr/>
        </p:nvSpPr>
        <p:spPr>
          <a:xfrm>
            <a:off x="9662071" y="6323776"/>
            <a:ext cx="17679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영상화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21314</TotalTime>
  <Words>5444</Words>
  <Application>Microsoft Macintosh PowerPoint</Application>
  <PresentationFormat>와이드스크린</PresentationFormat>
  <Paragraphs>866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Noto Sans KR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Taejun Heo</cp:lastModifiedBy>
  <cp:revision>1828</cp:revision>
  <dcterms:created xsi:type="dcterms:W3CDTF">2025-10-17T02:16:49Z</dcterms:created>
  <dcterms:modified xsi:type="dcterms:W3CDTF">2025-11-05T10:43:14Z</dcterms:modified>
</cp:coreProperties>
</file>