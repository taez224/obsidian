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8" r:id="rId4"/>
    <p:sldId id="261" r:id="rId5"/>
    <p:sldId id="263" r:id="rId6"/>
    <p:sldId id="290" r:id="rId7"/>
    <p:sldId id="264" r:id="rId8"/>
    <p:sldId id="284" r:id="rId9"/>
    <p:sldId id="285" r:id="rId10"/>
    <p:sldId id="286" r:id="rId11"/>
    <p:sldId id="269" r:id="rId12"/>
    <p:sldId id="270" r:id="rId13"/>
    <p:sldId id="271" r:id="rId14"/>
    <p:sldId id="283" r:id="rId15"/>
    <p:sldId id="272" r:id="rId16"/>
    <p:sldId id="273" r:id="rId17"/>
    <p:sldId id="274" r:id="rId18"/>
    <p:sldId id="279" r:id="rId19"/>
    <p:sldId id="27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E8F9"/>
    <a:srgbClr val="1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6"/>
    <p:restoredTop sz="84102"/>
  </p:normalViewPr>
  <p:slideViewPr>
    <p:cSldViewPr snapToGrid="0" snapToObjects="1">
      <p:cViewPr varScale="1">
        <p:scale>
          <a:sx n="73" d="100"/>
          <a:sy n="73" d="100"/>
        </p:scale>
        <p:origin x="752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295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조직도상에는 플랫폼 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삼성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E&amp;A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현장에서 근무하고 있는 허태준 프로입니다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 저는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시대에 개인과 조직이 어떻게 성장하고 생존할 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있을까를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이야기하려고 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부제에서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보시다시피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우리의 역량을 증폭 시킬 수도 있고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격차를 증폭시킬 수도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누구나 쉽게 사용할 수 있으니 지식의 민주화를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가져다주는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평등한 도구인 것 같지만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사실은 사용하는 자의 역량을 증폭시키는 거대한 증폭기입니다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문제는 모든 사람에게 똑같이 작용하지 않는다는 것이죠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능력의 증폭기가 등장하면서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개인 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조직 간에 완전히 새로운 경쟁의 서막이 열렸습니다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발표를 통해 이 변화 속에서 개인은 어떻게 차별화할 수 있을지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조직은 어떤 문화와 구조로 전환해야 하는지 함께 살펴보겠습니다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나의 일자리를 빼앗을까 걱정하는 시기는 지난 것 같습니다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내 일을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뺏는게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나보다 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잘쓰는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사람이 내 일을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가져간다’에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가깝습니다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인간의 역량을 ’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대체‘하는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게 아니라 ’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증폭‘시킵니다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말은 곧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잘 활용하는 사람은 기하급수적으로 성장하고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그렇지 못한 사람은 더 빠르게 뒤처진다는 겁니다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이전까진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년차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년차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같은 ’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경험‘을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노하우의 차이가 생산성의 차이로 이어졌지만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이제는 “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얼마나 효과적으로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활용하느냐”가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이상의 생산성 차이를 만듭니다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진짜 경쟁상대는 ’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활용해 나보다 더 빠르게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깊게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잘 일하는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사람‘입니다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흔히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나의 일을 대신한다고 생각하지만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“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인간의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역량”이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함께 움직입니다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공식으로 표현할 수 있을 것 같은데요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결과물은 인간의 기본 역량에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활용도가 지수형태로 들어간다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얼마나 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활용하느냐에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딸 결과를 ‘제곱’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세제곱’으로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증폭시킵니다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한번 들어보죠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역량을 가진 사람과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역량을 가진 사람이 각각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비슷하게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만큼활용한다고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가정해보면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제곱인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49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아웃컴을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가진 사람은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아웃컴을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기존의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정도의 역량 차이가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이상으로 벌어집니다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반대의 경우도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만약 기본 역량 없이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에만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의존하면 어떻게 될까요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기준인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낮은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0.7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역량을 가진 사람이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쓰면 쓸수록 오히려 수렁에 빠지는 위험성을 보여줍니다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결과물을 검증할 역량이 부족해 잘못된 방식을 그대로 적용하면서 한마디로 잘못된 길로 빠르게 달려가는 상황입니다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결론은 명확합니다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탄탄한 기본기 위에서 의미를 가집니다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탁월함도 미숙함도 모두 증폭시킵니다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시대의 첫 번째 생존 키워드는 기본기 강화입니다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거울이자 렌즈입니다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빛으로 어디를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비추느냐에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따라 결과물은 증폭될 수도 잿더미가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될수도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/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잘 다루기 위해서는 어떤 능력이 필요할까요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그 누구보다 빨리 대답을 생성해내는 시대에 ‘답을 찾는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능력’은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이상 핵심 경쟁력이 아니게 됐습니다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오히려 문제를 정의하는 능력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올바른 질문을 던지고 그 질문을 통해 지식을 어떻게 재구성 하느냐가 진짜 경쟁력이 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지식과 검색 능력을 바탕으로 빠르게 답을 찾는 사람이 유능한 사람이었습니다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하지만 이제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그 역할을 완벽하게 수행합니다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인간이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답을 찾는 속도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이길 수 없습니다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정답 중심의 경쟁은 사실상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끝난것이죠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인간의 가치는 질문에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그럼 좋은 질문은 어디서 나올까요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좋은 질문은 막연한 호기심이 아니라 맥락과 배경지식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도메인 이해가 갖춰진 상황에서 나옵니다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그러면 질문의 해상도가 달라집니다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살빼려면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어떻게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질문하면 그냥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틀에박힌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얘기들로 답변을 생성할 겁니다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현재 나의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수치와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건강 검진 결과와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주일간의 식단과 운동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트래킹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데이터를 함께 제공한다면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그 데이터를 바탕으로 훨씬 고해상도의 답변을 제공할 수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알 수 있는 건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뭘까요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고해상도 답변을 얻기 위해서는 질문도 고해상도로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해야한다는겁니다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그러기 위해서는 본인이 맡은 업무를 다각도로 분석하고 어떤 맥락과 데이터가 필요한지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목표와 제약조건이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뭔지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디테일한 사고가 선행되어 있어야 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질문의 품질이 답의 품질을 결정합니다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시대의 인재는 “더 많은 정답을 가진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사람”이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나은 질문을 던지는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사람”이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질문을 던지는 사람을 넘어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함께 사고하는 사람으로 진화해야 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검색창이 아닌 지적인 능력을 갖춘 동료로 바라보는 순간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우리의 사고 구조는 달라집니다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단순한 프로그램이 아니라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우리의 사고를 확장시키는 **지적 파트너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Co-Thinker)**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dirty="0"/>
              <a:t>이 협력자로 진화하기 위한 세 가지 키워드가 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첫 번째는 </a:t>
            </a:r>
            <a:r>
              <a:rPr lang="en-US" altLang="ko-KR" dirty="0"/>
              <a:t>AI</a:t>
            </a:r>
            <a:r>
              <a:rPr lang="ko-KR" altLang="en-US" dirty="0"/>
              <a:t> 문해력입니다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의 개념과 한계를 이해한 뒤 적재적소 필요한 곳에 사용합니다</a:t>
            </a:r>
            <a:r>
              <a:rPr lang="en-US" altLang="ko-KR" dirty="0"/>
              <a:t>.</a:t>
            </a:r>
            <a:r>
              <a:rPr lang="ko-KR" altLang="en-US" dirty="0"/>
              <a:t> 다양한 모델과 도구를 사용해보면서 실전 경험을 </a:t>
            </a:r>
            <a:r>
              <a:rPr lang="ko-KR" altLang="en-US" dirty="0" err="1"/>
              <a:t>축적해야합니다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이어서 </a:t>
            </a:r>
            <a:r>
              <a:rPr lang="en-US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단순히 </a:t>
            </a:r>
            <a:r>
              <a:rPr lang="ko-KR" altLang="en-US" dirty="0" err="1"/>
              <a:t>사용하는게</a:t>
            </a:r>
            <a:r>
              <a:rPr lang="ko-KR" altLang="en-US" dirty="0"/>
              <a:t> 아니라 함께 사고하는 존재로 인식하는 마인드셋이 필요합니다</a:t>
            </a:r>
            <a:r>
              <a:rPr lang="en-US" altLang="ko-KR" dirty="0"/>
              <a:t>.</a:t>
            </a:r>
          </a:p>
          <a:p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지시를 내리는 게 아니라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대화를 나누는 방식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접근해야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질문하고 → 피드백 받고 → 다시 질문하는 순환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과정에서 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우리의 사고를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확장시켜주는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렌즈가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endParaRPr lang="ko-KR" altLang="en-US" dirty="0"/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무엇을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시킬까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</a:p>
          <a:p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함께 무엇을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만들어낼까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이 협력은 한 번의 대화로 끝나서는 안됩니다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진짜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가치있는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결과는 반복적인 개선 속에서 만들어집니다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첫 답은 완벽하지 않을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하지만 이건 결함이 아니라 시작점입니다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결과를 검토하고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부족한 부분을 다시 설명하고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이해할 수 있게 맥락을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확장시켜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주는 것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이게 협업의 핵심 루프입니다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순환을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반복할수를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결과는 점점 더 정제됩니다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리터러시라는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언어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협력적 사고의 태도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반복 개선의 습관이 연결되면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도구가 아닌 동료가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인간의 협력 성숙도는 어떻게 확인할 수 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FF45-C952-9E60-B5A0-E1ED814D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6030A-8564-140C-AE6D-91278A920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C5120-DD69-3D99-EFA9-1E3FE9461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방금까지 우리는 </a:t>
            </a:r>
            <a:r>
              <a:rPr lang="en-US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단순한 도구가 아니라 함께 사고하는 협력자로 대해야 한다고 이야기했습니다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한번에 바뀌기는 쉽지 않습니다</a:t>
            </a:r>
            <a:r>
              <a:rPr lang="en-US" altLang="ko-KR" dirty="0"/>
              <a:t>.</a:t>
            </a:r>
            <a:r>
              <a:rPr lang="ko-KR" altLang="en-US" dirty="0"/>
              <a:t> 각 단계별 특성을 따라가 보겠습니다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우선 </a:t>
            </a:r>
            <a:r>
              <a:rPr lang="en-US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처음 사용하는 많은 사람들이 기존 검색엔진 대하듯이 </a:t>
            </a:r>
            <a:r>
              <a:rPr lang="en-US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사용합니다</a:t>
            </a:r>
            <a:r>
              <a:rPr lang="en-US" altLang="ko-KR" dirty="0"/>
              <a:t>.</a:t>
            </a:r>
            <a:r>
              <a:rPr lang="ko-KR" altLang="en-US" dirty="0"/>
              <a:t> 단순히 </a:t>
            </a:r>
            <a:r>
              <a:rPr lang="en-US" altLang="ko-KR" dirty="0"/>
              <a:t>’</a:t>
            </a:r>
            <a:r>
              <a:rPr lang="ko-KR" altLang="en-US" dirty="0"/>
              <a:t>이 기능 만들어봐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이 오류 메시지 </a:t>
            </a:r>
            <a:r>
              <a:rPr lang="ko-KR" altLang="en-US" dirty="0" err="1"/>
              <a:t>뭐야</a:t>
            </a:r>
            <a:r>
              <a:rPr lang="en-US" altLang="ko-KR" dirty="0"/>
              <a:t>?’</a:t>
            </a:r>
            <a:r>
              <a:rPr lang="ko-KR" altLang="en-US" dirty="0"/>
              <a:t> </a:t>
            </a:r>
            <a:r>
              <a:rPr lang="ko-KR" altLang="en-US" dirty="0" err="1"/>
              <a:t>처럼</a:t>
            </a:r>
            <a:r>
              <a:rPr lang="ko-KR" altLang="en-US" dirty="0"/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크게 생각하지 않고 질문하고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답을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생각없이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그대로 받아들이는 단계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인지적 부담의 외주화라고 부르고 이 단계는 스스로 판단하지 못하는 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의존형’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br>
              <a:rPr lang="ko-KR" altLang="en-US" dirty="0"/>
            </a:b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‘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증강형‘입니다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진짜 협업이 시작됩니다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인간이 판단의 주도권을 유지합니다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사용하지만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효율적으로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Offloading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통제하고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결과를 재해석하고 확장합니다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때 인간의 사고력과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처리력이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서로를 보완하며 상승하기 시작합니다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이 협력이 충분히 축적되면 공동 사고의 단계로 진화합니다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단계인 ’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통합형‘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즉 인간과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함께 진화하는 수준입니다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인간과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상호 피드백루프 형성을 통해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인간이 질문하고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답하고 인간이 그 답을 검토하고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어떻게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질문하는게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효과적이었을지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지금 어떤 데이터가 더 필요한지 반대로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에게 요청하기도 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이는‘메타인지적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숙달’이라고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자신의 사고 과정을 인식하고 통제하는 최고 수준의 능력입니다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메타인지라는 단어를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여러번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사용했는데 메타인지는 왜 중요할까요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메타인지란 ‘생각에 대한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생각’입니다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내가 지금 무엇을 알고 모르는지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 추론 과정이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올바른지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전략이 효과적인지를 아는 능력입니다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시대에는 이것이 결정적입니다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답이 맞는지 틀렸는지 판단하려면 나 자신의 사고 과정을 명확히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인식해야합니다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증강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통합</a:t>
            </a:r>
            <a:b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효율을 높이는 수준을 넘어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사고의 주도권과 창의성의 중심을 되찾는 과정입니다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시대의 목표는 인공지능을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자동화 엔진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쓰는 것이 아니라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함께 성장하는 공동 사고체계로 통합하는 것입니다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 실제로 이 협력의 깊이에 따라 어떤 결과 차이가 나타날까요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ko-KR" alt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11F9B-DE1B-425F-2FB5-6BBDDF03C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25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똑같이 써도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결과는 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 이상 달라집니다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‘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태도’에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언더퍼포머는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검색창’처럼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씁니다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질문 한 번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답변 한 번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결과가 마음에 안 들면 “역시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별로야”라고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말하죠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아웃퍼포머는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‘지적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파트너’로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함께 문제를 정의하고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검증하고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피드백을 줍니다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개선하고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재실험합니다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 자체가 사고의 증폭입니다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단순히 ‘무엇을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아느냐’가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</a:t>
            </a: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‘어떻게 </a:t>
            </a:r>
            <a:r>
              <a:rPr lang="ko-KR" alt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사고하느냐’를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보여주는 도구입니다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진짜 경쟁력은 </a:t>
            </a:r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활용 스킬이 아니라</a:t>
            </a:r>
          </a:p>
          <a:p>
            <a:pPr rtl="0"/>
            <a:r>
              <a:rPr lang="en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함께 사고를 확장하는 습관에서 나옵니다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</a:t>
            </a:r>
            <a:r>
              <a:rPr lang="en-US" dirty="0"/>
              <a:t>AI</a:t>
            </a:r>
            <a:r>
              <a:rPr lang="ko-KR" altLang="en-US" dirty="0"/>
              <a:t>는 수많은 데이터와 학습을 통해 가장 확률이 높은</a:t>
            </a:r>
            <a:r>
              <a:rPr lang="en-US" altLang="ko-KR" dirty="0"/>
              <a:t>,</a:t>
            </a:r>
            <a:r>
              <a:rPr lang="ko-KR" altLang="en-US" dirty="0"/>
              <a:t> 즉 </a:t>
            </a:r>
            <a:r>
              <a:rPr lang="en-US" altLang="ko-KR" dirty="0"/>
              <a:t>‘</a:t>
            </a:r>
            <a:r>
              <a:rPr lang="ko-KR" altLang="en-US" dirty="0"/>
              <a:t>평균치</a:t>
            </a:r>
            <a:r>
              <a:rPr lang="en-US" altLang="ko-KR" dirty="0"/>
              <a:t>’</a:t>
            </a:r>
            <a:r>
              <a:rPr lang="ko-KR" altLang="en-US" dirty="0" err="1"/>
              <a:t>를</a:t>
            </a:r>
            <a:r>
              <a:rPr lang="ko-KR" altLang="en-US" dirty="0"/>
              <a:t> 파악하는 능력이 뛰어납니다</a:t>
            </a:r>
            <a:r>
              <a:rPr lang="en-US" altLang="ko-KR" dirty="0"/>
              <a:t>.</a:t>
            </a:r>
            <a:r>
              <a:rPr lang="ko-KR" altLang="en-US" dirty="0"/>
              <a:t> 예전에는 </a:t>
            </a:r>
            <a:r>
              <a:rPr lang="en-US" altLang="ko-KR" dirty="0"/>
              <a:t>‘</a:t>
            </a:r>
            <a:r>
              <a:rPr lang="ko-KR" altLang="en-US" dirty="0"/>
              <a:t>가만히 있으면 중간은 간다</a:t>
            </a:r>
            <a:r>
              <a:rPr lang="en-US" altLang="ko-KR" dirty="0"/>
              <a:t>.’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중간만 해라</a:t>
            </a:r>
            <a:r>
              <a:rPr lang="en-US" altLang="ko-KR" dirty="0"/>
              <a:t>’</a:t>
            </a:r>
            <a:r>
              <a:rPr lang="ko-KR" altLang="en-US" dirty="0"/>
              <a:t> 이런 말이 통했다면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시대에는 가만히 </a:t>
            </a:r>
            <a:r>
              <a:rPr lang="ko-KR" altLang="en-US" dirty="0" err="1"/>
              <a:t>있는사람</a:t>
            </a:r>
            <a:r>
              <a:rPr lang="en-US" altLang="ko-KR" dirty="0"/>
              <a:t>,</a:t>
            </a:r>
            <a:r>
              <a:rPr lang="ko-KR" altLang="en-US" dirty="0"/>
              <a:t> 중간에 있는 사람이 가장 먼저 </a:t>
            </a:r>
            <a:r>
              <a:rPr lang="en-US" altLang="ko-KR" dirty="0"/>
              <a:t>AI</a:t>
            </a:r>
            <a:r>
              <a:rPr lang="ko-KR" altLang="en-US" dirty="0"/>
              <a:t>에게 대체됩니다</a:t>
            </a:r>
            <a:r>
              <a:rPr lang="en-US" altLang="ko-KR" dirty="0"/>
              <a:t>.</a:t>
            </a:r>
            <a:r>
              <a:rPr lang="ko-KR" altLang="en-US" dirty="0"/>
              <a:t> 모두에게 </a:t>
            </a:r>
            <a:r>
              <a:rPr lang="en-US" altLang="ko-KR" dirty="0"/>
              <a:t>AI</a:t>
            </a:r>
            <a:r>
              <a:rPr lang="ko-KR" altLang="en-US" dirty="0"/>
              <a:t> 라는 능력이 주어진 세상에서는 결국 차이는 그걸 사용하는 인간의 </a:t>
            </a:r>
            <a:r>
              <a:rPr lang="en-US" altLang="ko-KR" dirty="0"/>
              <a:t>‘</a:t>
            </a:r>
            <a:r>
              <a:rPr lang="ko-KR" altLang="en-US" dirty="0"/>
              <a:t>인간성</a:t>
            </a:r>
            <a:r>
              <a:rPr lang="en-US" altLang="ko-KR" dirty="0"/>
              <a:t>’</a:t>
            </a:r>
            <a:r>
              <a:rPr lang="ko-KR" altLang="en-US" dirty="0"/>
              <a:t>에서 차별화가 발생합니다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크게 </a:t>
            </a:r>
            <a:r>
              <a:rPr lang="en-US" altLang="ko-KR" dirty="0"/>
              <a:t>4</a:t>
            </a:r>
            <a:r>
              <a:rPr lang="ko-KR" altLang="en-US" dirty="0"/>
              <a:t>가지로 정리해봤는데 역시 본인 분야에 대한 깊이 있는 전문성이 여전히 필요합니다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표면적인 정보를 제공하면 그걸 비즈니스 맥락에 맞게 재구성하고 의사결정을 통해 아키텍처를 설계하는 고차원적인 능력이 특정 일부가 아닌 모두에게 필요하게 </a:t>
            </a:r>
            <a:r>
              <a:rPr lang="ko-KR" altLang="en-US" dirty="0" err="1"/>
              <a:t>될겁니다</a:t>
            </a:r>
            <a:r>
              <a:rPr lang="en-US" altLang="ko-KR" dirty="0"/>
              <a:t>.</a:t>
            </a:r>
            <a:r>
              <a:rPr lang="ko-KR" altLang="en-US" dirty="0"/>
              <a:t> 이 때 </a:t>
            </a:r>
            <a:r>
              <a:rPr lang="en-US" altLang="ko-KR" dirty="0"/>
              <a:t>AI</a:t>
            </a:r>
            <a:r>
              <a:rPr lang="ko-KR" altLang="en-US" dirty="0"/>
              <a:t>가 제공한 답변을 넘어선</a:t>
            </a:r>
            <a:r>
              <a:rPr lang="en-US" altLang="ko-KR" dirty="0"/>
              <a:t>,</a:t>
            </a:r>
            <a:r>
              <a:rPr lang="ko-KR" altLang="en-US" dirty="0"/>
              <a:t> 본인만의 직관과 통찰이 더해지면 그 사람만의 가치가 생겨나게 되고 그것이 곧 그 사람의 브랜드 가치가 됩니다</a:t>
            </a:r>
            <a:r>
              <a:rPr lang="en-US" altLang="ko-KR" dirty="0"/>
              <a:t>.</a:t>
            </a:r>
            <a:r>
              <a:rPr lang="ko-KR" altLang="en-US" dirty="0"/>
              <a:t> 즉 그 사람의 능력을 넘어 매력이 </a:t>
            </a:r>
            <a:r>
              <a:rPr lang="en-US" altLang="ko-KR" dirty="0"/>
              <a:t>AI</a:t>
            </a:r>
            <a:r>
              <a:rPr lang="ko-KR" altLang="en-US" dirty="0"/>
              <a:t> 시대에 더더욱 그 차별화의 중심에 등극하게 될 텐데</a:t>
            </a:r>
            <a:r>
              <a:rPr lang="en-US" altLang="ko-KR" dirty="0"/>
              <a:t>,</a:t>
            </a:r>
            <a:r>
              <a:rPr lang="ko-KR" altLang="en-US" dirty="0"/>
              <a:t> 당연히 </a:t>
            </a:r>
            <a:r>
              <a:rPr lang="en-US" altLang="ko-KR" dirty="0"/>
              <a:t>AI</a:t>
            </a:r>
            <a:r>
              <a:rPr lang="ko-KR" altLang="en-US" dirty="0"/>
              <a:t>가 아직 하지 못하는 감정 교류</a:t>
            </a:r>
            <a:r>
              <a:rPr lang="en-US" altLang="ko-KR" dirty="0"/>
              <a:t>,</a:t>
            </a:r>
            <a:r>
              <a:rPr lang="ko-KR" altLang="en-US" dirty="0"/>
              <a:t> 동기부여 같은 협업 능력이 포함됩니다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ko-KR" altLang="en-US" dirty="0"/>
              <a:t>는 특정 직업 전체가 아니라 특정 수준의 업무를 대체하는 경향을 보입니다</a:t>
            </a:r>
            <a:r>
              <a:rPr lang="en-US" altLang="ko-KR" dirty="0"/>
              <a:t>.</a:t>
            </a:r>
            <a:r>
              <a:rPr lang="ko-KR" altLang="en-US" dirty="0"/>
              <a:t> 여기서 일정 수준이라는 </a:t>
            </a:r>
            <a:r>
              <a:rPr lang="en-US" altLang="ko-KR" dirty="0"/>
              <a:t>‘</a:t>
            </a:r>
            <a:r>
              <a:rPr lang="ko-KR" altLang="en-US" dirty="0"/>
              <a:t>그 일이 무엇인지 정확하게 </a:t>
            </a:r>
            <a:r>
              <a:rPr lang="ko-KR" altLang="en-US" dirty="0" err="1"/>
              <a:t>설명할수</a:t>
            </a:r>
            <a:r>
              <a:rPr lang="ko-KR" altLang="en-US" dirty="0"/>
              <a:t> 있는 업무</a:t>
            </a:r>
            <a:r>
              <a:rPr lang="en-US" altLang="ko-KR" dirty="0"/>
              <a:t>’</a:t>
            </a:r>
            <a:r>
              <a:rPr lang="ko-KR" altLang="en-US" dirty="0"/>
              <a:t> 다시 말해서 반복적이고 규칙이 명확한 업무인데 이는 이미 </a:t>
            </a:r>
            <a:r>
              <a:rPr lang="en-US" altLang="ko-KR" dirty="0"/>
              <a:t>AI</a:t>
            </a:r>
            <a:r>
              <a:rPr lang="ko-KR" altLang="en-US" dirty="0"/>
              <a:t>로 대체되고 있습니다</a:t>
            </a:r>
            <a:r>
              <a:rPr lang="en-US" altLang="ko-KR" dirty="0"/>
              <a:t>.</a:t>
            </a:r>
            <a:r>
              <a:rPr lang="ko-KR" altLang="en-US" dirty="0"/>
              <a:t> 만약 특정 직업의 모든 업무가 이러한 방식이라면 그 직업 전체가 없어질 수도 있겠죠</a:t>
            </a:r>
            <a:r>
              <a:rPr lang="en-US" altLang="ko-KR" dirty="0"/>
              <a:t>.</a:t>
            </a:r>
            <a:r>
              <a:rPr lang="ko-KR" altLang="en-US" dirty="0"/>
              <a:t> 사실상 대부분의 직업에서 하위 </a:t>
            </a:r>
            <a:r>
              <a:rPr lang="en-US" altLang="ko-KR" dirty="0"/>
              <a:t>50%,</a:t>
            </a:r>
            <a:r>
              <a:rPr lang="ko-KR" altLang="en-US" dirty="0"/>
              <a:t> 나아가 </a:t>
            </a:r>
            <a:r>
              <a:rPr lang="en-US" altLang="ko-KR" dirty="0"/>
              <a:t>90%</a:t>
            </a:r>
            <a:r>
              <a:rPr lang="ko-KR" altLang="en-US" dirty="0"/>
              <a:t> 이상의 업무를 </a:t>
            </a:r>
            <a:r>
              <a:rPr lang="en-US" altLang="ko-KR" dirty="0"/>
              <a:t>AI</a:t>
            </a:r>
            <a:r>
              <a:rPr lang="ko-KR" altLang="en-US" dirty="0"/>
              <a:t>가 대체할 잠재력을 가지고 있습니다</a:t>
            </a:r>
            <a:r>
              <a:rPr lang="en-US" altLang="ko-KR" dirty="0"/>
              <a:t>.</a:t>
            </a:r>
            <a:r>
              <a:rPr lang="ko-KR" altLang="en-US" dirty="0"/>
              <a:t> 그럼 우리는 어떤 준비를 해야 할까요</a:t>
            </a:r>
            <a:r>
              <a:rPr lang="en-US" altLang="ko-KR" dirty="0"/>
              <a:t>?</a:t>
            </a:r>
            <a:r>
              <a:rPr lang="ko-KR" altLang="en-US" dirty="0"/>
              <a:t> 이 질문은 개인이 아니라 조직에게 던지는 질문입니다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DX: "</a:t>
            </a:r>
            <a:r>
              <a:rPr lang="ko-KR" altLang="en-US" dirty="0"/>
              <a:t>어떻게</a:t>
            </a:r>
            <a:r>
              <a:rPr lang="en-US" altLang="ko-KR" dirty="0"/>
              <a:t>(</a:t>
            </a:r>
            <a:r>
              <a:rPr lang="en-US" dirty="0"/>
              <a:t>How)" </a:t>
            </a:r>
            <a:r>
              <a:rPr lang="ko-KR" altLang="en-US" dirty="0"/>
              <a:t>관리 → 효율성 중심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dirty="0"/>
              <a:t>AX: "</a:t>
            </a:r>
            <a:r>
              <a:rPr lang="ko-KR" altLang="en-US" dirty="0"/>
              <a:t>왜</a:t>
            </a:r>
            <a:r>
              <a:rPr lang="en-US" altLang="ko-KR" dirty="0"/>
              <a:t>(</a:t>
            </a:r>
            <a:r>
              <a:rPr lang="en-US" dirty="0"/>
              <a:t>Why)" &amp; "</a:t>
            </a:r>
            <a:r>
              <a:rPr lang="ko-KR" altLang="en-US" dirty="0"/>
              <a:t>무엇을</a:t>
            </a:r>
            <a:r>
              <a:rPr lang="en-US" altLang="ko-KR" dirty="0"/>
              <a:t>(</a:t>
            </a:r>
            <a:r>
              <a:rPr lang="en-US" dirty="0"/>
              <a:t>What)" </a:t>
            </a:r>
            <a:r>
              <a:rPr lang="ko-KR" altLang="en-US" dirty="0"/>
              <a:t>정의 → 의미와 방향성 중심</a:t>
            </a:r>
          </a:p>
          <a:p>
            <a:endParaRPr lang="ko-KR" altLang="en-US" dirty="0"/>
          </a:p>
          <a:p>
            <a:r>
              <a:rPr lang="ko-KR" altLang="en-US" dirty="0"/>
              <a:t>  결국 </a:t>
            </a:r>
            <a:r>
              <a:rPr lang="en-US" dirty="0"/>
              <a:t>AI</a:t>
            </a:r>
            <a:r>
              <a:rPr lang="ko-KR" altLang="en-US" dirty="0"/>
              <a:t>가 실행과 최적화를 담당하면</a:t>
            </a:r>
            <a:r>
              <a:rPr lang="en-US" altLang="ko-KR" dirty="0"/>
              <a:t>, </a:t>
            </a:r>
            <a:r>
              <a:rPr lang="ko-KR" altLang="en-US" dirty="0"/>
              <a:t>인간은 목적을 부여하고 새로운 가능성을 상상하는 역할로 진화하게 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누가 더 많이 아는가 </a:t>
            </a:r>
            <a:r>
              <a:rPr lang="en-US" altLang="ko-KR" dirty="0"/>
              <a:t>&lt; </a:t>
            </a:r>
            <a:r>
              <a:rPr lang="ko-KR" altLang="en-US" dirty="0"/>
              <a:t>누가 더 빨리 배우는가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11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1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.pn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.png"/><Relationship Id="rId21" Type="http://schemas.openxmlformats.org/officeDocument/2006/relationships/image" Target="../media/image142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7.png"/><Relationship Id="rId20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24" Type="http://schemas.openxmlformats.org/officeDocument/2006/relationships/image" Target="../media/image145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23" Type="http://schemas.openxmlformats.org/officeDocument/2006/relationships/image" Target="../media/image144.png"/><Relationship Id="rId10" Type="http://schemas.openxmlformats.org/officeDocument/2006/relationships/image" Target="../media/image131.png"/><Relationship Id="rId19" Type="http://schemas.openxmlformats.org/officeDocument/2006/relationships/image" Target="../media/image140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Relationship Id="rId22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3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5" Type="http://schemas.openxmlformats.org/officeDocument/2006/relationships/image" Target="../media/image148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8.png"/><Relationship Id="rId18" Type="http://schemas.openxmlformats.org/officeDocument/2006/relationships/image" Target="../media/image173.png"/><Relationship Id="rId26" Type="http://schemas.openxmlformats.org/officeDocument/2006/relationships/image" Target="../media/image181.png"/><Relationship Id="rId3" Type="http://schemas.openxmlformats.org/officeDocument/2006/relationships/image" Target="../media/image1.png"/><Relationship Id="rId21" Type="http://schemas.openxmlformats.org/officeDocument/2006/relationships/image" Target="../media/image176.png"/><Relationship Id="rId7" Type="http://schemas.openxmlformats.org/officeDocument/2006/relationships/image" Target="../media/image163.png"/><Relationship Id="rId12" Type="http://schemas.openxmlformats.org/officeDocument/2006/relationships/image" Target="../media/image12.png"/><Relationship Id="rId17" Type="http://schemas.openxmlformats.org/officeDocument/2006/relationships/image" Target="../media/image172.png"/><Relationship Id="rId25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1.png"/><Relationship Id="rId20" Type="http://schemas.openxmlformats.org/officeDocument/2006/relationships/image" Target="../media/image175.png"/><Relationship Id="rId29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24" Type="http://schemas.openxmlformats.org/officeDocument/2006/relationships/image" Target="../media/image179.png"/><Relationship Id="rId5" Type="http://schemas.openxmlformats.org/officeDocument/2006/relationships/image" Target="../media/image161.png"/><Relationship Id="rId15" Type="http://schemas.openxmlformats.org/officeDocument/2006/relationships/image" Target="../media/image170.png"/><Relationship Id="rId23" Type="http://schemas.openxmlformats.org/officeDocument/2006/relationships/image" Target="../media/image178.png"/><Relationship Id="rId28" Type="http://schemas.openxmlformats.org/officeDocument/2006/relationships/image" Target="../media/image183.png"/><Relationship Id="rId10" Type="http://schemas.openxmlformats.org/officeDocument/2006/relationships/image" Target="../media/image166.png"/><Relationship Id="rId19" Type="http://schemas.openxmlformats.org/officeDocument/2006/relationships/image" Target="../media/image174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69.png"/><Relationship Id="rId22" Type="http://schemas.openxmlformats.org/officeDocument/2006/relationships/image" Target="../media/image177.png"/><Relationship Id="rId27" Type="http://schemas.openxmlformats.org/officeDocument/2006/relationships/image" Target="../media/image182.png"/><Relationship Id="rId30" Type="http://schemas.openxmlformats.org/officeDocument/2006/relationships/image" Target="../media/image18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195.png"/><Relationship Id="rId1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189.png"/><Relationship Id="rId12" Type="http://schemas.openxmlformats.org/officeDocument/2006/relationships/image" Target="../media/image194.png"/><Relationship Id="rId17" Type="http://schemas.openxmlformats.org/officeDocument/2006/relationships/image" Target="../media/image19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5" Type="http://schemas.openxmlformats.org/officeDocument/2006/relationships/image" Target="../media/image197.png"/><Relationship Id="rId10" Type="http://schemas.openxmlformats.org/officeDocument/2006/relationships/image" Target="../media/image192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Relationship Id="rId14" Type="http://schemas.openxmlformats.org/officeDocument/2006/relationships/image" Target="../media/image19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3" Type="http://schemas.openxmlformats.org/officeDocument/2006/relationships/image" Target="../media/image1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201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image" Target="../media/image230.png"/><Relationship Id="rId3" Type="http://schemas.openxmlformats.org/officeDocument/2006/relationships/image" Target="../media/image1.png"/><Relationship Id="rId7" Type="http://schemas.openxmlformats.org/officeDocument/2006/relationships/image" Target="../media/image224.png"/><Relationship Id="rId12" Type="http://schemas.openxmlformats.org/officeDocument/2006/relationships/image" Target="../media/image2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3.png"/><Relationship Id="rId11" Type="http://schemas.openxmlformats.org/officeDocument/2006/relationships/image" Target="../media/image228.png"/><Relationship Id="rId5" Type="http://schemas.openxmlformats.org/officeDocument/2006/relationships/image" Target="../media/image222.png"/><Relationship Id="rId15" Type="http://schemas.openxmlformats.org/officeDocument/2006/relationships/image" Target="../media/image232.png"/><Relationship Id="rId10" Type="http://schemas.openxmlformats.org/officeDocument/2006/relationships/image" Target="../media/image227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Relationship Id="rId14" Type="http://schemas.openxmlformats.org/officeDocument/2006/relationships/image" Target="../media/image2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10" Type="http://schemas.openxmlformats.org/officeDocument/2006/relationships/image" Target="../media/image240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18" Type="http://schemas.openxmlformats.org/officeDocument/2006/relationships/image" Target="../media/image260.png"/><Relationship Id="rId3" Type="http://schemas.openxmlformats.org/officeDocument/2006/relationships/image" Target="../media/image1.png"/><Relationship Id="rId21" Type="http://schemas.openxmlformats.org/officeDocument/2006/relationships/image" Target="../media/image263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17" Type="http://schemas.openxmlformats.org/officeDocument/2006/relationships/image" Target="../media/image25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58.png"/><Relationship Id="rId20" Type="http://schemas.openxmlformats.org/officeDocument/2006/relationships/image" Target="../media/image2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247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19" Type="http://schemas.openxmlformats.org/officeDocument/2006/relationships/image" Target="../media/image261.png"/><Relationship Id="rId4" Type="http://schemas.openxmlformats.org/officeDocument/2006/relationships/image" Target="../media/image246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Relationship Id="rId22" Type="http://schemas.openxmlformats.org/officeDocument/2006/relationships/image" Target="../media/image2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275.png"/><Relationship Id="rId18" Type="http://schemas.openxmlformats.org/officeDocument/2006/relationships/image" Target="../media/image280.png"/><Relationship Id="rId3" Type="http://schemas.openxmlformats.org/officeDocument/2006/relationships/image" Target="../media/image265.png"/><Relationship Id="rId21" Type="http://schemas.openxmlformats.org/officeDocument/2006/relationships/image" Target="../media/image283.png"/><Relationship Id="rId7" Type="http://schemas.openxmlformats.org/officeDocument/2006/relationships/image" Target="../media/image269.png"/><Relationship Id="rId12" Type="http://schemas.openxmlformats.org/officeDocument/2006/relationships/image" Target="../media/image274.png"/><Relationship Id="rId17" Type="http://schemas.openxmlformats.org/officeDocument/2006/relationships/image" Target="../media/image279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78.png"/><Relationship Id="rId20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8.png"/><Relationship Id="rId11" Type="http://schemas.openxmlformats.org/officeDocument/2006/relationships/image" Target="../media/image273.png"/><Relationship Id="rId5" Type="http://schemas.openxmlformats.org/officeDocument/2006/relationships/image" Target="../media/image267.png"/><Relationship Id="rId15" Type="http://schemas.openxmlformats.org/officeDocument/2006/relationships/image" Target="../media/image277.png"/><Relationship Id="rId10" Type="http://schemas.openxmlformats.org/officeDocument/2006/relationships/image" Target="../media/image272.png"/><Relationship Id="rId19" Type="http://schemas.openxmlformats.org/officeDocument/2006/relationships/image" Target="../media/image281.png"/><Relationship Id="rId4" Type="http://schemas.openxmlformats.org/officeDocument/2006/relationships/image" Target="../media/image266.png"/><Relationship Id="rId9" Type="http://schemas.openxmlformats.org/officeDocument/2006/relationships/image" Target="../media/image271.png"/><Relationship Id="rId14" Type="http://schemas.openxmlformats.org/officeDocument/2006/relationships/image" Target="../media/image2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8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6.png"/><Relationship Id="rId11" Type="http://schemas.openxmlformats.org/officeDocument/2006/relationships/image" Target="../media/image19.png"/><Relationship Id="rId5" Type="http://schemas.openxmlformats.org/officeDocument/2006/relationships/image" Target="../media/image285.png"/><Relationship Id="rId10" Type="http://schemas.openxmlformats.org/officeDocument/2006/relationships/image" Target="../media/image288.png"/><Relationship Id="rId4" Type="http://schemas.openxmlformats.org/officeDocument/2006/relationships/image" Target="../media/image284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75"/>
            <a:ext cx="6667500" cy="5715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952500"/>
            <a:ext cx="47625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2857500"/>
            <a:ext cx="3810000" cy="3810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3100" y="962025"/>
            <a:ext cx="68580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4220" y="4529138"/>
            <a:ext cx="304413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750" y="44005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4529138"/>
            <a:ext cx="3044130" cy="190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3893" y="5667375"/>
            <a:ext cx="15240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6167" y="6362700"/>
            <a:ext cx="13335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000226" y="1981200"/>
            <a:ext cx="6191399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</a:t>
            </a:r>
            <a:r>
              <a:rPr lang="en-US" sz="45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개인과</a:t>
            </a:r>
            <a:r>
              <a:rPr lang="en-US" sz="45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45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기업의</a:t>
            </a:r>
            <a:endParaRPr lang="en-US" sz="4500" b="1" dirty="0">
              <a:solidFill>
                <a:srgbClr val="00FFF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lnSpc>
                <a:spcPts val="5625"/>
              </a:lnSpc>
              <a:buNone/>
            </a:pPr>
            <a:r>
              <a:rPr lang="en-US" sz="4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</a:t>
            </a:r>
            <a:r>
              <a:rPr lang="en-US" sz="4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생존 전략</a:t>
            </a:r>
            <a:endParaRPr lang="en-US" sz="4500" dirty="0"/>
          </a:p>
        </p:txBody>
      </p:sp>
      <p:sp>
        <p:nvSpPr>
          <p:cNvPr id="13" name="Text 1"/>
          <p:cNvSpPr/>
          <p:nvPr/>
        </p:nvSpPr>
        <p:spPr>
          <a:xfrm>
            <a:off x="3055441" y="3638550"/>
            <a:ext cx="60811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ko-KR" altLang="en-US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역량의 증폭인가</a:t>
            </a:r>
            <a:r>
              <a:rPr lang="en-US" altLang="ko-KR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격차의 증폭인가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5074622" y="5286375"/>
            <a:ext cx="2042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기업 컨퍼런스 2025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5174981" y="5629275"/>
            <a:ext cx="2042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2025-10-06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10735717" y="6324600"/>
            <a:ext cx="1381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발표자: 전략부문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1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75" y="1219200"/>
            <a:ext cx="40005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14300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1857375"/>
            <a:ext cx="48768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5050" y="1219200"/>
            <a:ext cx="5715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457575"/>
            <a:ext cx="3454301" cy="1981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3875" y="3695700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8701" y="3457575"/>
            <a:ext cx="3454450" cy="1981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4876" y="3695700"/>
            <a:ext cx="3619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3457575"/>
            <a:ext cx="3454301" cy="1981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4126" y="3695700"/>
            <a:ext cx="361950" cy="2857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228600"/>
            <a:ext cx="3520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경쟁의 서막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752600" y="1857375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3657600" y="1971675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AI: 거대한 증폭기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9743792" y="1857375"/>
            <a:ext cx="933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+ AI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-2" y="2581275"/>
            <a:ext cx="121920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기술</a:t>
            </a:r>
            <a:r>
              <a:rPr lang="ko-KR" alt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아닌, 개인과 조직의 역량 격차를 </a:t>
            </a:r>
            <a:r>
              <a:rPr 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기하급수적으로 </a:t>
            </a:r>
            <a:r>
              <a:rPr lang="en-US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확대하는</a:t>
            </a:r>
            <a:r>
              <a:rPr 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증폭기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1819123" y="4181475"/>
            <a:ext cx="9757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격차의 증폭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838200" y="4524375"/>
            <a:ext cx="29971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기술은</a:t>
            </a: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역량의 격차를 증폭시켜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능숙한 사람과 그렇지 못한 사람의 격차가 </a:t>
            </a:r>
            <a:r>
              <a:rPr lang="ko-KR" alt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극명해집니다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Text 7"/>
          <p:cNvSpPr/>
          <p:nvPr/>
        </p:nvSpPr>
        <p:spPr>
          <a:xfrm>
            <a:off x="5544889" y="4181475"/>
            <a:ext cx="1102221" cy="28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변화의 불균형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4597301" y="4524375"/>
            <a:ext cx="299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기술은 빠르게 발전하지만 인적 역량의 발전 속도는 느리므로 두 역량 사이의 격차가 계속 확대됩니다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9"/>
          <p:cNvSpPr/>
          <p:nvPr/>
        </p:nvSpPr>
        <p:spPr>
          <a:xfrm>
            <a:off x="9431171" y="4181475"/>
            <a:ext cx="12065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변수</a:t>
            </a:r>
            <a:endParaRPr lang="en-US" sz="1500" dirty="0"/>
          </a:p>
        </p:txBody>
      </p:sp>
      <p:sp>
        <p:nvSpPr>
          <p:cNvPr id="23" name="Text 10"/>
          <p:cNvSpPr/>
          <p:nvPr/>
        </p:nvSpPr>
        <p:spPr>
          <a:xfrm>
            <a:off x="8356550" y="4524375"/>
            <a:ext cx="2997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기존의 역량과 노하우는 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도래로 인해 갑자기 </a:t>
            </a:r>
            <a:r>
              <a:rPr lang="ko-KR" alt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불충분해졌습니다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과거의 성공방식을 전면적으로 </a:t>
            </a:r>
            <a:r>
              <a:rPr lang="ko-KR" alt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재검토해야합니다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713C2A-F03B-0408-B214-1C4574BCCC34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90B9F460-5525-F888-8716-5F5A1DAE7AD5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139" y="1299814"/>
            <a:ext cx="5944046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3716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2438400"/>
            <a:ext cx="5334000" cy="3086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676525"/>
            <a:ext cx="3238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667" y="32004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2939" y="3352800"/>
            <a:ext cx="501194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6533" y="3200400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4076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4419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4762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5105400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829300"/>
            <a:ext cx="10972800" cy="8477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22080" y="5924088"/>
            <a:ext cx="390525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98305" y="5981700"/>
            <a:ext cx="190500" cy="1905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228600"/>
            <a:ext cx="52467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인간</a:t>
            </a:r>
            <a:r>
              <a:rPr lang="en-US" sz="27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^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AI: 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역량의 증폭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602236" y="1428750"/>
            <a:ext cx="1440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 err="1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결과물</a:t>
            </a:r>
            <a:r>
              <a:rPr lang="en-US" sz="225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25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25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endParaRPr lang="en-US" sz="2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802341" y="1438275"/>
            <a:ext cx="15775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역량</a:t>
            </a:r>
            <a:endParaRPr lang="en-US" sz="2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6638925" y="1438275"/>
            <a:ext cx="18667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en-US" sz="22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활용</a:t>
            </a:r>
            <a:r>
              <a:rPr lang="ko-KR" altLang="en-US" sz="22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</a:t>
            </a:r>
            <a:endParaRPr lang="en-US" sz="22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953250" y="2686050"/>
            <a:ext cx="3124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</a:t>
            </a:r>
            <a:r>
              <a:rPr lang="en-US" sz="18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없이</a:t>
            </a: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AI</a:t>
            </a:r>
            <a:r>
              <a:rPr lang="ko-KR" altLang="en-US" sz="180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의존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927066" y="3352800"/>
            <a:ext cx="38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0.7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8399753" y="3152101"/>
            <a:ext cx="127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CA5A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9466533" y="3352800"/>
            <a:ext cx="5339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0.49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6781799" y="4038600"/>
            <a:ext cx="1971139" cy="241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결과물을 검증할 역량 부족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6781800" y="4381500"/>
            <a:ext cx="2459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잘못된 방식을 그대로 적용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6781800" y="4724400"/>
            <a:ext cx="19711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사용할수록</a:t>
            </a: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위험성 증가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6743700" y="5067300"/>
            <a:ext cx="1381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성과 오히려 감소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4603105" y="5986001"/>
            <a:ext cx="4279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FFAF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AI는 증폭기: </a:t>
            </a:r>
            <a:r>
              <a:rPr lang="en-US" sz="15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탁월함도 미숙함도 모두 증폭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B88D688A-8784-64F6-7C50-8CBC36455AED}"/>
              </a:ext>
            </a:extLst>
          </p:cNvPr>
          <p:cNvSpPr/>
          <p:nvPr/>
        </p:nvSpPr>
        <p:spPr>
          <a:xfrm>
            <a:off x="6487872" y="1554432"/>
            <a:ext cx="2034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ko-KR" sz="240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^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9" name="Image 8" descr="preencoded.png">
            <a:extLst>
              <a:ext uri="{FF2B5EF4-FFF2-40B4-BE49-F238E27FC236}">
                <a16:creationId xmlns:a16="http://schemas.microsoft.com/office/drawing/2014/main" id="{76804B7C-5DAA-8708-7F57-95D29A0987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384" y="3117559"/>
            <a:ext cx="344104" cy="344104"/>
          </a:xfrm>
          <a:prstGeom prst="rect">
            <a:avLst/>
          </a:prstGeom>
        </p:spPr>
      </p:pic>
      <p:sp>
        <p:nvSpPr>
          <p:cNvPr id="4" name="Text 23">
            <a:extLst>
              <a:ext uri="{FF2B5EF4-FFF2-40B4-BE49-F238E27FC236}">
                <a16:creationId xmlns:a16="http://schemas.microsoft.com/office/drawing/2014/main" id="{5C9A8163-0C52-0A23-DBAC-78382C1EA55F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D0B53AC1-3347-A75A-878C-6EC7B3889FBB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pic>
        <p:nvPicPr>
          <p:cNvPr id="7" name="Image 16" descr="preencoded.png">
            <a:extLst>
              <a:ext uri="{FF2B5EF4-FFF2-40B4-BE49-F238E27FC236}">
                <a16:creationId xmlns:a16="http://schemas.microsoft.com/office/drawing/2014/main" id="{C98306D8-18A5-3169-E52F-726F5EB291D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6740" y="2438400"/>
            <a:ext cx="5334000" cy="3086100"/>
          </a:xfrm>
          <a:prstGeom prst="rect">
            <a:avLst/>
          </a:prstGeom>
        </p:spPr>
      </p:pic>
      <p:pic>
        <p:nvPicPr>
          <p:cNvPr id="11" name="Image 17" descr="preencoded.png">
            <a:extLst>
              <a:ext uri="{FF2B5EF4-FFF2-40B4-BE49-F238E27FC236}">
                <a16:creationId xmlns:a16="http://schemas.microsoft.com/office/drawing/2014/main" id="{387A9DAF-595F-EB4E-C55C-8997BF6C35B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5340" y="2676525"/>
            <a:ext cx="323850" cy="285750"/>
          </a:xfrm>
          <a:prstGeom prst="rect">
            <a:avLst/>
          </a:prstGeom>
        </p:spPr>
      </p:pic>
      <p:pic>
        <p:nvPicPr>
          <p:cNvPr id="20" name="Image 22" descr="preencoded.png">
            <a:extLst>
              <a:ext uri="{FF2B5EF4-FFF2-40B4-BE49-F238E27FC236}">
                <a16:creationId xmlns:a16="http://schemas.microsoft.com/office/drawing/2014/main" id="{ED09CB62-28B9-4C3D-6887-D4FD55D57DA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340" y="4534826"/>
            <a:ext cx="4876800" cy="381000"/>
          </a:xfrm>
          <a:prstGeom prst="rect">
            <a:avLst/>
          </a:prstGeom>
        </p:spPr>
      </p:pic>
      <p:pic>
        <p:nvPicPr>
          <p:cNvPr id="21" name="Image 24" descr="preencoded.png">
            <a:extLst>
              <a:ext uri="{FF2B5EF4-FFF2-40B4-BE49-F238E27FC236}">
                <a16:creationId xmlns:a16="http://schemas.microsoft.com/office/drawing/2014/main" id="{A17FA907-92E7-7350-590E-95305E450AB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0470" y="4539359"/>
            <a:ext cx="4876800" cy="381000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EC2F06B8-C759-74EF-246D-CEC1D8EE4F40}"/>
              </a:ext>
            </a:extLst>
          </p:cNvPr>
          <p:cNvSpPr/>
          <p:nvPr/>
        </p:nvSpPr>
        <p:spPr>
          <a:xfrm>
            <a:off x="1311590" y="2686050"/>
            <a:ext cx="19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격차 시뮬레이션</a:t>
            </a:r>
            <a:endParaRPr 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B7BF00C1-717D-952E-A5B8-D52E468EF323}"/>
              </a:ext>
            </a:extLst>
          </p:cNvPr>
          <p:cNvSpPr/>
          <p:nvPr/>
        </p:nvSpPr>
        <p:spPr>
          <a:xfrm>
            <a:off x="835340" y="32385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역량</a:t>
            </a:r>
            <a:r>
              <a:rPr 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DA15CBE1-18D0-F1C5-D489-DBF6C2C8E3FC}"/>
              </a:ext>
            </a:extLst>
          </p:cNvPr>
          <p:cNvSpPr/>
          <p:nvPr/>
        </p:nvSpPr>
        <p:spPr>
          <a:xfrm>
            <a:off x="835340" y="4261622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차이:</a:t>
            </a:r>
          </a:p>
        </p:txBody>
      </p:sp>
      <p:pic>
        <p:nvPicPr>
          <p:cNvPr id="45" name="Image 23" descr="preencoded.png">
            <a:extLst>
              <a:ext uri="{FF2B5EF4-FFF2-40B4-BE49-F238E27FC236}">
                <a16:creationId xmlns:a16="http://schemas.microsoft.com/office/drawing/2014/main" id="{441F02E7-A84C-95EF-1D60-4942A2F038C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340" y="4545975"/>
            <a:ext cx="1672679" cy="381000"/>
          </a:xfrm>
          <a:prstGeom prst="rect">
            <a:avLst/>
          </a:prstGeom>
        </p:spPr>
      </p:pic>
      <p:sp>
        <p:nvSpPr>
          <p:cNvPr id="46" name="Text 24">
            <a:extLst>
              <a:ext uri="{FF2B5EF4-FFF2-40B4-BE49-F238E27FC236}">
                <a16:creationId xmlns:a16="http://schemas.microsoft.com/office/drawing/2014/main" id="{84A53267-6421-E516-2D92-C413C58178B5}"/>
              </a:ext>
            </a:extLst>
          </p:cNvPr>
          <p:cNvSpPr/>
          <p:nvPr/>
        </p:nvSpPr>
        <p:spPr>
          <a:xfrm>
            <a:off x="2173485" y="4624268"/>
            <a:ext cx="305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343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EA1D46C-840C-92FD-3D47-2BCE08C0985A}"/>
              </a:ext>
            </a:extLst>
          </p:cNvPr>
          <p:cNvSpPr/>
          <p:nvPr/>
        </p:nvSpPr>
        <p:spPr>
          <a:xfrm>
            <a:off x="5146424" y="4633326"/>
            <a:ext cx="441193" cy="219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A9FE4705-E0C6-65D1-0669-40A5F2435DFF}"/>
              </a:ext>
            </a:extLst>
          </p:cNvPr>
          <p:cNvSpPr/>
          <p:nvPr/>
        </p:nvSpPr>
        <p:spPr>
          <a:xfrm>
            <a:off x="682940" y="5067947"/>
            <a:ext cx="5178778" cy="325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CFFAF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능력 차이 </a:t>
            </a:r>
            <a:r>
              <a:rPr lang="en-US" sz="135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30%</a:t>
            </a:r>
            <a:r>
              <a:rPr lang="en-US" sz="1350" dirty="0">
                <a:solidFill>
                  <a:srgbClr val="CFFAF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결과 차이 </a:t>
            </a:r>
            <a:r>
              <a:rPr lang="en-US" sz="1350" b="1" dirty="0">
                <a:solidFill>
                  <a:srgbClr val="67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300%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DB4DA458-9774-E306-381E-D60BCF3375B4}"/>
              </a:ext>
            </a:extLst>
          </p:cNvPr>
          <p:cNvSpPr/>
          <p:nvPr/>
        </p:nvSpPr>
        <p:spPr>
          <a:xfrm>
            <a:off x="2313464" y="4280270"/>
            <a:ext cx="166948" cy="24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7³ </a:t>
            </a: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87ECA017-F27D-EC7E-EB20-A1F99097C22F}"/>
              </a:ext>
            </a:extLst>
          </p:cNvPr>
          <p:cNvSpPr/>
          <p:nvPr/>
        </p:nvSpPr>
        <p:spPr>
          <a:xfrm>
            <a:off x="5362965" y="4294035"/>
            <a:ext cx="28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E8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10³ </a:t>
            </a:r>
          </a:p>
        </p:txBody>
      </p:sp>
      <p:pic>
        <p:nvPicPr>
          <p:cNvPr id="51" name="Image 24" descr="preencoded.png">
            <a:extLst>
              <a:ext uri="{FF2B5EF4-FFF2-40B4-BE49-F238E27FC236}">
                <a16:creationId xmlns:a16="http://schemas.microsoft.com/office/drawing/2014/main" id="{55E23683-37A7-44AC-4D93-E3CA6CFD34A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88576" y="3587391"/>
            <a:ext cx="1691267" cy="381000"/>
          </a:xfrm>
          <a:prstGeom prst="rect">
            <a:avLst/>
          </a:prstGeom>
        </p:spPr>
      </p:pic>
      <p:pic>
        <p:nvPicPr>
          <p:cNvPr id="52" name="Image 23" descr="preencoded.png">
            <a:extLst>
              <a:ext uri="{FF2B5EF4-FFF2-40B4-BE49-F238E27FC236}">
                <a16:creationId xmlns:a16="http://schemas.microsoft.com/office/drawing/2014/main" id="{FDB4FAC7-43DB-0F2F-5EC6-F422AAFCA71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7914" y="3594007"/>
            <a:ext cx="3743792" cy="381000"/>
          </a:xfrm>
          <a:prstGeom prst="rect">
            <a:avLst/>
          </a:prstGeom>
        </p:spPr>
      </p:pic>
      <p:sp>
        <p:nvSpPr>
          <p:cNvPr id="58" name="Text 24">
            <a:extLst>
              <a:ext uri="{FF2B5EF4-FFF2-40B4-BE49-F238E27FC236}">
                <a16:creationId xmlns:a16="http://schemas.microsoft.com/office/drawing/2014/main" id="{BCB69730-8071-371A-34EB-8757CD95D35D}"/>
              </a:ext>
            </a:extLst>
          </p:cNvPr>
          <p:cNvSpPr/>
          <p:nvPr/>
        </p:nvSpPr>
        <p:spPr>
          <a:xfrm>
            <a:off x="4384608" y="3658591"/>
            <a:ext cx="305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99F72D7-B242-7B5E-1B6F-0F2504E886F8}"/>
              </a:ext>
            </a:extLst>
          </p:cNvPr>
          <p:cNvSpPr/>
          <p:nvPr/>
        </p:nvSpPr>
        <p:spPr>
          <a:xfrm>
            <a:off x="5391748" y="3659576"/>
            <a:ext cx="195869" cy="264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684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820" y="1600200"/>
            <a:ext cx="457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1871663"/>
            <a:ext cx="342900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130" y="1600200"/>
            <a:ext cx="342900" cy="4572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228600"/>
            <a:ext cx="39320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정의자로의 전환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0" y="990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시대의 주요 역량은 </a:t>
            </a:r>
            <a:r>
              <a:rPr lang="ko-KR" altLang="en-US" b="1" dirty="0">
                <a:solidFill>
                  <a:srgbClr val="EC489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정답을 찾는 능력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 질문을 던지고 문제를 새롭게 정의하는 능력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니다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2058130" y="2238375"/>
            <a:ext cx="12065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탐색가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8927290" y="2238375"/>
            <a:ext cx="12065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r>
              <a:rPr lang="en-US" sz="15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</a:t>
            </a:r>
            <a:r>
              <a:rPr lang="en-US" sz="1500" dirty="0" err="1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</a:t>
            </a:r>
            <a:endParaRPr lang="en-US" sz="1500" dirty="0"/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E2DE676D-796B-177F-F908-B39EE87CA61D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2FF124AB-3375-CEFB-45B2-3712651D0E91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pic>
        <p:nvPicPr>
          <p:cNvPr id="140" name="Image 3" descr="preencoded.png">
            <a:extLst>
              <a:ext uri="{FF2B5EF4-FFF2-40B4-BE49-F238E27FC236}">
                <a16:creationId xmlns:a16="http://schemas.microsoft.com/office/drawing/2014/main" id="{EAE5444B-8F8F-65F9-6ACF-2E06BF78E2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790826"/>
            <a:ext cx="3454301" cy="2625436"/>
          </a:xfrm>
          <a:prstGeom prst="rect">
            <a:avLst/>
          </a:prstGeom>
        </p:spPr>
      </p:pic>
      <p:pic>
        <p:nvPicPr>
          <p:cNvPr id="141" name="Image 4" descr="preencoded.png">
            <a:extLst>
              <a:ext uri="{FF2B5EF4-FFF2-40B4-BE49-F238E27FC236}">
                <a16:creationId xmlns:a16="http://schemas.microsoft.com/office/drawing/2014/main" id="{34CBCEAB-516C-F273-2F00-29D2C38A9B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019426"/>
            <a:ext cx="457200" cy="457200"/>
          </a:xfrm>
          <a:prstGeom prst="rect">
            <a:avLst/>
          </a:prstGeom>
        </p:spPr>
      </p:pic>
      <p:pic>
        <p:nvPicPr>
          <p:cNvPr id="142" name="Image 5" descr="preencoded.png">
            <a:extLst>
              <a:ext uri="{FF2B5EF4-FFF2-40B4-BE49-F238E27FC236}">
                <a16:creationId xmlns:a16="http://schemas.microsoft.com/office/drawing/2014/main" id="{3BB4D3BA-9850-DE32-97CB-0BF8F1576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095626"/>
            <a:ext cx="228600" cy="304800"/>
          </a:xfrm>
          <a:prstGeom prst="rect">
            <a:avLst/>
          </a:prstGeom>
        </p:spPr>
      </p:pic>
      <p:pic>
        <p:nvPicPr>
          <p:cNvPr id="143" name="Image 6" descr="preencoded.png">
            <a:extLst>
              <a:ext uri="{FF2B5EF4-FFF2-40B4-BE49-F238E27FC236}">
                <a16:creationId xmlns:a16="http://schemas.microsoft.com/office/drawing/2014/main" id="{A0D8EB99-EF7A-5D24-52CA-F0897F83A1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4724401"/>
            <a:ext cx="114300" cy="133350"/>
          </a:xfrm>
          <a:prstGeom prst="rect">
            <a:avLst/>
          </a:prstGeom>
        </p:spPr>
      </p:pic>
      <p:pic>
        <p:nvPicPr>
          <p:cNvPr id="144" name="Image 7" descr="preencoded.png">
            <a:extLst>
              <a:ext uri="{FF2B5EF4-FFF2-40B4-BE49-F238E27FC236}">
                <a16:creationId xmlns:a16="http://schemas.microsoft.com/office/drawing/2014/main" id="{0E7E7013-9617-1697-09A0-80E5D1F36B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8701" y="2790826"/>
            <a:ext cx="3454450" cy="2625436"/>
          </a:xfrm>
          <a:prstGeom prst="rect">
            <a:avLst/>
          </a:prstGeom>
        </p:spPr>
      </p:pic>
      <p:pic>
        <p:nvPicPr>
          <p:cNvPr id="145" name="Image 8" descr="preencoded.png">
            <a:extLst>
              <a:ext uri="{FF2B5EF4-FFF2-40B4-BE49-F238E27FC236}">
                <a16:creationId xmlns:a16="http://schemas.microsoft.com/office/drawing/2014/main" id="{618B604A-23FF-61A7-45F6-7F1E3B4D9C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7301" y="3019426"/>
            <a:ext cx="457200" cy="457200"/>
          </a:xfrm>
          <a:prstGeom prst="rect">
            <a:avLst/>
          </a:prstGeom>
        </p:spPr>
      </p:pic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ED598967-2F9E-4A9B-8F05-EA6DCEEC55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1601" y="3095626"/>
            <a:ext cx="228600" cy="304800"/>
          </a:xfrm>
          <a:prstGeom prst="rect">
            <a:avLst/>
          </a:prstGeom>
        </p:spPr>
      </p:pic>
      <p:pic>
        <p:nvPicPr>
          <p:cNvPr id="147" name="Image 10" descr="preencoded.png">
            <a:extLst>
              <a:ext uri="{FF2B5EF4-FFF2-40B4-BE49-F238E27FC236}">
                <a16:creationId xmlns:a16="http://schemas.microsoft.com/office/drawing/2014/main" id="{27AE82E5-51C6-771B-618D-ECCC192D6B8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9701" y="4724401"/>
            <a:ext cx="104775" cy="133350"/>
          </a:xfrm>
          <a:prstGeom prst="rect">
            <a:avLst/>
          </a:prstGeom>
        </p:spPr>
      </p:pic>
      <p:pic>
        <p:nvPicPr>
          <p:cNvPr id="148" name="Image 11" descr="preencoded.png">
            <a:extLst>
              <a:ext uri="{FF2B5EF4-FFF2-40B4-BE49-F238E27FC236}">
                <a16:creationId xmlns:a16="http://schemas.microsoft.com/office/drawing/2014/main" id="{5F0CECD0-C9B6-D4AD-EC45-39C1BADAA4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7950" y="2790826"/>
            <a:ext cx="3454301" cy="2625436"/>
          </a:xfrm>
          <a:prstGeom prst="rect">
            <a:avLst/>
          </a:prstGeom>
        </p:spPr>
      </p:pic>
      <p:pic>
        <p:nvPicPr>
          <p:cNvPr id="149" name="Image 12" descr="preencoded.png">
            <a:extLst>
              <a:ext uri="{FF2B5EF4-FFF2-40B4-BE49-F238E27FC236}">
                <a16:creationId xmlns:a16="http://schemas.microsoft.com/office/drawing/2014/main" id="{04C99808-85E6-C115-D251-85AC1705658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550" y="3019426"/>
            <a:ext cx="457200" cy="457200"/>
          </a:xfrm>
          <a:prstGeom prst="rect">
            <a:avLst/>
          </a:prstGeom>
        </p:spPr>
      </p:pic>
      <p:pic>
        <p:nvPicPr>
          <p:cNvPr id="150" name="Image 13" descr="preencoded.png">
            <a:extLst>
              <a:ext uri="{FF2B5EF4-FFF2-40B4-BE49-F238E27FC236}">
                <a16:creationId xmlns:a16="http://schemas.microsoft.com/office/drawing/2014/main" id="{5F79E662-DF83-1D9A-B62C-7A1B0AEB99F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6563" y="3095626"/>
            <a:ext cx="257175" cy="304800"/>
          </a:xfrm>
          <a:prstGeom prst="rect">
            <a:avLst/>
          </a:prstGeom>
        </p:spPr>
      </p:pic>
      <p:pic>
        <p:nvPicPr>
          <p:cNvPr id="151" name="Image 14" descr="preencoded.png">
            <a:extLst>
              <a:ext uri="{FF2B5EF4-FFF2-40B4-BE49-F238E27FC236}">
                <a16:creationId xmlns:a16="http://schemas.microsoft.com/office/drawing/2014/main" id="{349DD7D9-3FB1-F38F-E6C7-C05DC27842A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08950" y="4724401"/>
            <a:ext cx="123825" cy="133350"/>
          </a:xfrm>
          <a:prstGeom prst="rect">
            <a:avLst/>
          </a:prstGeom>
        </p:spPr>
      </p:pic>
      <p:sp>
        <p:nvSpPr>
          <p:cNvPr id="152" name="Text 2">
            <a:extLst>
              <a:ext uri="{FF2B5EF4-FFF2-40B4-BE49-F238E27FC236}">
                <a16:creationId xmlns:a16="http://schemas.microsoft.com/office/drawing/2014/main" id="{3386C2B1-35DE-6F14-F9C6-AA3C84FFCF69}"/>
              </a:ext>
            </a:extLst>
          </p:cNvPr>
          <p:cNvSpPr/>
          <p:nvPr/>
        </p:nvSpPr>
        <p:spPr>
          <a:xfrm>
            <a:off x="1447800" y="3114676"/>
            <a:ext cx="14987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답을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</a:t>
            </a: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능력</a:t>
            </a:r>
            <a:endParaRPr lang="en-US" sz="1500" dirty="0"/>
          </a:p>
        </p:txBody>
      </p:sp>
      <p:sp>
        <p:nvSpPr>
          <p:cNvPr id="153" name="Text 3">
            <a:extLst>
              <a:ext uri="{FF2B5EF4-FFF2-40B4-BE49-F238E27FC236}">
                <a16:creationId xmlns:a16="http://schemas.microsoft.com/office/drawing/2014/main" id="{A8AE4F6E-1796-734F-B0AA-F5D9FED4FF61}"/>
              </a:ext>
            </a:extLst>
          </p:cNvPr>
          <p:cNvSpPr/>
          <p:nvPr/>
        </p:nvSpPr>
        <p:spPr>
          <a:xfrm>
            <a:off x="990600" y="3629026"/>
            <a:ext cx="28447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주어진 질문에 대해 방대한 데이터를 기반으로 최적의 답을 찾아냅니다. 따라서, 단순히 답을 찾는 능력은 더 이상 경쟁력이 되지 않습니다.</a:t>
            </a:r>
            <a:endParaRPr lang="en-US" sz="1300" dirty="0"/>
          </a:p>
        </p:txBody>
      </p:sp>
      <p:sp>
        <p:nvSpPr>
          <p:cNvPr id="154" name="Text 4">
            <a:extLst>
              <a:ext uri="{FF2B5EF4-FFF2-40B4-BE49-F238E27FC236}">
                <a16:creationId xmlns:a16="http://schemas.microsoft.com/office/drawing/2014/main" id="{91DF0DB8-B669-4E47-50FA-29FC747627B5}"/>
              </a:ext>
            </a:extLst>
          </p:cNvPr>
          <p:cNvSpPr/>
          <p:nvPr/>
        </p:nvSpPr>
        <p:spPr>
          <a:xfrm>
            <a:off x="1181100" y="4695826"/>
            <a:ext cx="28447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인간이 </a:t>
            </a:r>
            <a:r>
              <a:rPr lang="en-US" altLang="ko-KR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</a:t>
            </a:r>
            <a:r>
              <a:rPr lang="ko-KR" altLang="en-US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답을 찾는 속도</a:t>
            </a:r>
            <a:r>
              <a:rPr lang="en-US" altLang="ko-KR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</a:t>
            </a:r>
            <a:r>
              <a:rPr lang="ko-KR" altLang="en-US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로는 </a:t>
            </a:r>
            <a:r>
              <a:rPr lang="en-US" altLang="ko-KR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050" dirty="0" err="1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ko-KR" altLang="en-US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이길 수 없습니다</a:t>
            </a:r>
            <a:r>
              <a:rPr lang="en-US" altLang="ko-KR" sz="1050" dirty="0">
                <a:solidFill>
                  <a:srgbClr val="EF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050" dirty="0"/>
          </a:p>
        </p:txBody>
      </p:sp>
      <p:sp>
        <p:nvSpPr>
          <p:cNvPr id="155" name="Text 5">
            <a:extLst>
              <a:ext uri="{FF2B5EF4-FFF2-40B4-BE49-F238E27FC236}">
                <a16:creationId xmlns:a16="http://schemas.microsoft.com/office/drawing/2014/main" id="{2B35CE80-EBCC-9F54-CD51-35380999D850}"/>
              </a:ext>
            </a:extLst>
          </p:cNvPr>
          <p:cNvSpPr/>
          <p:nvPr/>
        </p:nvSpPr>
        <p:spPr>
          <a:xfrm>
            <a:off x="5206901" y="3114676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질문하는 능력</a:t>
            </a:r>
            <a:endParaRPr lang="en-US" sz="1500" dirty="0"/>
          </a:p>
        </p:txBody>
      </p:sp>
      <p:sp>
        <p:nvSpPr>
          <p:cNvPr id="156" name="Text 6">
            <a:extLst>
              <a:ext uri="{FF2B5EF4-FFF2-40B4-BE49-F238E27FC236}">
                <a16:creationId xmlns:a16="http://schemas.microsoft.com/office/drawing/2014/main" id="{5B5A1378-AFB1-3D3F-7986-9EE2E11704DC}"/>
              </a:ext>
            </a:extLst>
          </p:cNvPr>
          <p:cNvSpPr/>
          <p:nvPr/>
        </p:nvSpPr>
        <p:spPr>
          <a:xfrm>
            <a:off x="4749701" y="3629026"/>
            <a:ext cx="28448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</a:t>
            </a: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공허한 호기심이 아니라 맥락 속에서 발생합니다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배경지식과 도메인 이해의 깊이가 질문의 정밀도가 됩니다</a:t>
            </a:r>
            <a:r>
              <a:rPr lang="en-US" altLang="ko-KR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57" name="Text 7">
            <a:extLst>
              <a:ext uri="{FF2B5EF4-FFF2-40B4-BE49-F238E27FC236}">
                <a16:creationId xmlns:a16="http://schemas.microsoft.com/office/drawing/2014/main" id="{61173C9E-1791-956E-74F5-A273E822220F}"/>
              </a:ext>
            </a:extLst>
          </p:cNvPr>
          <p:cNvSpPr/>
          <p:nvPr/>
        </p:nvSpPr>
        <p:spPr>
          <a:xfrm>
            <a:off x="4930676" y="4695826"/>
            <a:ext cx="284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독특한 질문은 AI가 예측하지 못한 새로운 방향을 열어줍니다.</a:t>
            </a:r>
            <a:endParaRPr lang="en-US" sz="1050" dirty="0"/>
          </a:p>
        </p:txBody>
      </p:sp>
      <p:sp>
        <p:nvSpPr>
          <p:cNvPr id="158" name="Text 8">
            <a:extLst>
              <a:ext uri="{FF2B5EF4-FFF2-40B4-BE49-F238E27FC236}">
                <a16:creationId xmlns:a16="http://schemas.microsoft.com/office/drawing/2014/main" id="{DB6DFCF8-4A95-E126-4D58-4728DDAA4544}"/>
              </a:ext>
            </a:extLst>
          </p:cNvPr>
          <p:cNvSpPr/>
          <p:nvPr/>
        </p:nvSpPr>
        <p:spPr>
          <a:xfrm>
            <a:off x="8966150" y="3114676"/>
            <a:ext cx="97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지식의 힘</a:t>
            </a:r>
            <a:endParaRPr lang="en-US" sz="1500" dirty="0"/>
          </a:p>
        </p:txBody>
      </p:sp>
      <p:sp>
        <p:nvSpPr>
          <p:cNvPr id="159" name="Text 9">
            <a:extLst>
              <a:ext uri="{FF2B5EF4-FFF2-40B4-BE49-F238E27FC236}">
                <a16:creationId xmlns:a16="http://schemas.microsoft.com/office/drawing/2014/main" id="{BA859012-29BD-1363-9BE0-63F46C6E4D9B}"/>
              </a:ext>
            </a:extLst>
          </p:cNvPr>
          <p:cNvSpPr/>
          <p:nvPr/>
        </p:nvSpPr>
        <p:spPr>
          <a:xfrm>
            <a:off x="8508950" y="3629026"/>
            <a:ext cx="28447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r>
              <a:rPr lang="ko-KR" alt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능력</a:t>
            </a:r>
            <a:r>
              <a:rPr 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원천은 풍부한 교양과 주변 지식입니다. 이는 다양한 시나리오를 상상하고, 문제를 재정의하며, 새로운 아이디어를 창출하는 기반이 됩니다.</a:t>
            </a:r>
            <a:endParaRPr lang="en-US" sz="1300" dirty="0"/>
          </a:p>
        </p:txBody>
      </p:sp>
      <p:sp>
        <p:nvSpPr>
          <p:cNvPr id="160" name="Text 10">
            <a:extLst>
              <a:ext uri="{FF2B5EF4-FFF2-40B4-BE49-F238E27FC236}">
                <a16:creationId xmlns:a16="http://schemas.microsoft.com/office/drawing/2014/main" id="{65AE1BAB-F731-4C5B-6356-0E3BD878EDDC}"/>
              </a:ext>
            </a:extLst>
          </p:cNvPr>
          <p:cNvSpPr/>
          <p:nvPr/>
        </p:nvSpPr>
        <p:spPr>
          <a:xfrm>
            <a:off x="8708975" y="4695826"/>
            <a:ext cx="28447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방법이 최선일까</a:t>
            </a:r>
            <a:r>
              <a:rPr lang="en-US" altLang="ko-KR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r>
              <a:rPr lang="ko-KR" alt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더 나은 방식은 없었을까</a:t>
            </a:r>
            <a:r>
              <a:rPr lang="en-US" altLang="ko-KR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066800"/>
            <a:ext cx="40005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675" y="1357313"/>
            <a:ext cx="1219200" cy="2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75" y="1614488"/>
            <a:ext cx="1219200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5" y="1066800"/>
            <a:ext cx="571500" cy="4572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228600"/>
            <a:ext cx="3520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2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협력자로의</a:t>
            </a: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진화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4613910" y="1666875"/>
            <a:ext cx="411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6954991" y="1666875"/>
            <a:ext cx="663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팀원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609600" y="2238375"/>
            <a:ext cx="109728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단순한 도구가 아닌, 지적인 능력을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갖춘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EC489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팀원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대할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때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개인의 역량은 비약적으로 증폭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됩니다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8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AF2B33D1-1FDE-6DC5-D3F7-2995AB5E22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002931"/>
            <a:ext cx="3505200" cy="2857500"/>
          </a:xfrm>
          <a:prstGeom prst="rect">
            <a:avLst/>
          </a:prstGeom>
        </p:spPr>
      </p:pic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16B6F43B-CE06-391F-6A39-5C4849C130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3231531"/>
            <a:ext cx="609600" cy="609600"/>
          </a:xfrm>
          <a:prstGeom prst="rect">
            <a:avLst/>
          </a:prstGeom>
        </p:spPr>
      </p:pic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B911F9EE-587F-82B5-C1F5-9011FF99904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19325" y="3364881"/>
            <a:ext cx="285750" cy="342900"/>
          </a:xfrm>
          <a:prstGeom prst="rect">
            <a:avLst/>
          </a:prstGeom>
        </p:spPr>
      </p:pic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9BD5789C-C238-3358-D9D2-CDC0848B0A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3002931"/>
            <a:ext cx="3505200" cy="2857500"/>
          </a:xfrm>
          <a:prstGeom prst="rect">
            <a:avLst/>
          </a:prstGeom>
        </p:spPr>
      </p:pic>
      <p:pic>
        <p:nvPicPr>
          <p:cNvPr id="32" name="Image 7" descr="preencoded.png">
            <a:extLst>
              <a:ext uri="{FF2B5EF4-FFF2-40B4-BE49-F238E27FC236}">
                <a16:creationId xmlns:a16="http://schemas.microsoft.com/office/drawing/2014/main" id="{5313FD39-3E50-BD81-A1D9-7ECF85E7B0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3231531"/>
            <a:ext cx="609600" cy="609600"/>
          </a:xfrm>
          <a:prstGeom prst="rect">
            <a:avLst/>
          </a:prstGeom>
        </p:spPr>
      </p:pic>
      <p:pic>
        <p:nvPicPr>
          <p:cNvPr id="33" name="Image 8" descr="preencoded.png">
            <a:extLst>
              <a:ext uri="{FF2B5EF4-FFF2-40B4-BE49-F238E27FC236}">
                <a16:creationId xmlns:a16="http://schemas.microsoft.com/office/drawing/2014/main" id="{1992555A-62A0-5C6E-C7DA-B8C2B17B24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5025" y="3364881"/>
            <a:ext cx="361950" cy="342900"/>
          </a:xfrm>
          <a:prstGeom prst="rect">
            <a:avLst/>
          </a:prstGeom>
        </p:spPr>
      </p:pic>
      <p:pic>
        <p:nvPicPr>
          <p:cNvPr id="34" name="Image 9" descr="preencoded.png">
            <a:extLst>
              <a:ext uri="{FF2B5EF4-FFF2-40B4-BE49-F238E27FC236}">
                <a16:creationId xmlns:a16="http://schemas.microsoft.com/office/drawing/2014/main" id="{41ED1B36-E633-2E28-30FF-C90384587C4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002931"/>
            <a:ext cx="3505200" cy="2857500"/>
          </a:xfrm>
          <a:prstGeom prst="rect">
            <a:avLst/>
          </a:prstGeom>
        </p:spPr>
      </p:pic>
      <p:pic>
        <p:nvPicPr>
          <p:cNvPr id="35" name="Image 10" descr="preencoded.png">
            <a:extLst>
              <a:ext uri="{FF2B5EF4-FFF2-40B4-BE49-F238E27FC236}">
                <a16:creationId xmlns:a16="http://schemas.microsoft.com/office/drawing/2014/main" id="{006EC9D0-C8CA-D5BD-CBF8-E3A930A5FC3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0" y="3231531"/>
            <a:ext cx="609600" cy="609600"/>
          </a:xfrm>
          <a:prstGeom prst="rect">
            <a:avLst/>
          </a:prstGeom>
        </p:spPr>
      </p:pic>
      <p:pic>
        <p:nvPicPr>
          <p:cNvPr id="36" name="Image 11" descr="preencoded.png">
            <a:extLst>
              <a:ext uri="{FF2B5EF4-FFF2-40B4-BE49-F238E27FC236}">
                <a16:creationId xmlns:a16="http://schemas.microsoft.com/office/drawing/2014/main" id="{6AABB1AB-ECF5-ACA1-5BC0-06CD1B13922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48825" y="3364881"/>
            <a:ext cx="361950" cy="342900"/>
          </a:xfrm>
          <a:prstGeom prst="rect">
            <a:avLst/>
          </a:prstGeom>
        </p:spPr>
      </p:pic>
      <p:sp>
        <p:nvSpPr>
          <p:cNvPr id="37" name="Text 2">
            <a:extLst>
              <a:ext uri="{FF2B5EF4-FFF2-40B4-BE49-F238E27FC236}">
                <a16:creationId xmlns:a16="http://schemas.microsoft.com/office/drawing/2014/main" id="{8F7BB91F-879A-E7A6-6CA8-96ACAD743577}"/>
              </a:ext>
            </a:extLst>
          </p:cNvPr>
          <p:cNvSpPr/>
          <p:nvPr/>
        </p:nvSpPr>
        <p:spPr>
          <a:xfrm>
            <a:off x="838200" y="3993531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리터러시</a:t>
            </a:r>
            <a:endParaRPr lang="en-US" sz="15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31F09E48-7353-C34A-6ADC-6129D524FC9C}"/>
              </a:ext>
            </a:extLst>
          </p:cNvPr>
          <p:cNvSpPr/>
          <p:nvPr/>
        </p:nvSpPr>
        <p:spPr>
          <a:xfrm>
            <a:off x="838200" y="4412631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개념과 한계를 정확히 이해해 필요한 적재적소에 적용합니다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다양한 데이터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도구를 사용해보며 실천 경험을 축적합니다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3490956A-F1BD-A090-9066-BCAFE9091264}"/>
              </a:ext>
            </a:extLst>
          </p:cNvPr>
          <p:cNvSpPr/>
          <p:nvPr/>
        </p:nvSpPr>
        <p:spPr>
          <a:xfrm>
            <a:off x="838200" y="5250831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경영진부터 일반 직원까지 AI 리터러시를 갖추어야 합니다</a:t>
            </a:r>
            <a:endParaRPr lang="en-US" sz="105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44F9E316-5182-0CB3-1779-1D3B7478FD9D}"/>
              </a:ext>
            </a:extLst>
          </p:cNvPr>
          <p:cNvSpPr/>
          <p:nvPr/>
        </p:nvSpPr>
        <p:spPr>
          <a:xfrm>
            <a:off x="4572000" y="3993531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협력적 사고방식</a:t>
            </a:r>
            <a:endParaRPr lang="en-US" sz="15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277A99D5-6ECC-4B32-9E80-66BAF13B853B}"/>
              </a:ext>
            </a:extLst>
          </p:cNvPr>
          <p:cNvSpPr/>
          <p:nvPr/>
        </p:nvSpPr>
        <p:spPr>
          <a:xfrm>
            <a:off x="4572000" y="4412631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팀원으로 대하면 관계의 방식이 바뀝니다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협력적 사고방식은 일방적 요청이 아니라 상호보완적  확장입니다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F220A838-36FA-DDD7-D9B0-025FE17C97EF}"/>
              </a:ext>
            </a:extLst>
          </p:cNvPr>
          <p:cNvSpPr/>
          <p:nvPr/>
        </p:nvSpPr>
        <p:spPr>
          <a:xfrm>
            <a:off x="4572000" y="5250831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명령이 아닌 대화</a:t>
            </a:r>
            <a:r>
              <a:rPr lang="en-US" altLang="ko-KR" sz="1050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050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지시가 아닌 코칭</a:t>
            </a:r>
            <a:endParaRPr lang="en-US" sz="105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057BE763-6998-0C6A-ACBF-D53940D6A8D0}"/>
              </a:ext>
            </a:extLst>
          </p:cNvPr>
          <p:cNvSpPr/>
          <p:nvPr/>
        </p:nvSpPr>
        <p:spPr>
          <a:xfrm>
            <a:off x="8305800" y="3993531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반복적인 개선</a:t>
            </a:r>
            <a:endParaRPr lang="en-US" sz="15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B572206A-7CA3-7E01-02CF-4B63DFB79ADF}"/>
              </a:ext>
            </a:extLst>
          </p:cNvPr>
          <p:cNvSpPr/>
          <p:nvPr/>
        </p:nvSpPr>
        <p:spPr>
          <a:xfrm>
            <a:off x="8305800" y="4412631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실험을 빠르게 검증하고 실패를 학습 자산으로 삼는 루틴을 만듭니다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이를 통해 더 나은 워크플로우와 프로세스를 만들어갑니다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90D47C0C-C0EB-1810-A707-0E46D1D7B2FF}"/>
              </a:ext>
            </a:extLst>
          </p:cNvPr>
          <p:cNvSpPr/>
          <p:nvPr/>
        </p:nvSpPr>
        <p:spPr>
          <a:xfrm>
            <a:off x="8305800" y="5250831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ko-KR" altLang="en-US" sz="105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피드백을 통한 품질 향상</a:t>
            </a:r>
            <a:endParaRPr lang="en-US" sz="1050" dirty="0"/>
          </a:p>
        </p:txBody>
      </p:sp>
      <p:sp>
        <p:nvSpPr>
          <p:cNvPr id="7" name="Text 23">
            <a:extLst>
              <a:ext uri="{FF2B5EF4-FFF2-40B4-BE49-F238E27FC236}">
                <a16:creationId xmlns:a16="http://schemas.microsoft.com/office/drawing/2014/main" id="{26E88A21-98FD-1128-13B6-2B1148009A90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A15C44D2-AC11-9671-BCA0-4D153AA3FB6E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BA36-ADE4-325F-24FF-4BE2719CC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93C387E-02A2-F0F5-4DDF-29526869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C18A0EB0-60A2-CA78-CA6A-AE5A7649A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334001"/>
            <a:ext cx="10972800" cy="6096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29A19A1E-8E5E-9714-0D4D-696C078BD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12" y="5441950"/>
            <a:ext cx="337542" cy="40005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B7E8221A-D62F-7F13-E659-3CBF55547B58}"/>
              </a:ext>
            </a:extLst>
          </p:cNvPr>
          <p:cNvSpPr/>
          <p:nvPr/>
        </p:nvSpPr>
        <p:spPr>
          <a:xfrm>
            <a:off x="457200" y="228600"/>
            <a:ext cx="5806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Co-Worker</a:t>
            </a:r>
            <a:r>
              <a:rPr lang="ko-KR" alt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로의 진화 단계</a:t>
            </a:r>
            <a:endParaRPr lang="en-US" sz="2700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A18B1EC-018A-9CA1-F3BE-ACFD35999756}"/>
              </a:ext>
            </a:extLst>
          </p:cNvPr>
          <p:cNvSpPr/>
          <p:nvPr/>
        </p:nvSpPr>
        <p:spPr>
          <a:xfrm>
            <a:off x="1607085" y="5484073"/>
            <a:ext cx="7943315" cy="400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단순히 인지적 부담을 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외주화하는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상태에서 벗어나  </a:t>
            </a:r>
            <a:r>
              <a:rPr lang="ko-KR" altLang="en-US" sz="15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메타인지적 통제력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통해 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</a:t>
            </a:r>
            <a:r>
              <a:rPr lang="ko-KR" altLang="en-US" sz="15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b="1" dirty="0" err="1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공진화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과정입니다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5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81533FC-2D65-A791-DA53-7A08668E47AD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34BA57D2-818E-64E9-9DDA-7EBDB6562203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pic>
        <p:nvPicPr>
          <p:cNvPr id="142" name="Image 4" descr="preencoded.png">
            <a:extLst>
              <a:ext uri="{FF2B5EF4-FFF2-40B4-BE49-F238E27FC236}">
                <a16:creationId xmlns:a16="http://schemas.microsoft.com/office/drawing/2014/main" id="{60FC63A2-E0C1-5B4A-E85B-F2DEC4100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514475"/>
            <a:ext cx="3257550" cy="2914650"/>
          </a:xfrm>
          <a:prstGeom prst="rect">
            <a:avLst/>
          </a:prstGeom>
        </p:spPr>
      </p:pic>
      <p:pic>
        <p:nvPicPr>
          <p:cNvPr id="143" name="Image 5" descr="preencoded.png">
            <a:extLst>
              <a:ext uri="{FF2B5EF4-FFF2-40B4-BE49-F238E27FC236}">
                <a16:creationId xmlns:a16="http://schemas.microsoft.com/office/drawing/2014/main" id="{A3AD06F2-FA9F-54D6-EC8F-18AF8F7AAA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704975"/>
            <a:ext cx="361950" cy="285750"/>
          </a:xfrm>
          <a:prstGeom prst="rect">
            <a:avLst/>
          </a:prstGeom>
        </p:spPr>
      </p:pic>
      <p:pic>
        <p:nvPicPr>
          <p:cNvPr id="144" name="Image 6" descr="preencoded.png">
            <a:extLst>
              <a:ext uri="{FF2B5EF4-FFF2-40B4-BE49-F238E27FC236}">
                <a16:creationId xmlns:a16="http://schemas.microsoft.com/office/drawing/2014/main" id="{643518D0-5625-1A54-E4D5-1A1D542CEC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2466975"/>
            <a:ext cx="152400" cy="152400"/>
          </a:xfrm>
          <a:prstGeom prst="rect">
            <a:avLst/>
          </a:prstGeom>
        </p:spPr>
      </p:pic>
      <p:pic>
        <p:nvPicPr>
          <p:cNvPr id="145" name="Image 7" descr="preencoded.png">
            <a:extLst>
              <a:ext uri="{FF2B5EF4-FFF2-40B4-BE49-F238E27FC236}">
                <a16:creationId xmlns:a16="http://schemas.microsoft.com/office/drawing/2014/main" id="{7265A3FD-06E7-71C9-8610-47749897B3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2771775"/>
            <a:ext cx="152400" cy="152400"/>
          </a:xfrm>
          <a:prstGeom prst="rect">
            <a:avLst/>
          </a:prstGeom>
        </p:spPr>
      </p:pic>
      <p:pic>
        <p:nvPicPr>
          <p:cNvPr id="146" name="Image 8" descr="preencoded.png">
            <a:extLst>
              <a:ext uri="{FF2B5EF4-FFF2-40B4-BE49-F238E27FC236}">
                <a16:creationId xmlns:a16="http://schemas.microsoft.com/office/drawing/2014/main" id="{B0E8355C-D529-CBF6-1CF1-DBCF1A6434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076575"/>
            <a:ext cx="152400" cy="152400"/>
          </a:xfrm>
          <a:prstGeom prst="rect">
            <a:avLst/>
          </a:prstGeom>
        </p:spPr>
      </p:pic>
      <p:pic>
        <p:nvPicPr>
          <p:cNvPr id="147" name="Image 9" descr="preencoded.png">
            <a:extLst>
              <a:ext uri="{FF2B5EF4-FFF2-40B4-BE49-F238E27FC236}">
                <a16:creationId xmlns:a16="http://schemas.microsoft.com/office/drawing/2014/main" id="{CAA6966C-4E41-AAF8-C0FB-D2B96CBE22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381375"/>
            <a:ext cx="152400" cy="152400"/>
          </a:xfrm>
          <a:prstGeom prst="rect">
            <a:avLst/>
          </a:prstGeom>
        </p:spPr>
      </p:pic>
      <p:pic>
        <p:nvPicPr>
          <p:cNvPr id="148" name="Image 10" descr="preencoded.png">
            <a:extLst>
              <a:ext uri="{FF2B5EF4-FFF2-40B4-BE49-F238E27FC236}">
                <a16:creationId xmlns:a16="http://schemas.microsoft.com/office/drawing/2014/main" id="{E3B7CF50-F970-E2C9-A2C5-8FEE6417A7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676650"/>
            <a:ext cx="2971800" cy="609600"/>
          </a:xfrm>
          <a:prstGeom prst="rect">
            <a:avLst/>
          </a:prstGeom>
        </p:spPr>
      </p:pic>
      <p:pic>
        <p:nvPicPr>
          <p:cNvPr id="149" name="Image 11" descr="preencoded.png">
            <a:extLst>
              <a:ext uri="{FF2B5EF4-FFF2-40B4-BE49-F238E27FC236}">
                <a16:creationId xmlns:a16="http://schemas.microsoft.com/office/drawing/2014/main" id="{6C982448-9FDF-501B-BF48-9177445C20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0" y="2857500"/>
            <a:ext cx="142875" cy="228600"/>
          </a:xfrm>
          <a:prstGeom prst="rect">
            <a:avLst/>
          </a:prstGeom>
        </p:spPr>
      </p:pic>
      <p:pic>
        <p:nvPicPr>
          <p:cNvPr id="150" name="Image 12" descr="preencoded.png">
            <a:extLst>
              <a:ext uri="{FF2B5EF4-FFF2-40B4-BE49-F238E27FC236}">
                <a16:creationId xmlns:a16="http://schemas.microsoft.com/office/drawing/2014/main" id="{A5D9B1B4-B4B7-EF5E-4446-CDDF378104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7225" y="1514475"/>
            <a:ext cx="3257550" cy="2914650"/>
          </a:xfrm>
          <a:prstGeom prst="rect">
            <a:avLst/>
          </a:prstGeom>
        </p:spPr>
      </p:pic>
      <p:pic>
        <p:nvPicPr>
          <p:cNvPr id="151" name="Image 13" descr="preencoded.png">
            <a:extLst>
              <a:ext uri="{FF2B5EF4-FFF2-40B4-BE49-F238E27FC236}">
                <a16:creationId xmlns:a16="http://schemas.microsoft.com/office/drawing/2014/main" id="{B0DE00F1-4936-6082-7850-7ACD289ABE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100" y="1704975"/>
            <a:ext cx="285750" cy="285750"/>
          </a:xfrm>
          <a:prstGeom prst="rect">
            <a:avLst/>
          </a:prstGeom>
        </p:spPr>
      </p:pic>
      <p:pic>
        <p:nvPicPr>
          <p:cNvPr id="152" name="Image 14" descr="preencoded.png">
            <a:extLst>
              <a:ext uri="{FF2B5EF4-FFF2-40B4-BE49-F238E27FC236}">
                <a16:creationId xmlns:a16="http://schemas.microsoft.com/office/drawing/2014/main" id="{4CD6A671-4CA5-F2E2-EB6F-5419BE90BC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2466975"/>
            <a:ext cx="152400" cy="152400"/>
          </a:xfrm>
          <a:prstGeom prst="rect">
            <a:avLst/>
          </a:prstGeom>
        </p:spPr>
      </p:pic>
      <p:pic>
        <p:nvPicPr>
          <p:cNvPr id="153" name="Image 15" descr="preencoded.png">
            <a:extLst>
              <a:ext uri="{FF2B5EF4-FFF2-40B4-BE49-F238E27FC236}">
                <a16:creationId xmlns:a16="http://schemas.microsoft.com/office/drawing/2014/main" id="{A0A87E22-2A41-A705-71B5-FD7F7430A1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2771775"/>
            <a:ext cx="152400" cy="152400"/>
          </a:xfrm>
          <a:prstGeom prst="rect">
            <a:avLst/>
          </a:prstGeom>
        </p:spPr>
      </p:pic>
      <p:pic>
        <p:nvPicPr>
          <p:cNvPr id="154" name="Image 16" descr="preencoded.png">
            <a:extLst>
              <a:ext uri="{FF2B5EF4-FFF2-40B4-BE49-F238E27FC236}">
                <a16:creationId xmlns:a16="http://schemas.microsoft.com/office/drawing/2014/main" id="{4D074C94-55B1-76C4-C2B0-9BAD0933B1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3076575"/>
            <a:ext cx="152400" cy="152400"/>
          </a:xfrm>
          <a:prstGeom prst="rect">
            <a:avLst/>
          </a:prstGeom>
        </p:spPr>
      </p:pic>
      <p:pic>
        <p:nvPicPr>
          <p:cNvPr id="155" name="Image 17" descr="preencoded.png">
            <a:extLst>
              <a:ext uri="{FF2B5EF4-FFF2-40B4-BE49-F238E27FC236}">
                <a16:creationId xmlns:a16="http://schemas.microsoft.com/office/drawing/2014/main" id="{9A4DA076-6FB7-DA4D-1154-5DA5D03259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3381375"/>
            <a:ext cx="152400" cy="152400"/>
          </a:xfrm>
          <a:prstGeom prst="rect">
            <a:avLst/>
          </a:prstGeom>
        </p:spPr>
      </p:pic>
      <p:pic>
        <p:nvPicPr>
          <p:cNvPr id="156" name="Image 18" descr="preencoded.png">
            <a:extLst>
              <a:ext uri="{FF2B5EF4-FFF2-40B4-BE49-F238E27FC236}">
                <a16:creationId xmlns:a16="http://schemas.microsoft.com/office/drawing/2014/main" id="{7F8F7B9A-482F-F339-C856-087B9BC67D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0100" y="3676650"/>
            <a:ext cx="2971800" cy="609600"/>
          </a:xfrm>
          <a:prstGeom prst="rect">
            <a:avLst/>
          </a:prstGeom>
        </p:spPr>
      </p:pic>
      <p:pic>
        <p:nvPicPr>
          <p:cNvPr id="157" name="Image 19" descr="preencoded.png">
            <a:extLst>
              <a:ext uri="{FF2B5EF4-FFF2-40B4-BE49-F238E27FC236}">
                <a16:creationId xmlns:a16="http://schemas.microsoft.com/office/drawing/2014/main" id="{8950DCA5-9DED-4B50-CDCF-29F741E29C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3375" y="2857500"/>
            <a:ext cx="142875" cy="228600"/>
          </a:xfrm>
          <a:prstGeom prst="rect">
            <a:avLst/>
          </a:prstGeom>
        </p:spPr>
      </p:pic>
      <p:pic>
        <p:nvPicPr>
          <p:cNvPr id="158" name="Image 20" descr="preencoded.png">
            <a:extLst>
              <a:ext uri="{FF2B5EF4-FFF2-40B4-BE49-F238E27FC236}">
                <a16:creationId xmlns:a16="http://schemas.microsoft.com/office/drawing/2014/main" id="{99FA6DC0-BBB2-A40E-0D9C-26D4C2E9334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4850" y="1514475"/>
            <a:ext cx="3257550" cy="2914650"/>
          </a:xfrm>
          <a:prstGeom prst="rect">
            <a:avLst/>
          </a:prstGeom>
        </p:spPr>
      </p:pic>
      <p:pic>
        <p:nvPicPr>
          <p:cNvPr id="159" name="Image 21" descr="preencoded.png">
            <a:extLst>
              <a:ext uri="{FF2B5EF4-FFF2-40B4-BE49-F238E27FC236}">
                <a16:creationId xmlns:a16="http://schemas.microsoft.com/office/drawing/2014/main" id="{C7C56A75-5371-3834-61CF-DC6A8CCCB21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7725" y="1704975"/>
            <a:ext cx="361950" cy="285750"/>
          </a:xfrm>
          <a:prstGeom prst="rect">
            <a:avLst/>
          </a:prstGeom>
        </p:spPr>
      </p:pic>
      <p:pic>
        <p:nvPicPr>
          <p:cNvPr id="160" name="Image 22" descr="preencoded.png">
            <a:extLst>
              <a:ext uri="{FF2B5EF4-FFF2-40B4-BE49-F238E27FC236}">
                <a16:creationId xmlns:a16="http://schemas.microsoft.com/office/drawing/2014/main" id="{E2CBE073-596D-020B-77C9-C35C0A896C0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7725" y="2466975"/>
            <a:ext cx="152400" cy="152400"/>
          </a:xfrm>
          <a:prstGeom prst="rect">
            <a:avLst/>
          </a:prstGeom>
        </p:spPr>
      </p:pic>
      <p:pic>
        <p:nvPicPr>
          <p:cNvPr id="161" name="Image 23" descr="preencoded.png">
            <a:extLst>
              <a:ext uri="{FF2B5EF4-FFF2-40B4-BE49-F238E27FC236}">
                <a16:creationId xmlns:a16="http://schemas.microsoft.com/office/drawing/2014/main" id="{5D75BAF4-1333-39B0-D9C2-C3126F8AA83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7725" y="2771775"/>
            <a:ext cx="152400" cy="152400"/>
          </a:xfrm>
          <a:prstGeom prst="rect">
            <a:avLst/>
          </a:prstGeom>
        </p:spPr>
      </p:pic>
      <p:pic>
        <p:nvPicPr>
          <p:cNvPr id="162" name="Image 24" descr="preencoded.png">
            <a:extLst>
              <a:ext uri="{FF2B5EF4-FFF2-40B4-BE49-F238E27FC236}">
                <a16:creationId xmlns:a16="http://schemas.microsoft.com/office/drawing/2014/main" id="{159586E5-980C-25F4-F5AE-BCB79927C71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7725" y="3076575"/>
            <a:ext cx="152400" cy="152400"/>
          </a:xfrm>
          <a:prstGeom prst="rect">
            <a:avLst/>
          </a:prstGeom>
        </p:spPr>
      </p:pic>
      <p:pic>
        <p:nvPicPr>
          <p:cNvPr id="163" name="Image 25" descr="preencoded.png">
            <a:extLst>
              <a:ext uri="{FF2B5EF4-FFF2-40B4-BE49-F238E27FC236}">
                <a16:creationId xmlns:a16="http://schemas.microsoft.com/office/drawing/2014/main" id="{9B82430A-5B21-9EEF-347A-98758D2D6F3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7725" y="3381375"/>
            <a:ext cx="152400" cy="152400"/>
          </a:xfrm>
          <a:prstGeom prst="rect">
            <a:avLst/>
          </a:prstGeom>
        </p:spPr>
      </p:pic>
      <p:pic>
        <p:nvPicPr>
          <p:cNvPr id="164" name="Image 26" descr="preencoded.png">
            <a:extLst>
              <a:ext uri="{FF2B5EF4-FFF2-40B4-BE49-F238E27FC236}">
                <a16:creationId xmlns:a16="http://schemas.microsoft.com/office/drawing/2014/main" id="{C9BC9755-BF92-5D17-F670-4382080108A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725" y="3676650"/>
            <a:ext cx="2971800" cy="609600"/>
          </a:xfrm>
          <a:prstGeom prst="rect">
            <a:avLst/>
          </a:prstGeom>
        </p:spPr>
      </p:pic>
      <p:pic>
        <p:nvPicPr>
          <p:cNvPr id="165" name="Image 27" descr="preencoded.png">
            <a:extLst>
              <a:ext uri="{FF2B5EF4-FFF2-40B4-BE49-F238E27FC236}">
                <a16:creationId xmlns:a16="http://schemas.microsoft.com/office/drawing/2014/main" id="{7214D39D-69EE-5C9F-0FDD-27D9C79C4D7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19600" y="4657725"/>
            <a:ext cx="3352800" cy="381000"/>
          </a:xfrm>
          <a:prstGeom prst="rect">
            <a:avLst/>
          </a:prstGeom>
        </p:spPr>
      </p:pic>
      <p:pic>
        <p:nvPicPr>
          <p:cNvPr id="166" name="Image 28" descr="preencoded.png">
            <a:extLst>
              <a:ext uri="{FF2B5EF4-FFF2-40B4-BE49-F238E27FC236}">
                <a16:creationId xmlns:a16="http://schemas.microsoft.com/office/drawing/2014/main" id="{C3ED3D1F-0BB9-6F8C-867C-9884CF4843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81650" y="4772025"/>
            <a:ext cx="133350" cy="152400"/>
          </a:xfrm>
          <a:prstGeom prst="rect">
            <a:avLst/>
          </a:prstGeom>
        </p:spPr>
      </p:pic>
      <p:pic>
        <p:nvPicPr>
          <p:cNvPr id="167" name="Image 29" descr="preencoded.png">
            <a:extLst>
              <a:ext uri="{FF2B5EF4-FFF2-40B4-BE49-F238E27FC236}">
                <a16:creationId xmlns:a16="http://schemas.microsoft.com/office/drawing/2014/main" id="{6D31A64C-F22E-AA11-7D93-82F435CD98B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19875" y="4772025"/>
            <a:ext cx="133350" cy="152400"/>
          </a:xfrm>
          <a:prstGeom prst="rect">
            <a:avLst/>
          </a:prstGeom>
        </p:spPr>
      </p:pic>
      <p:sp>
        <p:nvSpPr>
          <p:cNvPr id="170" name="Text 1">
            <a:extLst>
              <a:ext uri="{FF2B5EF4-FFF2-40B4-BE49-F238E27FC236}">
                <a16:creationId xmlns:a16="http://schemas.microsoft.com/office/drawing/2014/main" id="{DA19DD30-2556-2F2B-253A-C5AB8ECB8AF9}"/>
              </a:ext>
            </a:extLst>
          </p:cNvPr>
          <p:cNvSpPr/>
          <p:nvPr/>
        </p:nvSpPr>
        <p:spPr>
          <a:xfrm>
            <a:off x="609600" y="1095375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FF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의존형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</a:t>
            </a:r>
            <a:r>
              <a:rPr lang="en-US" sz="1500" b="1" dirty="0">
                <a:solidFill>
                  <a:srgbClr val="00FF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통합형</a:t>
            </a: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으로의 전환</a:t>
            </a:r>
            <a:endParaRPr lang="en-US" sz="1500" dirty="0"/>
          </a:p>
        </p:txBody>
      </p:sp>
      <p:sp>
        <p:nvSpPr>
          <p:cNvPr id="171" name="Text 2">
            <a:extLst>
              <a:ext uri="{FF2B5EF4-FFF2-40B4-BE49-F238E27FC236}">
                <a16:creationId xmlns:a16="http://schemas.microsoft.com/office/drawing/2014/main" id="{79E48D99-6181-8C11-192D-232A4FB44B29}"/>
              </a:ext>
            </a:extLst>
          </p:cNvPr>
          <p:cNvSpPr/>
          <p:nvPr/>
        </p:nvSpPr>
        <p:spPr>
          <a:xfrm>
            <a:off x="1228725" y="16954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의존형</a:t>
            </a:r>
            <a:endParaRPr lang="en-US" sz="1500" dirty="0"/>
          </a:p>
        </p:txBody>
      </p:sp>
      <p:sp>
        <p:nvSpPr>
          <p:cNvPr id="172" name="Text 3">
            <a:extLst>
              <a:ext uri="{FF2B5EF4-FFF2-40B4-BE49-F238E27FC236}">
                <a16:creationId xmlns:a16="http://schemas.microsoft.com/office/drawing/2014/main" id="{3EAF0B9A-B471-A796-FF6F-12255EDC254B}"/>
              </a:ext>
            </a:extLst>
          </p:cNvPr>
          <p:cNvSpPr/>
          <p:nvPr/>
        </p:nvSpPr>
        <p:spPr>
          <a:xfrm>
            <a:off x="752475" y="211455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(Dependency Stage)</a:t>
            </a:r>
            <a:endParaRPr lang="en-US" sz="1050" dirty="0"/>
          </a:p>
        </p:txBody>
      </p:sp>
      <p:sp>
        <p:nvSpPr>
          <p:cNvPr id="173" name="Text 4">
            <a:extLst>
              <a:ext uri="{FF2B5EF4-FFF2-40B4-BE49-F238E27FC236}">
                <a16:creationId xmlns:a16="http://schemas.microsoft.com/office/drawing/2014/main" id="{9B4EFFEA-62C6-080E-3288-3FD09E7787E3}"/>
              </a:ext>
            </a:extLst>
          </p:cNvPr>
          <p:cNvSpPr/>
          <p:nvPr/>
        </p:nvSpPr>
        <p:spPr>
          <a:xfrm>
            <a:off x="981075" y="24193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AI를 생각의 대체자로 사용</a:t>
            </a:r>
            <a:endParaRPr lang="en-US" sz="1200" dirty="0"/>
          </a:p>
        </p:txBody>
      </p:sp>
      <p:sp>
        <p:nvSpPr>
          <p:cNvPr id="174" name="Text 5">
            <a:extLst>
              <a:ext uri="{FF2B5EF4-FFF2-40B4-BE49-F238E27FC236}">
                <a16:creationId xmlns:a16="http://schemas.microsoft.com/office/drawing/2014/main" id="{B5F8C976-B466-E387-968C-B901A61688F0}"/>
              </a:ext>
            </a:extLst>
          </p:cNvPr>
          <p:cNvSpPr/>
          <p:nvPr/>
        </p:nvSpPr>
        <p:spPr>
          <a:xfrm>
            <a:off x="981075" y="27241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사고를 외주화함</a:t>
            </a:r>
            <a:endParaRPr lang="en-US" sz="1200" dirty="0"/>
          </a:p>
        </p:txBody>
      </p:sp>
      <p:sp>
        <p:nvSpPr>
          <p:cNvPr id="175" name="Text 6">
            <a:extLst>
              <a:ext uri="{FF2B5EF4-FFF2-40B4-BE49-F238E27FC236}">
                <a16:creationId xmlns:a16="http://schemas.microsoft.com/office/drawing/2014/main" id="{2B78691C-15E2-84E6-6C77-DF949A994BDB}"/>
              </a:ext>
            </a:extLst>
          </p:cNvPr>
          <p:cNvSpPr/>
          <p:nvPr/>
        </p:nvSpPr>
        <p:spPr>
          <a:xfrm>
            <a:off x="981075" y="302895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과도한 Cognitive Offloading</a:t>
            </a:r>
            <a:endParaRPr lang="en-US" sz="1200" dirty="0"/>
          </a:p>
        </p:txBody>
      </p:sp>
      <p:sp>
        <p:nvSpPr>
          <p:cNvPr id="176" name="Text 7">
            <a:extLst>
              <a:ext uri="{FF2B5EF4-FFF2-40B4-BE49-F238E27FC236}">
                <a16:creationId xmlns:a16="http://schemas.microsoft.com/office/drawing/2014/main" id="{A39E3A77-1EB3-6678-9CBE-93F59DA34594}"/>
              </a:ext>
            </a:extLst>
          </p:cNvPr>
          <p:cNvSpPr/>
          <p:nvPr/>
        </p:nvSpPr>
        <p:spPr>
          <a:xfrm>
            <a:off x="981075" y="333375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Metacognitive Laziness</a:t>
            </a:r>
            <a:endParaRPr lang="en-US" sz="1200" dirty="0"/>
          </a:p>
        </p:txBody>
      </p:sp>
      <p:sp>
        <p:nvSpPr>
          <p:cNvPr id="177" name="Text 8">
            <a:extLst>
              <a:ext uri="{FF2B5EF4-FFF2-40B4-BE49-F238E27FC236}">
                <a16:creationId xmlns:a16="http://schemas.microsoft.com/office/drawing/2014/main" id="{168D0DE3-2BDC-7B90-B16C-A10DE5B71329}"/>
              </a:ext>
            </a:extLst>
          </p:cNvPr>
          <p:cNvSpPr/>
          <p:nvPr/>
        </p:nvSpPr>
        <p:spPr>
          <a:xfrm>
            <a:off x="866775" y="379095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"도구를 쓰는 인간"이 아닌"도구에 의존하는 인간"이 됨</a:t>
            </a:r>
            <a:endParaRPr lang="en-US" sz="1050" dirty="0"/>
          </a:p>
        </p:txBody>
      </p:sp>
      <p:sp>
        <p:nvSpPr>
          <p:cNvPr id="178" name="Text 9">
            <a:extLst>
              <a:ext uri="{FF2B5EF4-FFF2-40B4-BE49-F238E27FC236}">
                <a16:creationId xmlns:a16="http://schemas.microsoft.com/office/drawing/2014/main" id="{70D0B989-21E0-4FFA-0EBA-68BDE6734CEE}"/>
              </a:ext>
            </a:extLst>
          </p:cNvPr>
          <p:cNvSpPr/>
          <p:nvPr/>
        </p:nvSpPr>
        <p:spPr>
          <a:xfrm>
            <a:off x="5010150" y="16954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증강형</a:t>
            </a:r>
            <a:endParaRPr lang="en-US" sz="1500" dirty="0"/>
          </a:p>
        </p:txBody>
      </p:sp>
      <p:sp>
        <p:nvSpPr>
          <p:cNvPr id="179" name="Text 10">
            <a:extLst>
              <a:ext uri="{FF2B5EF4-FFF2-40B4-BE49-F238E27FC236}">
                <a16:creationId xmlns:a16="http://schemas.microsoft.com/office/drawing/2014/main" id="{EEB4FE93-7850-2729-16B6-264E5AF01F1F}"/>
              </a:ext>
            </a:extLst>
          </p:cNvPr>
          <p:cNvSpPr/>
          <p:nvPr/>
        </p:nvSpPr>
        <p:spPr>
          <a:xfrm>
            <a:off x="4610100" y="2114550"/>
            <a:ext cx="3566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(Augmentation Stage)</a:t>
            </a:r>
            <a:endParaRPr lang="en-US" sz="1050" dirty="0"/>
          </a:p>
        </p:txBody>
      </p:sp>
      <p:sp>
        <p:nvSpPr>
          <p:cNvPr id="180" name="Text 11">
            <a:extLst>
              <a:ext uri="{FF2B5EF4-FFF2-40B4-BE49-F238E27FC236}">
                <a16:creationId xmlns:a16="http://schemas.microsoft.com/office/drawing/2014/main" id="{AFE08C89-B8A6-5B64-6A94-5A29534944A9}"/>
              </a:ext>
            </a:extLst>
          </p:cNvPr>
          <p:cNvSpPr/>
          <p:nvPr/>
        </p:nvSpPr>
        <p:spPr>
          <a:xfrm>
            <a:off x="4838700" y="24193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판단의 주도권 유지</a:t>
            </a:r>
            <a:endParaRPr lang="en-US" sz="1200" dirty="0"/>
          </a:p>
        </p:txBody>
      </p:sp>
      <p:sp>
        <p:nvSpPr>
          <p:cNvPr id="181" name="Text 12">
            <a:extLst>
              <a:ext uri="{FF2B5EF4-FFF2-40B4-BE49-F238E27FC236}">
                <a16:creationId xmlns:a16="http://schemas.microsoft.com/office/drawing/2014/main" id="{AE66B226-527A-3949-8C64-F1B232B50F64}"/>
              </a:ext>
            </a:extLst>
          </p:cNvPr>
          <p:cNvSpPr/>
          <p:nvPr/>
        </p:nvSpPr>
        <p:spPr>
          <a:xfrm>
            <a:off x="4838700" y="272415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효율적으로 통제된 Offloading</a:t>
            </a:r>
            <a:endParaRPr lang="en-US" sz="1200" dirty="0"/>
          </a:p>
        </p:txBody>
      </p:sp>
      <p:sp>
        <p:nvSpPr>
          <p:cNvPr id="182" name="Text 13">
            <a:extLst>
              <a:ext uri="{FF2B5EF4-FFF2-40B4-BE49-F238E27FC236}">
                <a16:creationId xmlns:a16="http://schemas.microsoft.com/office/drawing/2014/main" id="{683877F5-35FF-935E-9291-93B6E78BFFA1}"/>
              </a:ext>
            </a:extLst>
          </p:cNvPr>
          <p:cNvSpPr/>
          <p:nvPr/>
        </p:nvSpPr>
        <p:spPr>
          <a:xfrm>
            <a:off x="4838700" y="30289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메타인지적 질문 활성화</a:t>
            </a:r>
            <a:endParaRPr lang="en-US" sz="1200" dirty="0"/>
          </a:p>
        </p:txBody>
      </p:sp>
      <p:sp>
        <p:nvSpPr>
          <p:cNvPr id="183" name="Text 14">
            <a:extLst>
              <a:ext uri="{FF2B5EF4-FFF2-40B4-BE49-F238E27FC236}">
                <a16:creationId xmlns:a16="http://schemas.microsoft.com/office/drawing/2014/main" id="{6EFB4205-B2A5-2364-7396-10C10984D1CA}"/>
              </a:ext>
            </a:extLst>
          </p:cNvPr>
          <p:cNvSpPr/>
          <p:nvPr/>
        </p:nvSpPr>
        <p:spPr>
          <a:xfrm>
            <a:off x="4838700" y="33337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결과를 재해석/확장</a:t>
            </a:r>
            <a:endParaRPr lang="en-US" sz="1200" dirty="0"/>
          </a:p>
        </p:txBody>
      </p:sp>
      <p:sp>
        <p:nvSpPr>
          <p:cNvPr id="184" name="Text 15">
            <a:extLst>
              <a:ext uri="{FF2B5EF4-FFF2-40B4-BE49-F238E27FC236}">
                <a16:creationId xmlns:a16="http://schemas.microsoft.com/office/drawing/2014/main" id="{823E6CCA-484D-3278-B30C-38460AC0E32D}"/>
              </a:ext>
            </a:extLst>
          </p:cNvPr>
          <p:cNvSpPr/>
          <p:nvPr/>
        </p:nvSpPr>
        <p:spPr>
          <a:xfrm>
            <a:off x="4724400" y="379095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인간의 사고력과 AI의 연산력이상호 강화되는 단계</a:t>
            </a:r>
            <a:endParaRPr lang="en-US" sz="1050" dirty="0"/>
          </a:p>
        </p:txBody>
      </p:sp>
      <p:sp>
        <p:nvSpPr>
          <p:cNvPr id="185" name="Text 16">
            <a:extLst>
              <a:ext uri="{FF2B5EF4-FFF2-40B4-BE49-F238E27FC236}">
                <a16:creationId xmlns:a16="http://schemas.microsoft.com/office/drawing/2014/main" id="{AF48E089-255A-E9EF-B5C9-324419B6E6A2}"/>
              </a:ext>
            </a:extLst>
          </p:cNvPr>
          <p:cNvSpPr/>
          <p:nvPr/>
        </p:nvSpPr>
        <p:spPr>
          <a:xfrm>
            <a:off x="8943975" y="16954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통합형</a:t>
            </a:r>
            <a:endParaRPr lang="en-US" sz="1500" dirty="0"/>
          </a:p>
        </p:txBody>
      </p:sp>
      <p:sp>
        <p:nvSpPr>
          <p:cNvPr id="186" name="Text 17">
            <a:extLst>
              <a:ext uri="{FF2B5EF4-FFF2-40B4-BE49-F238E27FC236}">
                <a16:creationId xmlns:a16="http://schemas.microsoft.com/office/drawing/2014/main" id="{22CDA26E-AF22-529F-9B8C-642888FA7C87}"/>
              </a:ext>
            </a:extLst>
          </p:cNvPr>
          <p:cNvSpPr/>
          <p:nvPr/>
        </p:nvSpPr>
        <p:spPr>
          <a:xfrm>
            <a:off x="8467725" y="2114550"/>
            <a:ext cx="3566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(Integration Stage)</a:t>
            </a:r>
            <a:endParaRPr lang="en-US" sz="1050" dirty="0"/>
          </a:p>
        </p:txBody>
      </p:sp>
      <p:sp>
        <p:nvSpPr>
          <p:cNvPr id="187" name="Text 18">
            <a:extLst>
              <a:ext uri="{FF2B5EF4-FFF2-40B4-BE49-F238E27FC236}">
                <a16:creationId xmlns:a16="http://schemas.microsoft.com/office/drawing/2014/main" id="{ABB39BDF-A327-BD3D-F016-DA67BD0B84FF}"/>
              </a:ext>
            </a:extLst>
          </p:cNvPr>
          <p:cNvSpPr/>
          <p:nvPr/>
        </p:nvSpPr>
        <p:spPr>
          <a:xfrm>
            <a:off x="8696325" y="24193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상호 피드백 루프 형성</a:t>
            </a:r>
            <a:endParaRPr lang="en-US" sz="1200" dirty="0"/>
          </a:p>
        </p:txBody>
      </p:sp>
      <p:sp>
        <p:nvSpPr>
          <p:cNvPr id="188" name="Text 19">
            <a:extLst>
              <a:ext uri="{FF2B5EF4-FFF2-40B4-BE49-F238E27FC236}">
                <a16:creationId xmlns:a16="http://schemas.microsoft.com/office/drawing/2014/main" id="{2D06F700-579D-839B-4C6C-1532A8C4D144}"/>
              </a:ext>
            </a:extLst>
          </p:cNvPr>
          <p:cNvSpPr/>
          <p:nvPr/>
        </p:nvSpPr>
        <p:spPr>
          <a:xfrm>
            <a:off x="8696325" y="272415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Metacognitive Mastery</a:t>
            </a:r>
            <a:endParaRPr lang="en-US" sz="1200" dirty="0"/>
          </a:p>
        </p:txBody>
      </p:sp>
      <p:sp>
        <p:nvSpPr>
          <p:cNvPr id="189" name="Text 20">
            <a:extLst>
              <a:ext uri="{FF2B5EF4-FFF2-40B4-BE49-F238E27FC236}">
                <a16:creationId xmlns:a16="http://schemas.microsoft.com/office/drawing/2014/main" id="{A669C91D-0EC9-0D15-EC89-C62F8D23587C}"/>
              </a:ext>
            </a:extLst>
          </p:cNvPr>
          <p:cNvSpPr/>
          <p:nvPr/>
        </p:nvSpPr>
        <p:spPr>
          <a:xfrm>
            <a:off x="8696325" y="30289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인간-AI 순환 검증 구조</a:t>
            </a:r>
            <a:endParaRPr lang="en-US" sz="1200" dirty="0"/>
          </a:p>
        </p:txBody>
      </p:sp>
      <p:sp>
        <p:nvSpPr>
          <p:cNvPr id="190" name="Text 21">
            <a:extLst>
              <a:ext uri="{FF2B5EF4-FFF2-40B4-BE49-F238E27FC236}">
                <a16:creationId xmlns:a16="http://schemas.microsoft.com/office/drawing/2014/main" id="{4B38F4B6-D143-8494-641E-CB4B2DAF0A9C}"/>
              </a:ext>
            </a:extLst>
          </p:cNvPr>
          <p:cNvSpPr/>
          <p:nvPr/>
        </p:nvSpPr>
        <p:spPr>
          <a:xfrm>
            <a:off x="8696325" y="33337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고차원적 개념 창조 집중</a:t>
            </a:r>
            <a:endParaRPr lang="en-US" sz="1200" dirty="0"/>
          </a:p>
        </p:txBody>
      </p:sp>
      <p:sp>
        <p:nvSpPr>
          <p:cNvPr id="191" name="Text 22">
            <a:extLst>
              <a:ext uri="{FF2B5EF4-FFF2-40B4-BE49-F238E27FC236}">
                <a16:creationId xmlns:a16="http://schemas.microsoft.com/office/drawing/2014/main" id="{17F1F99E-D42B-6F2F-444F-483E6D649236}"/>
              </a:ext>
            </a:extLst>
          </p:cNvPr>
          <p:cNvSpPr/>
          <p:nvPr/>
        </p:nvSpPr>
        <p:spPr>
          <a:xfrm>
            <a:off x="8582025" y="379095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'외주자'가 아닌'공동 사유자(Co-thinker)'가 됨</a:t>
            </a:r>
            <a:endParaRPr lang="en-US" sz="1050" dirty="0"/>
          </a:p>
        </p:txBody>
      </p:sp>
      <p:sp>
        <p:nvSpPr>
          <p:cNvPr id="192" name="Text 23">
            <a:extLst>
              <a:ext uri="{FF2B5EF4-FFF2-40B4-BE49-F238E27FC236}">
                <a16:creationId xmlns:a16="http://schemas.microsoft.com/office/drawing/2014/main" id="{45210DC2-958D-C7DC-EDC1-B7DD67D9DC08}"/>
              </a:ext>
            </a:extLst>
          </p:cNvPr>
          <p:cNvSpPr/>
          <p:nvPr/>
        </p:nvSpPr>
        <p:spPr>
          <a:xfrm>
            <a:off x="4610100" y="4733925"/>
            <a:ext cx="1074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무비판적 수용</a:t>
            </a:r>
            <a:endParaRPr lang="en-US" sz="1200" dirty="0"/>
          </a:p>
        </p:txBody>
      </p:sp>
      <p:sp>
        <p:nvSpPr>
          <p:cNvPr id="193" name="Text 24">
            <a:extLst>
              <a:ext uri="{FF2B5EF4-FFF2-40B4-BE49-F238E27FC236}">
                <a16:creationId xmlns:a16="http://schemas.microsoft.com/office/drawing/2014/main" id="{27C2B9EC-BE0F-97F3-ED3D-7852BE011535}"/>
              </a:ext>
            </a:extLst>
          </p:cNvPr>
          <p:cNvSpPr/>
          <p:nvPr/>
        </p:nvSpPr>
        <p:spPr>
          <a:xfrm>
            <a:off x="5791200" y="4733925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CC1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비판적 활용</a:t>
            </a:r>
            <a:endParaRPr lang="en-US" sz="1200" dirty="0"/>
          </a:p>
        </p:txBody>
      </p:sp>
      <p:sp>
        <p:nvSpPr>
          <p:cNvPr id="194" name="Text 25">
            <a:extLst>
              <a:ext uri="{FF2B5EF4-FFF2-40B4-BE49-F238E27FC236}">
                <a16:creationId xmlns:a16="http://schemas.microsoft.com/office/drawing/2014/main" id="{8EEAA075-C3BB-B5B5-4F5C-1B97E5B9520E}"/>
              </a:ext>
            </a:extLst>
          </p:cNvPr>
          <p:cNvSpPr/>
          <p:nvPr/>
        </p:nvSpPr>
        <p:spPr>
          <a:xfrm>
            <a:off x="6829425" y="4733925"/>
            <a:ext cx="902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협력적 사고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99175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4698950" cy="342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381125"/>
            <a:ext cx="342900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4960" y="3962400"/>
            <a:ext cx="1147316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5417" y="4057650"/>
            <a:ext cx="1143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5850" y="1143000"/>
            <a:ext cx="4698950" cy="3429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4450" y="1381125"/>
            <a:ext cx="428625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7063" y="3984702"/>
            <a:ext cx="1147316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4067" y="4057650"/>
            <a:ext cx="114300" cy="1524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228600"/>
            <a:ext cx="49156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언더퍼포머 vs. 아웃퍼포머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1181100" y="14097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언더퍼포머</a:t>
            </a:r>
            <a:endParaRPr lang="en-US" sz="1800" dirty="0"/>
          </a:p>
        </p:txBody>
      </p:sp>
      <p:sp>
        <p:nvSpPr>
          <p:cNvPr id="15" name="Text 2"/>
          <p:cNvSpPr/>
          <p:nvPr/>
        </p:nvSpPr>
        <p:spPr>
          <a:xfrm>
            <a:off x="685800" y="1905000"/>
            <a:ext cx="424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검색 엔진처럼 취급하는 접근 방식</a:t>
            </a:r>
            <a:endParaRPr lang="en-US" sz="1400" dirty="0"/>
          </a:p>
        </p:txBody>
      </p:sp>
      <p:sp>
        <p:nvSpPr>
          <p:cNvPr id="16" name="Text 3"/>
          <p:cNvSpPr/>
          <p:nvPr/>
        </p:nvSpPr>
        <p:spPr>
          <a:xfrm>
            <a:off x="1126530" y="2362200"/>
            <a:ext cx="3864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던지고, 답만 기다림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1126530" y="2743200"/>
            <a:ext cx="38649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답변을 받아 그대로 사용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1126530" y="3124200"/>
            <a:ext cx="38649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만족스럽지 않은 결과에 대해 아무런 피드백 없이 포기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1126530" y="3505200"/>
            <a:ext cx="395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도구로만 인식하고 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활용의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머물음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2233017" y="4018155"/>
            <a:ext cx="11473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</a:t>
            </a:r>
            <a:r>
              <a:rPr lang="ko-KR" altLang="en-US" sz="1200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r>
              <a:rPr lang="en-US" sz="1200" dirty="0">
                <a:solidFill>
                  <a:srgbClr val="FCA5A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하락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5918002" y="2476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2100" dirty="0"/>
          </a:p>
        </p:txBody>
      </p:sp>
      <p:sp>
        <p:nvSpPr>
          <p:cNvPr id="22" name="Text 9"/>
          <p:cNvSpPr/>
          <p:nvPr/>
        </p:nvSpPr>
        <p:spPr>
          <a:xfrm>
            <a:off x="7845475" y="14097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아웃퍼포머</a:t>
            </a:r>
            <a:endParaRPr lang="en-US" sz="1800" dirty="0"/>
          </a:p>
        </p:txBody>
      </p:sp>
      <p:sp>
        <p:nvSpPr>
          <p:cNvPr id="23" name="Text 10"/>
          <p:cNvSpPr/>
          <p:nvPr/>
        </p:nvSpPr>
        <p:spPr>
          <a:xfrm>
            <a:off x="7264450" y="1905000"/>
            <a:ext cx="424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지적인 팀원으로 대하는 접근 방식</a:t>
            </a:r>
            <a:endParaRPr lang="en-US" sz="1400" dirty="0"/>
          </a:p>
        </p:txBody>
      </p:sp>
      <p:sp>
        <p:nvSpPr>
          <p:cNvPr id="24" name="Text 11"/>
          <p:cNvSpPr/>
          <p:nvPr/>
        </p:nvSpPr>
        <p:spPr>
          <a:xfrm>
            <a:off x="7705180" y="2362200"/>
            <a:ext cx="3956000" cy="22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함께 문제를 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정의하고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협력자로 인식</a:t>
            </a:r>
            <a:endParaRPr lang="en-US" sz="1200" dirty="0"/>
          </a:p>
        </p:txBody>
      </p:sp>
      <p:sp>
        <p:nvSpPr>
          <p:cNvPr id="25" name="Text 12"/>
          <p:cNvSpPr/>
          <p:nvPr/>
        </p:nvSpPr>
        <p:spPr>
          <a:xfrm>
            <a:off x="7705180" y="2743200"/>
            <a:ext cx="3956000" cy="22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답변을 비판적으로 검토하고 보완</a:t>
            </a:r>
            <a:endParaRPr lang="en-US" sz="1200" dirty="0"/>
          </a:p>
        </p:txBody>
      </p:sp>
      <p:sp>
        <p:nvSpPr>
          <p:cNvPr id="26" name="Text 13"/>
          <p:cNvSpPr/>
          <p:nvPr/>
        </p:nvSpPr>
        <p:spPr>
          <a:xfrm>
            <a:off x="7705180" y="3124200"/>
            <a:ext cx="395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피드백과 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코칭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통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하여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더 나은 결과물을 만들어냄</a:t>
            </a:r>
            <a:endParaRPr lang="en-US" sz="1200" dirty="0"/>
          </a:p>
        </p:txBody>
      </p:sp>
      <p:sp>
        <p:nvSpPr>
          <p:cNvPr id="27" name="Text 14"/>
          <p:cNvSpPr/>
          <p:nvPr/>
        </p:nvSpPr>
        <p:spPr>
          <a:xfrm>
            <a:off x="7705180" y="3505200"/>
            <a:ext cx="3956000" cy="225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과정에서 얻은 정보와 통찰을 공유해 팀 성과를 올립니다</a:t>
            </a:r>
            <a:r>
              <a:rPr lang="en-US" altLang="ko-KR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Text 15"/>
          <p:cNvSpPr/>
          <p:nvPr/>
        </p:nvSpPr>
        <p:spPr>
          <a:xfrm>
            <a:off x="8811667" y="4018155"/>
            <a:ext cx="11473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86EF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86EF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</a:t>
            </a:r>
            <a:r>
              <a:rPr lang="ko-KR" altLang="en-US" sz="1200" dirty="0">
                <a:solidFill>
                  <a:srgbClr val="86EF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</a:t>
            </a:r>
            <a:r>
              <a:rPr lang="en-US" sz="1200" dirty="0">
                <a:solidFill>
                  <a:srgbClr val="86EF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증가</a:t>
            </a:r>
            <a:endParaRPr lang="en-US" sz="1200" dirty="0"/>
          </a:p>
        </p:txBody>
      </p:sp>
      <p:pic>
        <p:nvPicPr>
          <p:cNvPr id="42" name="Image 5" descr="preencoded.png">
            <a:extLst>
              <a:ext uri="{FF2B5EF4-FFF2-40B4-BE49-F238E27FC236}">
                <a16:creationId xmlns:a16="http://schemas.microsoft.com/office/drawing/2014/main" id="{7F83E402-387C-9BE7-F2BD-BB61306EEE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634" y="2393197"/>
            <a:ext cx="171450" cy="171450"/>
          </a:xfrm>
          <a:prstGeom prst="rect">
            <a:avLst/>
          </a:prstGeom>
        </p:spPr>
      </p:pic>
      <p:pic>
        <p:nvPicPr>
          <p:cNvPr id="43" name="Image 6" descr="preencoded.png">
            <a:extLst>
              <a:ext uri="{FF2B5EF4-FFF2-40B4-BE49-F238E27FC236}">
                <a16:creationId xmlns:a16="http://schemas.microsoft.com/office/drawing/2014/main" id="{BA13BA19-7418-E57A-6C02-91EBC1EDB6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681" y="2767095"/>
            <a:ext cx="171450" cy="171450"/>
          </a:xfrm>
          <a:prstGeom prst="rect">
            <a:avLst/>
          </a:prstGeom>
        </p:spPr>
      </p:pic>
      <p:pic>
        <p:nvPicPr>
          <p:cNvPr id="44" name="Image 7" descr="preencoded.png">
            <a:extLst>
              <a:ext uri="{FF2B5EF4-FFF2-40B4-BE49-F238E27FC236}">
                <a16:creationId xmlns:a16="http://schemas.microsoft.com/office/drawing/2014/main" id="{315175B6-742A-E60B-2B00-3B213B8F6B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393" y="3153101"/>
            <a:ext cx="171450" cy="171450"/>
          </a:xfrm>
          <a:prstGeom prst="rect">
            <a:avLst/>
          </a:prstGeom>
        </p:spPr>
      </p:pic>
      <p:pic>
        <p:nvPicPr>
          <p:cNvPr id="45" name="Image 8" descr="preencoded.png">
            <a:extLst>
              <a:ext uri="{FF2B5EF4-FFF2-40B4-BE49-F238E27FC236}">
                <a16:creationId xmlns:a16="http://schemas.microsoft.com/office/drawing/2014/main" id="{CFAEDEF7-0410-90C1-8AF0-FA1772CE80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634" y="3540920"/>
            <a:ext cx="171450" cy="171450"/>
          </a:xfrm>
          <a:prstGeom prst="rect">
            <a:avLst/>
          </a:prstGeom>
        </p:spPr>
      </p:pic>
      <p:pic>
        <p:nvPicPr>
          <p:cNvPr id="46" name="Image 17" descr="preencoded.png">
            <a:extLst>
              <a:ext uri="{FF2B5EF4-FFF2-40B4-BE49-F238E27FC236}">
                <a16:creationId xmlns:a16="http://schemas.microsoft.com/office/drawing/2014/main" id="{46E88A6B-6998-B75A-6066-32E874CF3A6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2396" y="3156072"/>
            <a:ext cx="171450" cy="171450"/>
          </a:xfrm>
          <a:prstGeom prst="rect">
            <a:avLst/>
          </a:prstGeom>
        </p:spPr>
      </p:pic>
      <p:pic>
        <p:nvPicPr>
          <p:cNvPr id="47" name="Image 15" descr="preencoded.png">
            <a:extLst>
              <a:ext uri="{FF2B5EF4-FFF2-40B4-BE49-F238E27FC236}">
                <a16:creationId xmlns:a16="http://schemas.microsoft.com/office/drawing/2014/main" id="{93F76554-0D8F-93D7-6AFA-B077F78BD77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1577" y="3540920"/>
            <a:ext cx="219075" cy="171450"/>
          </a:xfrm>
          <a:prstGeom prst="rect">
            <a:avLst/>
          </a:prstGeom>
        </p:spPr>
      </p:pic>
      <p:pic>
        <p:nvPicPr>
          <p:cNvPr id="48" name="Image 16" descr="preencoded.png">
            <a:extLst>
              <a:ext uri="{FF2B5EF4-FFF2-40B4-BE49-F238E27FC236}">
                <a16:creationId xmlns:a16="http://schemas.microsoft.com/office/drawing/2014/main" id="{DE6EA3CE-913D-E2EF-0B8C-5368DD17DA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19672" y="2767095"/>
            <a:ext cx="133350" cy="171450"/>
          </a:xfrm>
          <a:prstGeom prst="rect">
            <a:avLst/>
          </a:prstGeom>
        </p:spPr>
      </p:pic>
      <p:pic>
        <p:nvPicPr>
          <p:cNvPr id="49" name="Image 15" descr="preencoded.png">
            <a:extLst>
              <a:ext uri="{FF2B5EF4-FFF2-40B4-BE49-F238E27FC236}">
                <a16:creationId xmlns:a16="http://schemas.microsoft.com/office/drawing/2014/main" id="{84A07DD7-5BE0-B2C7-893E-0411E11075D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1577" y="2390544"/>
            <a:ext cx="219075" cy="171450"/>
          </a:xfrm>
          <a:prstGeom prst="rect">
            <a:avLst/>
          </a:prstGeom>
        </p:spPr>
      </p:pic>
      <p:sp>
        <p:nvSpPr>
          <p:cNvPr id="32" name="Text 23">
            <a:extLst>
              <a:ext uri="{FF2B5EF4-FFF2-40B4-BE49-F238E27FC236}">
                <a16:creationId xmlns:a16="http://schemas.microsoft.com/office/drawing/2014/main" id="{DAA35526-8050-1A62-8131-047E8DCFA94B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986B29FC-5E80-0E3E-C27C-FB3BAFC15A91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pic>
        <p:nvPicPr>
          <p:cNvPr id="30" name="Image 16" descr="preencoded.png">
            <a:extLst>
              <a:ext uri="{FF2B5EF4-FFF2-40B4-BE49-F238E27FC236}">
                <a16:creationId xmlns:a16="http://schemas.microsoft.com/office/drawing/2014/main" id="{2553F4B9-1061-422B-84E4-B1351024B37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4846945"/>
            <a:ext cx="10972800" cy="1249055"/>
          </a:xfrm>
          <a:prstGeom prst="rect">
            <a:avLst/>
          </a:prstGeom>
        </p:spPr>
      </p:pic>
      <p:pic>
        <p:nvPicPr>
          <p:cNvPr id="31" name="Image 17" descr="preencoded.png">
            <a:extLst>
              <a:ext uri="{FF2B5EF4-FFF2-40B4-BE49-F238E27FC236}">
                <a16:creationId xmlns:a16="http://schemas.microsoft.com/office/drawing/2014/main" id="{43EB3E95-CDEB-C141-2246-FC911E6518E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5037445"/>
            <a:ext cx="762000" cy="762000"/>
          </a:xfrm>
          <a:prstGeom prst="rect">
            <a:avLst/>
          </a:prstGeom>
        </p:spPr>
      </p:pic>
      <p:pic>
        <p:nvPicPr>
          <p:cNvPr id="40" name="Image 18" descr="preencoded.png">
            <a:extLst>
              <a:ext uri="{FF2B5EF4-FFF2-40B4-BE49-F238E27FC236}">
                <a16:creationId xmlns:a16="http://schemas.microsoft.com/office/drawing/2014/main" id="{E5A1BC9F-751E-46D3-AE7A-2C5AC56C62F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8225" y="5246995"/>
            <a:ext cx="285750" cy="342900"/>
          </a:xfrm>
          <a:prstGeom prst="rect">
            <a:avLst/>
          </a:prstGeom>
        </p:spPr>
      </p:pic>
      <p:pic>
        <p:nvPicPr>
          <p:cNvPr id="50" name="Image 20" descr="preencoded.png">
            <a:extLst>
              <a:ext uri="{FF2B5EF4-FFF2-40B4-BE49-F238E27FC236}">
                <a16:creationId xmlns:a16="http://schemas.microsoft.com/office/drawing/2014/main" id="{02977E9A-FB61-8038-BF15-7D1984EF25A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14500" y="5761345"/>
            <a:ext cx="133350" cy="152400"/>
          </a:xfrm>
          <a:prstGeom prst="rect">
            <a:avLst/>
          </a:prstGeom>
        </p:spPr>
      </p:pic>
      <p:sp>
        <p:nvSpPr>
          <p:cNvPr id="51" name="Text 9">
            <a:extLst>
              <a:ext uri="{FF2B5EF4-FFF2-40B4-BE49-F238E27FC236}">
                <a16:creationId xmlns:a16="http://schemas.microsoft.com/office/drawing/2014/main" id="{F99058DE-E914-7AB9-6732-26220B52E575}"/>
              </a:ext>
            </a:extLst>
          </p:cNvPr>
          <p:cNvSpPr/>
          <p:nvPr/>
        </p:nvSpPr>
        <p:spPr>
          <a:xfrm>
            <a:off x="1714500" y="5037445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350" b="1" dirty="0">
                <a:solidFill>
                  <a:srgbClr val="22D3E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 선택도 전략이다</a:t>
            </a:r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6801DF86-0B2E-2EEE-62AC-D04F3D804358}"/>
              </a:ext>
            </a:extLst>
          </p:cNvPr>
          <p:cNvSpPr/>
          <p:nvPr/>
        </p:nvSpPr>
        <p:spPr>
          <a:xfrm>
            <a:off x="1714499" y="5380345"/>
            <a:ext cx="88180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Cursor, Claude Code | 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자료조사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Perplexity, ChatGPT | 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NotebookLM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| 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시각화</a:t>
            </a:r>
            <a:r>
              <a:rPr lang="en-US" altLang="ko-KR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3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3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Skywork</a:t>
            </a:r>
            <a:endParaRPr lang="en-US" sz="13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8195574B-593D-AA71-D101-CB014BA69C4F}"/>
              </a:ext>
            </a:extLst>
          </p:cNvPr>
          <p:cNvSpPr/>
          <p:nvPr/>
        </p:nvSpPr>
        <p:spPr>
          <a:xfrm>
            <a:off x="1962150" y="5723245"/>
            <a:ext cx="6423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목적에 맞춰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2DD4B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도구를 조합하고 전환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 능력이 경쟁력이다</a:t>
            </a:r>
            <a:r>
              <a:rPr lang="en-US" altLang="ko-KR" sz="1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34688"/>
            <a:ext cx="5334000" cy="2247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763288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13" y="1839488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392063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534688"/>
            <a:ext cx="5334000" cy="2247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763288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1839488"/>
            <a:ext cx="1714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392063"/>
            <a:ext cx="11430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26520"/>
            <a:ext cx="5334000" cy="2247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425512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8213" y="433132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588389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4026520"/>
            <a:ext cx="5334000" cy="2247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425512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2725" y="433132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5883895"/>
            <a:ext cx="133350" cy="133350"/>
          </a:xfrm>
          <a:prstGeom prst="rect">
            <a:avLst/>
          </a:prstGeom>
        </p:spPr>
      </p:pic>
      <p:sp>
        <p:nvSpPr>
          <p:cNvPr id="25" name="Text 2"/>
          <p:cNvSpPr/>
          <p:nvPr/>
        </p:nvSpPr>
        <p:spPr>
          <a:xfrm>
            <a:off x="1447800" y="1839488"/>
            <a:ext cx="2072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깊이 있는 전문성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838200" y="2372888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비즈니스 맥락 이해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38200" y="2677688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838200" y="2982488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의사결정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047750" y="3363488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표면적 정보를 인간의 깊이로 완성 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7086600" y="1839488"/>
            <a:ext cx="822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통찰력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6477000" y="2372888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기존 지식 밖의 아이디어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477000" y="2677688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본질적 이해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477000" y="2982488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문제 재정의 능력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667500" y="3363488"/>
            <a:ext cx="487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200" dirty="0">
                <a:solidFill>
                  <a:srgbClr val="EC4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인간의 경험과 깊은 사고에서 탄생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1447800" y="4331320"/>
            <a:ext cx="25451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독창적</a:t>
            </a: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매력</a:t>
            </a:r>
            <a:endParaRPr lang="en-US" sz="1800" dirty="0"/>
          </a:p>
        </p:txBody>
      </p:sp>
      <p:sp>
        <p:nvSpPr>
          <p:cNvPr id="36" name="Text 13"/>
          <p:cNvSpPr/>
          <p:nvPr/>
        </p:nvSpPr>
        <p:spPr>
          <a:xfrm>
            <a:off x="838200" y="486472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독특한 개성과 스타일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838200" y="516952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고유한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관점과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가치관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38200" y="547432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사람을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끌어당기는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매력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1047750" y="585532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200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모방할 수 없는 나만의 브랜드 가치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7086600" y="4331320"/>
            <a:ext cx="2072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관계와 협업 능력</a:t>
            </a:r>
            <a:endParaRPr lang="en-US" sz="1800" dirty="0"/>
          </a:p>
        </p:txBody>
      </p:sp>
      <p:sp>
        <p:nvSpPr>
          <p:cNvPr id="41" name="Text 18"/>
          <p:cNvSpPr/>
          <p:nvPr/>
        </p:nvSpPr>
        <p:spPr>
          <a:xfrm>
            <a:off x="6477000" y="486472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팀 협업과 조율</a:t>
            </a:r>
            <a:endParaRPr lang="en-US" sz="1200" dirty="0"/>
          </a:p>
        </p:txBody>
      </p:sp>
      <p:sp>
        <p:nvSpPr>
          <p:cNvPr id="42" name="Text 19"/>
          <p:cNvSpPr/>
          <p:nvPr/>
        </p:nvSpPr>
        <p:spPr>
          <a:xfrm>
            <a:off x="6477000" y="516952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공감과 커뮤니케이션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6477000" y="547432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신뢰 구축</a:t>
            </a:r>
            <a:endParaRPr lang="en-US" sz="1200" dirty="0"/>
          </a:p>
        </p:txBody>
      </p:sp>
      <p:sp>
        <p:nvSpPr>
          <p:cNvPr id="44" name="Text 21"/>
          <p:cNvSpPr/>
          <p:nvPr/>
        </p:nvSpPr>
        <p:spPr>
          <a:xfrm>
            <a:off x="6686550" y="5855320"/>
            <a:ext cx="474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AI가 </a:t>
            </a:r>
            <a:r>
              <a:rPr lang="en-US" sz="1200" dirty="0" err="1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</a:t>
            </a:r>
            <a:r>
              <a:rPr 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</a:t>
            </a:r>
            <a:r>
              <a:rPr lang="ko-KR" alt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감정 교류</a:t>
            </a:r>
            <a:r>
              <a:rPr lang="en-US" altLang="ko-KR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</a:t>
            </a:r>
            <a:r>
              <a:rPr 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</a:t>
            </a:r>
            <a:r>
              <a:rPr 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00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동기부여</a:t>
            </a:r>
            <a:endParaRPr lang="en-US" sz="1200" dirty="0"/>
          </a:p>
        </p:txBody>
      </p:sp>
      <p:sp>
        <p:nvSpPr>
          <p:cNvPr id="46" name="Text 23"/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35F5D248-6696-D323-7078-4D64F325EDB1}"/>
              </a:ext>
            </a:extLst>
          </p:cNvPr>
          <p:cNvSpPr/>
          <p:nvPr/>
        </p:nvSpPr>
        <p:spPr>
          <a:xfrm>
            <a:off x="457200" y="228600"/>
            <a:ext cx="594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불가능한 인간의 핵심 역량</a:t>
            </a:r>
            <a:endParaRPr lang="en-US" sz="27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057341D8-08B3-5F1F-2032-A682CF6D7107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EE135040-43D6-4863-DF7F-496FD0852086}"/>
              </a:ext>
            </a:extLst>
          </p:cNvPr>
          <p:cNvSpPr/>
          <p:nvPr/>
        </p:nvSpPr>
        <p:spPr>
          <a:xfrm>
            <a:off x="0" y="990600"/>
            <a:ext cx="1219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모두에게 </a:t>
            </a:r>
            <a:r>
              <a:rPr lang="en-US" altLang="ko-KR" sz="1800" b="1" dirty="0">
                <a:solidFill>
                  <a:srgbClr val="EC489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1800" b="1" dirty="0">
                <a:solidFill>
                  <a:srgbClr val="EC489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라는 능력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쥐어지면 결국 차이는 </a:t>
            </a:r>
            <a:r>
              <a:rPr lang="ko-KR" altLang="en-US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인간성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발생한다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457200" y="228600"/>
            <a:ext cx="68813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대체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sz="2700" b="1" dirty="0" err="1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탁월한</a:t>
            </a:r>
            <a:r>
              <a:rPr lang="en-US" sz="27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700" b="1" dirty="0">
                <a:solidFill>
                  <a:srgbClr val="00FFF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능력</a:t>
            </a:r>
            <a:endParaRPr lang="en-US" sz="27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5C0BB69D-84A8-0BA7-9B47-C72D6FCC5179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2025-10-09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A9880BF5-71B8-4C1E-BC3C-4E9891066872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시대의 개인과 기업의 성장 및 생존 전략</a:t>
            </a:r>
            <a:endParaRPr 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741C616B-5BCC-268B-56C9-A47064CCC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504" y="1739468"/>
            <a:ext cx="2053264" cy="673004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671DE2E4-96E0-F98B-00ED-B3A54E174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300" y="2750532"/>
            <a:ext cx="4114800" cy="673004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0E384607-37EC-87DB-809B-E38AAEB35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600" y="3775267"/>
            <a:ext cx="6184900" cy="673004"/>
          </a:xfrm>
          <a:prstGeom prst="rect">
            <a:avLst/>
          </a:prstGeom>
        </p:spPr>
      </p:pic>
      <p:sp>
        <p:nvSpPr>
          <p:cNvPr id="48" name="Text 2">
            <a:extLst>
              <a:ext uri="{FF2B5EF4-FFF2-40B4-BE49-F238E27FC236}">
                <a16:creationId xmlns:a16="http://schemas.microsoft.com/office/drawing/2014/main" id="{EC205D27-9A29-25DD-28D6-F7678E2F8F2E}"/>
              </a:ext>
            </a:extLst>
          </p:cNvPr>
          <p:cNvSpPr/>
          <p:nvPr/>
        </p:nvSpPr>
        <p:spPr>
          <a:xfrm>
            <a:off x="5710638" y="1815476"/>
            <a:ext cx="770723" cy="25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</a:t>
            </a:r>
            <a:r>
              <a:rPr lang="en-US" sz="1500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500" b="1" dirty="0" err="1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F251263D-24F9-AEAD-853F-4AED5C8C899D}"/>
              </a:ext>
            </a:extLst>
          </p:cNvPr>
          <p:cNvSpPr/>
          <p:nvPr/>
        </p:nvSpPr>
        <p:spPr>
          <a:xfrm>
            <a:off x="5168900" y="2120180"/>
            <a:ext cx="1924868" cy="29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 err="1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AI로</a:t>
            </a:r>
            <a:r>
              <a:rPr lang="en-US" sz="14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dirty="0" err="1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대체되</a:t>
            </a:r>
            <a:r>
              <a:rPr lang="ko-KR" altLang="en-US" sz="14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 어려운</a:t>
            </a:r>
            <a:r>
              <a:rPr lang="en-US" sz="14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E8291AE3-1ADE-3FFF-A413-2313FAF91EE2}"/>
              </a:ext>
            </a:extLst>
          </p:cNvPr>
          <p:cNvSpPr/>
          <p:nvPr/>
        </p:nvSpPr>
        <p:spPr>
          <a:xfrm>
            <a:off x="5689370" y="2807730"/>
            <a:ext cx="813260" cy="268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중간 </a:t>
            </a:r>
            <a:r>
              <a:rPr lang="en-US" sz="1600" b="1" dirty="0" err="1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</a:t>
            </a:r>
            <a:r>
              <a:rPr lang="en-US" sz="1600" b="1" dirty="0">
                <a:solidFill>
                  <a:srgbClr val="FACC1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9FFB21FE-F65A-7877-FEA0-1F36FBD3DC03}"/>
              </a:ext>
            </a:extLst>
          </p:cNvPr>
          <p:cNvSpPr/>
          <p:nvPr/>
        </p:nvSpPr>
        <p:spPr>
          <a:xfrm>
            <a:off x="4711700" y="3104238"/>
            <a:ext cx="2903538" cy="268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AI로 인한 부분적 대체가 </a:t>
            </a:r>
            <a:r>
              <a:rPr lang="en-US" sz="1450" dirty="0" err="1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일어나는</a:t>
            </a:r>
            <a:r>
              <a:rPr lang="en-US" sz="145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5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</a:t>
            </a:r>
            <a:endParaRPr lang="en-US" sz="14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FA2B179D-FA41-634E-9BB0-E1B6EC9A669B}"/>
              </a:ext>
            </a:extLst>
          </p:cNvPr>
          <p:cNvSpPr/>
          <p:nvPr/>
        </p:nvSpPr>
        <p:spPr>
          <a:xfrm>
            <a:off x="3612893" y="4005041"/>
            <a:ext cx="9657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 err="1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하위</a:t>
            </a:r>
            <a:r>
              <a:rPr lang="en-US" b="1" dirty="0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b="1" dirty="0" err="1">
                <a:solidFill>
                  <a:srgbClr val="F8717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534D1A9E-BB56-F1E5-8E3E-97C4B2E899D1}"/>
              </a:ext>
            </a:extLst>
          </p:cNvPr>
          <p:cNvSpPr/>
          <p:nvPr/>
        </p:nvSpPr>
        <p:spPr>
          <a:xfrm>
            <a:off x="5168900" y="4022966"/>
            <a:ext cx="35913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반복적이고 규칙이 </a:t>
            </a:r>
            <a:r>
              <a:rPr lang="en-US" sz="1500" dirty="0" err="1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명확한</a:t>
            </a:r>
            <a:r>
              <a:rPr lang="en-US" sz="15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</a:t>
            </a:r>
            <a:r>
              <a:rPr lang="en-US" sz="15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- </a:t>
            </a:r>
            <a:r>
              <a:rPr lang="en-US" sz="1500" dirty="0" err="1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AI로</a:t>
            </a:r>
            <a:r>
              <a:rPr lang="en-US" sz="15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완전 </a:t>
            </a:r>
            <a:r>
              <a:rPr lang="en-US" sz="1500" dirty="0" err="1">
                <a:solidFill>
                  <a:srgbClr val="E5E7E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대체</a:t>
            </a:r>
            <a:endParaRPr lang="en-US" sz="15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3" name="Image 13" descr="preencoded.png">
            <a:extLst>
              <a:ext uri="{FF2B5EF4-FFF2-40B4-BE49-F238E27FC236}">
                <a16:creationId xmlns:a16="http://schemas.microsoft.com/office/drawing/2014/main" id="{6A9568EF-3A10-3A57-92B6-0384E3D58B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40157"/>
            <a:ext cx="11049000" cy="1028700"/>
          </a:xfrm>
          <a:prstGeom prst="rect">
            <a:avLst/>
          </a:prstGeom>
        </p:spPr>
      </p:pic>
      <p:pic>
        <p:nvPicPr>
          <p:cNvPr id="124" name="Image 14" descr="preencoded.png">
            <a:extLst>
              <a:ext uri="{FF2B5EF4-FFF2-40B4-BE49-F238E27FC236}">
                <a16:creationId xmlns:a16="http://schemas.microsoft.com/office/drawing/2014/main" id="{E3975677-4461-376D-712E-680056C2D3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149707"/>
            <a:ext cx="609600" cy="609600"/>
          </a:xfrm>
          <a:prstGeom prst="rect">
            <a:avLst/>
          </a:prstGeom>
        </p:spPr>
      </p:pic>
      <p:pic>
        <p:nvPicPr>
          <p:cNvPr id="125" name="Image 15" descr="preencoded.png">
            <a:extLst>
              <a:ext uri="{FF2B5EF4-FFF2-40B4-BE49-F238E27FC236}">
                <a16:creationId xmlns:a16="http://schemas.microsoft.com/office/drawing/2014/main" id="{516ABBA2-ECCE-918B-A5E3-F88BDB3C5F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5" y="5283057"/>
            <a:ext cx="323850" cy="342900"/>
          </a:xfrm>
          <a:prstGeom prst="rect">
            <a:avLst/>
          </a:prstGeom>
        </p:spPr>
      </p:pic>
      <p:sp>
        <p:nvSpPr>
          <p:cNvPr id="126" name="Text 11">
            <a:extLst>
              <a:ext uri="{FF2B5EF4-FFF2-40B4-BE49-F238E27FC236}">
                <a16:creationId xmlns:a16="http://schemas.microsoft.com/office/drawing/2014/main" id="{9148EF60-84A9-7591-7FA1-3308E01DD33A}"/>
              </a:ext>
            </a:extLst>
          </p:cNvPr>
          <p:cNvSpPr/>
          <p:nvPr/>
        </p:nvSpPr>
        <p:spPr>
          <a:xfrm>
            <a:off x="1562100" y="5149707"/>
            <a:ext cx="9800646" cy="34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</a:t>
            </a:r>
            <a:r>
              <a:rPr lang="en-US" sz="1800" b="1" dirty="0" err="1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대부분의</a:t>
            </a: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b="1" dirty="0" err="1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직업에서</a:t>
            </a:r>
            <a:r>
              <a:rPr lang="ko-KR" alt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b="1" dirty="0" err="1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하위</a:t>
            </a:r>
            <a:r>
              <a:rPr lang="en-US" altLang="ko-KR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50%, </a:t>
            </a:r>
            <a:r>
              <a:rPr lang="en-US" altLang="ko-KR" b="1" dirty="0" err="1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나아가</a:t>
            </a:r>
            <a:r>
              <a:rPr lang="en-US" altLang="ko-KR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90%</a:t>
            </a:r>
            <a:r>
              <a:rPr lang="ko-KR" alt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이상의</a:t>
            </a:r>
            <a:r>
              <a:rPr lang="en-US" altLang="ko-KR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작업을</a:t>
            </a:r>
            <a:r>
              <a:rPr lang="en-US" altLang="ko-KR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대체할</a:t>
            </a:r>
            <a:r>
              <a:rPr lang="en-US" altLang="ko-KR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잠재력을</a:t>
            </a:r>
            <a:r>
              <a:rPr lang="en-US" altLang="ko-KR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지니고</a:t>
            </a:r>
            <a:r>
              <a:rPr lang="en-US" altLang="ko-KR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있습니다</a:t>
            </a:r>
            <a:r>
              <a:rPr lang="en-US" altLang="ko-KR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dirty="0"/>
          </a:p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129" name="Text 14">
            <a:extLst>
              <a:ext uri="{FF2B5EF4-FFF2-40B4-BE49-F238E27FC236}">
                <a16:creationId xmlns:a16="http://schemas.microsoft.com/office/drawing/2014/main" id="{269B4A55-F6F8-2721-61FF-9E6CD81CC775}"/>
              </a:ext>
            </a:extLst>
          </p:cNvPr>
          <p:cNvSpPr/>
          <p:nvPr/>
        </p:nvSpPr>
        <p:spPr>
          <a:xfrm>
            <a:off x="1514474" y="5540231"/>
            <a:ext cx="5686426" cy="28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ko-KR" altLang="en-US" b="1" dirty="0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변화는 누군가에겐 </a:t>
            </a:r>
            <a:r>
              <a:rPr lang="ko-KR" altLang="en-US" b="1" dirty="0">
                <a:solidFill>
                  <a:srgbClr val="FF99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축복</a:t>
            </a:r>
            <a:r>
              <a:rPr lang="ko-KR" altLang="en-US" b="1" dirty="0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</a:t>
            </a:r>
            <a:r>
              <a:rPr lang="en-US" altLang="ko-KR" b="1" dirty="0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b="1" dirty="0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누군가에겐 </a:t>
            </a:r>
            <a:r>
              <a:rPr lang="ko-KR" altLang="en-US" b="1" dirty="0">
                <a:solidFill>
                  <a:srgbClr val="FF99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재앙</a:t>
            </a:r>
            <a:r>
              <a:rPr lang="ko-KR" altLang="en-US" b="1" dirty="0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될 수 </a:t>
            </a:r>
            <a:r>
              <a:rPr lang="ko-KR" altLang="en-US" b="1" dirty="0" err="1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있습</a:t>
            </a:r>
            <a:r>
              <a:rPr lang="en-US" altLang="ko-KR" b="1" dirty="0" err="1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니다</a:t>
            </a:r>
            <a:r>
              <a:rPr lang="en-US" altLang="ko-KR" b="1" dirty="0">
                <a:solidFill>
                  <a:srgbClr val="FED7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dirty="0"/>
          </a:p>
        </p:txBody>
      </p:sp>
      <p:sp>
        <p:nvSpPr>
          <p:cNvPr id="130" name="Text 1">
            <a:extLst>
              <a:ext uri="{FF2B5EF4-FFF2-40B4-BE49-F238E27FC236}">
                <a16:creationId xmlns:a16="http://schemas.microsoft.com/office/drawing/2014/main" id="{3D1EA467-1936-2F16-5AAC-F66FD5A19CB0}"/>
              </a:ext>
            </a:extLst>
          </p:cNvPr>
          <p:cNvSpPr/>
          <p:nvPr/>
        </p:nvSpPr>
        <p:spPr>
          <a:xfrm>
            <a:off x="0" y="9906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</a:t>
            </a:r>
            <a:r>
              <a:rPr 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EC489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특정 직업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이나 직무가 아니라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특정 </a:t>
            </a:r>
            <a:r>
              <a:rPr lang="en-US" altLang="ko-KR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작업 단위</a:t>
            </a:r>
            <a:r>
              <a:rPr lang="en-US" altLang="ko-KR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ko-KR" alt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대체합니다</a:t>
            </a:r>
            <a:r>
              <a:rPr lang="en-US" altLang="ko-KR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7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848350"/>
            <a:ext cx="11125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517958"/>
            <a:ext cx="548640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17958"/>
            <a:ext cx="54864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632258"/>
            <a:ext cx="1524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651308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099108"/>
            <a:ext cx="54864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099108"/>
            <a:ext cx="54864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13408"/>
            <a:ext cx="17145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232458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432608"/>
            <a:ext cx="548640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4432608"/>
            <a:ext cx="54864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546908"/>
            <a:ext cx="17145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4565958"/>
            <a:ext cx="1714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1517958"/>
            <a:ext cx="5486400" cy="1428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1517958"/>
            <a:ext cx="54864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0" y="1632258"/>
            <a:ext cx="1143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6500" y="1651308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3099108"/>
            <a:ext cx="5486400" cy="1181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72200" y="3099108"/>
            <a:ext cx="54864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0" y="3213408"/>
            <a:ext cx="19050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86500" y="3232458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4432608"/>
            <a:ext cx="5486400" cy="1181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72200" y="4432608"/>
            <a:ext cx="54864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0" y="4546908"/>
            <a:ext cx="1905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86500" y="4565958"/>
            <a:ext cx="190500" cy="1524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1093202" y="984558"/>
            <a:ext cx="43667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Digital Transformation</a:t>
            </a:r>
            <a:endParaRPr lang="en-US" sz="2700" dirty="0"/>
          </a:p>
        </p:txBody>
      </p:sp>
      <p:sp>
        <p:nvSpPr>
          <p:cNvPr id="41" name="Text 2"/>
          <p:cNvSpPr/>
          <p:nvPr/>
        </p:nvSpPr>
        <p:spPr>
          <a:xfrm>
            <a:off x="7065511" y="984557"/>
            <a:ext cx="35209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Transformation</a:t>
            </a:r>
            <a:endParaRPr lang="en-US" sz="2700" dirty="0"/>
          </a:p>
        </p:txBody>
      </p:sp>
      <p:sp>
        <p:nvSpPr>
          <p:cNvPr id="43" name="Text 4"/>
          <p:cNvSpPr/>
          <p:nvPr/>
        </p:nvSpPr>
        <p:spPr>
          <a:xfrm>
            <a:off x="533400" y="5962650"/>
            <a:ext cx="10991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 err="1">
                <a:solidFill>
                  <a:srgbClr val="0EA5E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DX</a:t>
            </a:r>
            <a:r>
              <a:rPr lang="en-US" sz="14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</a:t>
            </a:r>
            <a:r>
              <a:rPr lang="en-US" sz="14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기술로</a:t>
            </a:r>
            <a:r>
              <a:rPr lang="en-US" sz="14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업무를 자동화하고 </a:t>
            </a:r>
            <a:r>
              <a:rPr lang="en-US" sz="1400" b="1" dirty="0" err="1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효율화하는</a:t>
            </a:r>
            <a:r>
              <a:rPr lang="en-US" sz="14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r>
              <a:rPr lang="en-US" sz="14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라면</a:t>
            </a:r>
            <a:r>
              <a:rPr lang="en-US" sz="14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 b="1" dirty="0" err="1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</a:t>
            </a:r>
            <a:r>
              <a:rPr lang="en-US" sz="14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</a:t>
            </a:r>
            <a:r>
              <a:rPr lang="en-US" sz="14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</a:t>
            </a:r>
            <a:r>
              <a:rPr lang="en-US" sz="14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통해 사고·의사결정·조직 구조 자체를 </a:t>
            </a:r>
            <a:r>
              <a:rPr lang="en-US" sz="1400" b="1" dirty="0" err="1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재구성하는</a:t>
            </a:r>
            <a:r>
              <a:rPr lang="en-US" sz="14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b="1" dirty="0" err="1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r>
              <a:rPr lang="en-US" sz="14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r>
              <a:rPr lang="en-US" sz="14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44" name="Text 5"/>
          <p:cNvSpPr/>
          <p:nvPr/>
        </p:nvSpPr>
        <p:spPr>
          <a:xfrm>
            <a:off x="914400" y="1632258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&amp; 기술</a:t>
            </a:r>
            <a:endParaRPr lang="en-US" sz="1400" dirty="0"/>
          </a:p>
        </p:txBody>
      </p:sp>
      <p:sp>
        <p:nvSpPr>
          <p:cNvPr id="45" name="Text 6"/>
          <p:cNvSpPr/>
          <p:nvPr/>
        </p:nvSpPr>
        <p:spPr>
          <a:xfrm>
            <a:off x="666750" y="2146608"/>
            <a:ext cx="5243396" cy="23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목적: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디지털화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기존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자동화, 효율성 향상</a:t>
            </a:r>
            <a:endParaRPr lang="en-US" sz="1200" dirty="0"/>
          </a:p>
        </p:txBody>
      </p:sp>
      <p:sp>
        <p:nvSpPr>
          <p:cNvPr id="46" name="Text 7"/>
          <p:cNvSpPr/>
          <p:nvPr/>
        </p:nvSpPr>
        <p:spPr>
          <a:xfrm>
            <a:off x="666750" y="2390546"/>
            <a:ext cx="5243396" cy="219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중심축: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클라우드, 모바일, 데이터, RPA</a:t>
            </a:r>
            <a:endParaRPr lang="en-US" sz="1200" dirty="0"/>
          </a:p>
        </p:txBody>
      </p:sp>
      <p:sp>
        <p:nvSpPr>
          <p:cNvPr id="47" name="Text 8"/>
          <p:cNvSpPr/>
          <p:nvPr/>
        </p:nvSpPr>
        <p:spPr>
          <a:xfrm>
            <a:off x="666750" y="2640512"/>
            <a:ext cx="5243396" cy="22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 초점: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업무의 디지털화 — 기존 프로세스를 기술로 대체</a:t>
            </a:r>
            <a:endParaRPr lang="en-US" sz="1200" dirty="0"/>
          </a:p>
        </p:txBody>
      </p:sp>
      <p:sp>
        <p:nvSpPr>
          <p:cNvPr id="48" name="Text 9"/>
          <p:cNvSpPr/>
          <p:nvPr/>
        </p:nvSpPr>
        <p:spPr>
          <a:xfrm>
            <a:off x="933450" y="3213408"/>
            <a:ext cx="1148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&amp; 리더십</a:t>
            </a:r>
            <a:endParaRPr lang="en-US" sz="1400" dirty="0"/>
          </a:p>
        </p:txBody>
      </p:sp>
      <p:sp>
        <p:nvSpPr>
          <p:cNvPr id="49" name="Text 10"/>
          <p:cNvSpPr/>
          <p:nvPr/>
        </p:nvSpPr>
        <p:spPr>
          <a:xfrm>
            <a:off x="666750" y="3681759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운영 방식: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시스템 중심, 절차 표준화</a:t>
            </a:r>
            <a:endParaRPr lang="en-US" sz="1200" dirty="0"/>
          </a:p>
        </p:txBody>
      </p:sp>
      <p:sp>
        <p:nvSpPr>
          <p:cNvPr id="50" name="Text 11"/>
          <p:cNvSpPr/>
          <p:nvPr/>
        </p:nvSpPr>
        <p:spPr>
          <a:xfrm>
            <a:off x="666750" y="3940560"/>
            <a:ext cx="5243396" cy="16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리더십 역할: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기술 도입과 실행 관리</a:t>
            </a:r>
            <a:endParaRPr lang="en-US" sz="1200" dirty="0"/>
          </a:p>
        </p:txBody>
      </p:sp>
      <p:sp>
        <p:nvSpPr>
          <p:cNvPr id="51" name="Text 12"/>
          <p:cNvSpPr/>
          <p:nvPr/>
        </p:nvSpPr>
        <p:spPr>
          <a:xfrm>
            <a:off x="933450" y="4546908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&amp; 역할</a:t>
            </a:r>
            <a:endParaRPr lang="en-US" sz="1400" dirty="0"/>
          </a:p>
        </p:txBody>
      </p:sp>
      <p:sp>
        <p:nvSpPr>
          <p:cNvPr id="52" name="Text 13"/>
          <p:cNvSpPr/>
          <p:nvPr/>
        </p:nvSpPr>
        <p:spPr>
          <a:xfrm>
            <a:off x="666750" y="5004108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기준: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속도, 비용, 효율</a:t>
            </a:r>
            <a:endParaRPr lang="en-US" sz="1200" dirty="0"/>
          </a:p>
        </p:txBody>
      </p:sp>
      <p:sp>
        <p:nvSpPr>
          <p:cNvPr id="53" name="Text 14"/>
          <p:cNvSpPr/>
          <p:nvPr/>
        </p:nvSpPr>
        <p:spPr>
          <a:xfrm>
            <a:off x="666750" y="5274060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7DD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역할 변화: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반복 작업에서 해방 →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관리자로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(How)</a:t>
            </a:r>
            <a:endParaRPr lang="en-US" sz="1200" dirty="0"/>
          </a:p>
        </p:txBody>
      </p:sp>
      <p:sp>
        <p:nvSpPr>
          <p:cNvPr id="54" name="Text 15"/>
          <p:cNvSpPr/>
          <p:nvPr/>
        </p:nvSpPr>
        <p:spPr>
          <a:xfrm>
            <a:off x="6515100" y="1632258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&amp; 기술</a:t>
            </a:r>
            <a:endParaRPr lang="en-US" sz="1400" dirty="0"/>
          </a:p>
        </p:txBody>
      </p:sp>
      <p:sp>
        <p:nvSpPr>
          <p:cNvPr id="55" name="Text 16"/>
          <p:cNvSpPr/>
          <p:nvPr/>
        </p:nvSpPr>
        <p:spPr>
          <a:xfrm>
            <a:off x="6305550" y="2168679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목적: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지능화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업무 방식 재설계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역량 증폭</a:t>
            </a:r>
            <a:endParaRPr lang="en-US" sz="1200" dirty="0"/>
          </a:p>
        </p:txBody>
      </p:sp>
      <p:sp>
        <p:nvSpPr>
          <p:cNvPr id="56" name="Text 17"/>
          <p:cNvSpPr/>
          <p:nvPr/>
        </p:nvSpPr>
        <p:spPr>
          <a:xfrm>
            <a:off x="6305550" y="2418186"/>
            <a:ext cx="521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중심축: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AI, LLM, 에이전트, Human In The Loop</a:t>
            </a:r>
            <a:endParaRPr lang="en-US" sz="1200" dirty="0"/>
          </a:p>
        </p:txBody>
      </p:sp>
      <p:sp>
        <p:nvSpPr>
          <p:cNvPr id="57" name="Text 18"/>
          <p:cNvSpPr/>
          <p:nvPr/>
        </p:nvSpPr>
        <p:spPr>
          <a:xfrm>
            <a:off x="6305550" y="2651433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 초점: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사고의 재구성 — 인간·AI 협업을 통한 일의 재정의</a:t>
            </a:r>
            <a:endParaRPr lang="en-US" sz="1200" dirty="0"/>
          </a:p>
        </p:txBody>
      </p:sp>
      <p:sp>
        <p:nvSpPr>
          <p:cNvPr id="58" name="Text 19"/>
          <p:cNvSpPr/>
          <p:nvPr/>
        </p:nvSpPr>
        <p:spPr>
          <a:xfrm>
            <a:off x="6591300" y="3213408"/>
            <a:ext cx="1148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&amp; 리더십</a:t>
            </a:r>
            <a:endParaRPr lang="en-US" sz="1400" dirty="0"/>
          </a:p>
        </p:txBody>
      </p:sp>
      <p:sp>
        <p:nvSpPr>
          <p:cNvPr id="59" name="Text 20"/>
          <p:cNvSpPr/>
          <p:nvPr/>
        </p:nvSpPr>
        <p:spPr>
          <a:xfrm>
            <a:off x="6305550" y="3692676"/>
            <a:ext cx="5353050" cy="21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운영 방식: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인간+AI 공동 의사결정, 유동적 팀 구조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6305550" y="3951711"/>
            <a:ext cx="5219700" cy="21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리더십 역할: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 혁신과 인재 관리</a:t>
            </a:r>
            <a:endParaRPr lang="en-US" sz="1200" dirty="0"/>
          </a:p>
        </p:txBody>
      </p:sp>
      <p:sp>
        <p:nvSpPr>
          <p:cNvPr id="61" name="Text 22"/>
          <p:cNvSpPr/>
          <p:nvPr/>
        </p:nvSpPr>
        <p:spPr>
          <a:xfrm>
            <a:off x="6591300" y="4546908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&amp; 역할</a:t>
            </a:r>
            <a:endParaRPr lang="en-US" sz="1400" dirty="0"/>
          </a:p>
        </p:txBody>
      </p:sp>
      <p:sp>
        <p:nvSpPr>
          <p:cNvPr id="62" name="Text 23"/>
          <p:cNvSpPr/>
          <p:nvPr/>
        </p:nvSpPr>
        <p:spPr>
          <a:xfrm>
            <a:off x="6305550" y="5004108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기준: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학습력,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조화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창의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 적응력</a:t>
            </a:r>
            <a:endParaRPr lang="en-US" sz="1200" dirty="0"/>
          </a:p>
        </p:txBody>
      </p:sp>
      <p:sp>
        <p:nvSpPr>
          <p:cNvPr id="63" name="Text 24"/>
          <p:cNvSpPr/>
          <p:nvPr/>
        </p:nvSpPr>
        <p:spPr>
          <a:xfrm>
            <a:off x="6305550" y="5274060"/>
            <a:ext cx="544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2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역할 변화: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자에서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창조자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전략가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(What &amp; Why)</a:t>
            </a:r>
            <a:endParaRPr lang="en-US" sz="1200" dirty="0"/>
          </a:p>
        </p:txBody>
      </p:sp>
      <p:sp>
        <p:nvSpPr>
          <p:cNvPr id="75" name="Text 0">
            <a:extLst>
              <a:ext uri="{FF2B5EF4-FFF2-40B4-BE49-F238E27FC236}">
                <a16:creationId xmlns:a16="http://schemas.microsoft.com/office/drawing/2014/main" id="{214F951B-DD24-ADBD-2F4C-09B4A5E95C3C}"/>
              </a:ext>
            </a:extLst>
          </p:cNvPr>
          <p:cNvSpPr/>
          <p:nvPr/>
        </p:nvSpPr>
        <p:spPr>
          <a:xfrm>
            <a:off x="457200" y="228600"/>
            <a:ext cx="68253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DX</a:t>
            </a:r>
            <a:r>
              <a:rPr lang="ko-KR" alt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에서 </a:t>
            </a:r>
            <a:r>
              <a:rPr lang="en-US" altLang="ko-KR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</a:t>
            </a:r>
            <a:r>
              <a:rPr lang="ko-KR" alt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</a:t>
            </a: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</a:t>
            </a:r>
            <a:r>
              <a:rPr lang="ko-KR" alt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패러다임의 전환</a:t>
            </a:r>
            <a:endParaRPr lang="en-US" sz="27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B2FF05E6-A02D-72EC-BEB0-0ADB5FA112F9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C9569DAA-344E-6A3C-9377-2A06E3D04B03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7200" y="228600"/>
            <a:ext cx="62411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AX(AI Transformation) 조직 설계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609600" y="990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기술을 단순히 도입하는 수준을 넘어, 조직의 구조와 운영 방식, 문화를 AI 시대에 맞춰 </a:t>
            </a:r>
            <a:r>
              <a:rPr lang="en-US" sz="18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근본적으로 변혁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해야 합니다.</a:t>
            </a:r>
            <a:endParaRPr lang="en-US" sz="1800" dirty="0"/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A4EC1CC2-18D9-D8A8-E79C-467D60D2CBD1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4" name="Text 17">
            <a:extLst>
              <a:ext uri="{FF2B5EF4-FFF2-40B4-BE49-F238E27FC236}">
                <a16:creationId xmlns:a16="http://schemas.microsoft.com/office/drawing/2014/main" id="{30758B16-0128-FF36-5046-DB4F03284DD4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pic>
        <p:nvPicPr>
          <p:cNvPr id="84" name="Image 12" descr="preencoded.png">
            <a:extLst>
              <a:ext uri="{FF2B5EF4-FFF2-40B4-BE49-F238E27FC236}">
                <a16:creationId xmlns:a16="http://schemas.microsoft.com/office/drawing/2014/main" id="{CE3551D0-B9EE-1C7E-56E1-319D59F54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790700"/>
            <a:ext cx="5448300" cy="1638300"/>
          </a:xfrm>
          <a:prstGeom prst="rect">
            <a:avLst/>
          </a:prstGeom>
        </p:spPr>
      </p:pic>
      <p:pic>
        <p:nvPicPr>
          <p:cNvPr id="85" name="Image 13" descr="preencoded.png">
            <a:extLst>
              <a:ext uri="{FF2B5EF4-FFF2-40B4-BE49-F238E27FC236}">
                <a16:creationId xmlns:a16="http://schemas.microsoft.com/office/drawing/2014/main" id="{374B9B7F-DB99-31F2-7568-68C204440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43100"/>
            <a:ext cx="457200" cy="457200"/>
          </a:xfrm>
          <a:prstGeom prst="rect">
            <a:avLst/>
          </a:prstGeom>
        </p:spPr>
      </p:pic>
      <p:pic>
        <p:nvPicPr>
          <p:cNvPr id="86" name="Image 14" descr="preencoded.png">
            <a:extLst>
              <a:ext uri="{FF2B5EF4-FFF2-40B4-BE49-F238E27FC236}">
                <a16:creationId xmlns:a16="http://schemas.microsoft.com/office/drawing/2014/main" id="{3B880047-F6F9-27D8-EAEF-F99ED2518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8" y="2019300"/>
            <a:ext cx="200025" cy="304800"/>
          </a:xfrm>
          <a:prstGeom prst="rect">
            <a:avLst/>
          </a:prstGeom>
        </p:spPr>
      </p:pic>
      <p:pic>
        <p:nvPicPr>
          <p:cNvPr id="87" name="Image 15" descr="preencoded.png">
            <a:extLst>
              <a:ext uri="{FF2B5EF4-FFF2-40B4-BE49-F238E27FC236}">
                <a16:creationId xmlns:a16="http://schemas.microsoft.com/office/drawing/2014/main" id="{34A7AC26-A719-CF1F-96B9-48ADD44F57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19500"/>
            <a:ext cx="5448300" cy="1447800"/>
          </a:xfrm>
          <a:prstGeom prst="rect">
            <a:avLst/>
          </a:prstGeom>
        </p:spPr>
      </p:pic>
      <p:pic>
        <p:nvPicPr>
          <p:cNvPr id="88" name="Image 16" descr="preencoded.png">
            <a:extLst>
              <a:ext uri="{FF2B5EF4-FFF2-40B4-BE49-F238E27FC236}">
                <a16:creationId xmlns:a16="http://schemas.microsoft.com/office/drawing/2014/main" id="{633032CC-3072-FF02-7D74-8E818113D6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71900"/>
            <a:ext cx="457200" cy="457200"/>
          </a:xfrm>
          <a:prstGeom prst="rect">
            <a:avLst/>
          </a:prstGeom>
        </p:spPr>
      </p:pic>
      <p:pic>
        <p:nvPicPr>
          <p:cNvPr id="89" name="Image 17" descr="preencoded.png">
            <a:extLst>
              <a:ext uri="{FF2B5EF4-FFF2-40B4-BE49-F238E27FC236}">
                <a16:creationId xmlns:a16="http://schemas.microsoft.com/office/drawing/2014/main" id="{3337235C-D2B0-9287-DCBF-8D601EB8A3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848100"/>
            <a:ext cx="228600" cy="304800"/>
          </a:xfrm>
          <a:prstGeom prst="rect">
            <a:avLst/>
          </a:prstGeom>
        </p:spPr>
      </p:pic>
      <p:pic>
        <p:nvPicPr>
          <p:cNvPr id="90" name="Image 18" descr="preencoded.png">
            <a:extLst>
              <a:ext uri="{FF2B5EF4-FFF2-40B4-BE49-F238E27FC236}">
                <a16:creationId xmlns:a16="http://schemas.microsoft.com/office/drawing/2014/main" id="{7B752528-B28C-99D4-2D90-C29139BDE1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790700"/>
            <a:ext cx="5448300" cy="1447800"/>
          </a:xfrm>
          <a:prstGeom prst="rect">
            <a:avLst/>
          </a:prstGeom>
        </p:spPr>
      </p:pic>
      <p:pic>
        <p:nvPicPr>
          <p:cNvPr id="91" name="Image 19" descr="preencoded.png">
            <a:extLst>
              <a:ext uri="{FF2B5EF4-FFF2-40B4-BE49-F238E27FC236}">
                <a16:creationId xmlns:a16="http://schemas.microsoft.com/office/drawing/2014/main" id="{B06814DE-DBA6-8305-E1CD-1372471725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700" y="1943100"/>
            <a:ext cx="457200" cy="457200"/>
          </a:xfrm>
          <a:prstGeom prst="rect">
            <a:avLst/>
          </a:prstGeom>
        </p:spPr>
      </p:pic>
      <p:pic>
        <p:nvPicPr>
          <p:cNvPr id="92" name="Image 20" descr="preencoded.png">
            <a:extLst>
              <a:ext uri="{FF2B5EF4-FFF2-40B4-BE49-F238E27FC236}">
                <a16:creationId xmlns:a16="http://schemas.microsoft.com/office/drawing/2014/main" id="{ADAEAF1E-41D8-5425-348A-EF5754D641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019300"/>
            <a:ext cx="228600" cy="304800"/>
          </a:xfrm>
          <a:prstGeom prst="rect">
            <a:avLst/>
          </a:prstGeom>
        </p:spPr>
      </p:pic>
      <p:pic>
        <p:nvPicPr>
          <p:cNvPr id="93" name="Image 21" descr="preencoded.png">
            <a:extLst>
              <a:ext uri="{FF2B5EF4-FFF2-40B4-BE49-F238E27FC236}">
                <a16:creationId xmlns:a16="http://schemas.microsoft.com/office/drawing/2014/main" id="{CB2639FF-D72F-1C9A-53AA-BB3C4C90B5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429000"/>
            <a:ext cx="5448300" cy="1638300"/>
          </a:xfrm>
          <a:prstGeom prst="rect">
            <a:avLst/>
          </a:prstGeom>
        </p:spPr>
      </p:pic>
      <p:pic>
        <p:nvPicPr>
          <p:cNvPr id="94" name="Image 22" descr="preencoded.png">
            <a:extLst>
              <a:ext uri="{FF2B5EF4-FFF2-40B4-BE49-F238E27FC236}">
                <a16:creationId xmlns:a16="http://schemas.microsoft.com/office/drawing/2014/main" id="{F791616D-CA1A-D7B9-2766-A58809B202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3581400"/>
            <a:ext cx="457200" cy="457200"/>
          </a:xfrm>
          <a:prstGeom prst="rect">
            <a:avLst/>
          </a:prstGeom>
        </p:spPr>
      </p:pic>
      <p:pic>
        <p:nvPicPr>
          <p:cNvPr id="95" name="Image 23" descr="preencoded.png">
            <a:extLst>
              <a:ext uri="{FF2B5EF4-FFF2-40B4-BE49-F238E27FC236}">
                <a16:creationId xmlns:a16="http://schemas.microsoft.com/office/drawing/2014/main" id="{0CC18441-A22E-C3D2-EAA2-B6C1441B520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657600"/>
            <a:ext cx="285750" cy="304800"/>
          </a:xfrm>
          <a:prstGeom prst="rect">
            <a:avLst/>
          </a:prstGeom>
        </p:spPr>
      </p:pic>
      <p:pic>
        <p:nvPicPr>
          <p:cNvPr id="96" name="Image 24" descr="preencoded.png">
            <a:extLst>
              <a:ext uri="{FF2B5EF4-FFF2-40B4-BE49-F238E27FC236}">
                <a16:creationId xmlns:a16="http://schemas.microsoft.com/office/drawing/2014/main" id="{B0F09A89-F991-51CB-C083-39C306E699E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5295900"/>
            <a:ext cx="11125200" cy="685800"/>
          </a:xfrm>
          <a:prstGeom prst="rect">
            <a:avLst/>
          </a:prstGeom>
        </p:spPr>
      </p:pic>
      <p:pic>
        <p:nvPicPr>
          <p:cNvPr id="97" name="Image 26" descr="preencoded.png">
            <a:extLst>
              <a:ext uri="{FF2B5EF4-FFF2-40B4-BE49-F238E27FC236}">
                <a16:creationId xmlns:a16="http://schemas.microsoft.com/office/drawing/2014/main" id="{229741DB-7B40-F500-8817-53EA380377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92100" y="5543550"/>
            <a:ext cx="114300" cy="152400"/>
          </a:xfrm>
          <a:prstGeom prst="rect">
            <a:avLst/>
          </a:prstGeom>
        </p:spPr>
      </p:pic>
      <p:sp>
        <p:nvSpPr>
          <p:cNvPr id="98" name="Text 6">
            <a:extLst>
              <a:ext uri="{FF2B5EF4-FFF2-40B4-BE49-F238E27FC236}">
                <a16:creationId xmlns:a16="http://schemas.microsoft.com/office/drawing/2014/main" id="{3B575B9F-089F-A129-F534-FD048F800DF2}"/>
              </a:ext>
            </a:extLst>
          </p:cNvPr>
          <p:cNvSpPr/>
          <p:nvPr/>
        </p:nvSpPr>
        <p:spPr>
          <a:xfrm>
            <a:off x="1295400" y="2038350"/>
            <a:ext cx="3010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사일로 파괴 (Breaking Silos)</a:t>
            </a:r>
            <a:endParaRPr lang="en-US" sz="1500" dirty="0"/>
          </a:p>
        </p:txBody>
      </p:sp>
      <p:sp>
        <p:nvSpPr>
          <p:cNvPr id="99" name="Text 7">
            <a:extLst>
              <a:ext uri="{FF2B5EF4-FFF2-40B4-BE49-F238E27FC236}">
                <a16:creationId xmlns:a16="http://schemas.microsoft.com/office/drawing/2014/main" id="{20CFB70D-27B8-FBE5-2008-C928707AE790}"/>
              </a:ext>
            </a:extLst>
          </p:cNvPr>
          <p:cNvSpPr/>
          <p:nvPr/>
        </p:nvSpPr>
        <p:spPr>
          <a:xfrm>
            <a:off x="1295400" y="2514600"/>
            <a:ext cx="4533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부서 간의 보이지 않는 벽이 허물어집니다. AI를 통해 데이터와 정보가 조직 전체에 원활하게 공유되면서, 여러 부서의 전문가들이 프로젝트 단위로 모여 즉흥 연주를 하듯 협업하는 </a:t>
            </a:r>
            <a:r>
              <a:rPr lang="en-US" sz="105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'재즈 세션(Jam Session)'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방식의 업무 문화가 확산될 것입니다.</a:t>
            </a:r>
            <a:endParaRPr lang="en-US" sz="1050" dirty="0"/>
          </a:p>
        </p:txBody>
      </p:sp>
      <p:sp>
        <p:nvSpPr>
          <p:cNvPr id="100" name="Text 8">
            <a:extLst>
              <a:ext uri="{FF2B5EF4-FFF2-40B4-BE49-F238E27FC236}">
                <a16:creationId xmlns:a16="http://schemas.microsoft.com/office/drawing/2014/main" id="{4472D64D-E9D4-6DFE-83EE-215C22A09F62}"/>
              </a:ext>
            </a:extLst>
          </p:cNvPr>
          <p:cNvSpPr/>
          <p:nvPr/>
        </p:nvSpPr>
        <p:spPr>
          <a:xfrm>
            <a:off x="1295400" y="3867150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 압축 (Flattening Hierarchies)</a:t>
            </a:r>
            <a:endParaRPr lang="en-US" sz="1500" dirty="0"/>
          </a:p>
        </p:txBody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67ADAF82-E398-277C-81C9-DD9E42C65E17}"/>
              </a:ext>
            </a:extLst>
          </p:cNvPr>
          <p:cNvSpPr/>
          <p:nvPr/>
        </p:nvSpPr>
        <p:spPr>
          <a:xfrm>
            <a:off x="1295400" y="4343400"/>
            <a:ext cx="453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조직의 수직적 계층 구조가 급격하게 압축됩니다. 임원이나 팀장이 AI를 활용해 직접 데이터를 분석하고 실무를 처리하는 것이 가능해지면서, </a:t>
            </a:r>
            <a:r>
              <a:rPr lang="en-US" sz="105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'모든 </a:t>
            </a:r>
            <a:r>
              <a:rPr lang="en-US" sz="1050" b="1" dirty="0" err="1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</a:t>
            </a:r>
            <a:r>
              <a:rPr lang="en-US" sz="105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b="1" dirty="0" err="1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</a:t>
            </a:r>
            <a:r>
              <a:rPr lang="ko-KR" altLang="en-US" sz="105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역할을 </a:t>
            </a:r>
            <a:r>
              <a:rPr lang="ko-KR" altLang="en-US" sz="1050" b="1" dirty="0" err="1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해야하는</a:t>
            </a:r>
            <a:r>
              <a:rPr lang="en-US" sz="105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시대가 오고 있습니다.</a:t>
            </a:r>
            <a:endParaRPr lang="en-US" sz="1050" dirty="0"/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6AAB2066-7587-5060-4DE4-705FAC5EF1C0}"/>
              </a:ext>
            </a:extLst>
          </p:cNvPr>
          <p:cNvSpPr/>
          <p:nvPr/>
        </p:nvSpPr>
        <p:spPr>
          <a:xfrm>
            <a:off x="6972300" y="2038350"/>
            <a:ext cx="24645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Learn-Unlearn-Relearn</a:t>
            </a:r>
            <a:endParaRPr lang="en-US" sz="1500" dirty="0"/>
          </a:p>
        </p:txBody>
      </p:sp>
      <p:sp>
        <p:nvSpPr>
          <p:cNvPr id="103" name="Text 11">
            <a:extLst>
              <a:ext uri="{FF2B5EF4-FFF2-40B4-BE49-F238E27FC236}">
                <a16:creationId xmlns:a16="http://schemas.microsoft.com/office/drawing/2014/main" id="{2920D31B-F082-6083-5584-6CE484D569FC}"/>
              </a:ext>
            </a:extLst>
          </p:cNvPr>
          <p:cNvSpPr/>
          <p:nvPr/>
        </p:nvSpPr>
        <p:spPr>
          <a:xfrm>
            <a:off x="6972300" y="2514600"/>
            <a:ext cx="453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기술과 지식을 끊임없이 </a:t>
            </a:r>
            <a:r>
              <a:rPr lang="en-US" sz="105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학습하고(Learn)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과거의 성공 방식과 고정관념을 과감히 </a:t>
            </a:r>
            <a:r>
              <a:rPr lang="en-US" sz="105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버리며(Unlearn)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새로운 환경에 맞춰 학습한 것을 </a:t>
            </a:r>
            <a:r>
              <a:rPr lang="en-US" sz="1050" b="1" dirty="0">
                <a:solidFill>
                  <a:srgbClr val="4AD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재해석하고 적용하는(Relearn)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3단계 사이클을 조직 문화로 정착시켜야 합니다.</a:t>
            </a:r>
            <a:endParaRPr lang="en-US" sz="1050" dirty="0"/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DC801E5B-19B6-518A-384D-CC9F18A6CFA4}"/>
              </a:ext>
            </a:extLst>
          </p:cNvPr>
          <p:cNvSpPr/>
          <p:nvPr/>
        </p:nvSpPr>
        <p:spPr>
          <a:xfrm>
            <a:off x="6972300" y="3676650"/>
            <a:ext cx="38856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휴먼 인 더 루프 (Human-in-the-Loop)</a:t>
            </a:r>
            <a:endParaRPr lang="en-US" sz="1500" dirty="0"/>
          </a:p>
        </p:txBody>
      </p:sp>
      <p:sp>
        <p:nvSpPr>
          <p:cNvPr id="105" name="Text 13">
            <a:extLst>
              <a:ext uri="{FF2B5EF4-FFF2-40B4-BE49-F238E27FC236}">
                <a16:creationId xmlns:a16="http://schemas.microsoft.com/office/drawing/2014/main" id="{62409420-C4DA-CA72-9045-C59208471A80}"/>
              </a:ext>
            </a:extLst>
          </p:cNvPr>
          <p:cNvSpPr/>
          <p:nvPr/>
        </p:nvSpPr>
        <p:spPr>
          <a:xfrm>
            <a:off x="6972300" y="4152900"/>
            <a:ext cx="4533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 대한 맹신이나 과소평가는 모두 경계해야 할 극단입니다. 성공적인 AX 조직은 AI를 만능 해결사가 아닌, </a:t>
            </a:r>
            <a:r>
              <a:rPr lang="en-US" sz="1050" b="1" dirty="0">
                <a:solidFill>
                  <a:srgbClr val="FACC1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인간의 역량을 증폭시키는 파트너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인식합니다. 인간의 전문성과 비판적 사고가 AI의 결과물을 검증하고, 창의적 피드백을 통해 최종 가치를 창출하는 문화를 구축해야 합니다.</a:t>
            </a:r>
            <a:endParaRPr lang="en-US" sz="1050" dirty="0"/>
          </a:p>
        </p:txBody>
      </p:sp>
      <p:sp>
        <p:nvSpPr>
          <p:cNvPr id="106" name="Text 14">
            <a:extLst>
              <a:ext uri="{FF2B5EF4-FFF2-40B4-BE49-F238E27FC236}">
                <a16:creationId xmlns:a16="http://schemas.microsoft.com/office/drawing/2014/main" id="{B4D29360-8919-E250-E1A4-7E03F6BEFCF6}"/>
              </a:ext>
            </a:extLst>
          </p:cNvPr>
          <p:cNvSpPr/>
          <p:nvPr/>
        </p:nvSpPr>
        <p:spPr>
          <a:xfrm>
            <a:off x="1996900" y="5524500"/>
            <a:ext cx="9145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AX 조직은 </a:t>
            </a:r>
            <a:r>
              <a:rPr lang="en-US" sz="1500" b="1" dirty="0">
                <a:solidFill>
                  <a:srgbClr val="D8B4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'기술 도입'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아닌 </a:t>
            </a:r>
            <a:r>
              <a:rPr lang="en-US" sz="15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'조직 설계'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시작됩니다. 기술은 수단일 뿐, 목적은 </a:t>
            </a:r>
            <a:r>
              <a:rPr lang="en-US" sz="1500" b="1" dirty="0" err="1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조직의</a:t>
            </a:r>
            <a:r>
              <a:rPr lang="en-US" sz="15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DNA</a:t>
            </a:r>
            <a:r>
              <a:rPr lang="ko-KR" altLang="en-US" sz="15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개선</a:t>
            </a:r>
            <a:r>
              <a:rPr lang="en-US" sz="15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09650"/>
            <a:ext cx="228600" cy="228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600200"/>
            <a:ext cx="952500" cy="114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25" y="188595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6450" y="1600200"/>
            <a:ext cx="952500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18859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850" y="1600200"/>
            <a:ext cx="95250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5225" y="188595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1600200"/>
            <a:ext cx="9525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18859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2225" y="3152247"/>
            <a:ext cx="257175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3090334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81400" y="3152247"/>
            <a:ext cx="257175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3770843"/>
            <a:ext cx="952500" cy="990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538" y="3947584"/>
            <a:ext cx="178594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6450" y="3770843"/>
            <a:ext cx="952500" cy="990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11" y="4134910"/>
            <a:ext cx="14287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71850" y="3770843"/>
            <a:ext cx="95250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5426" y="4168248"/>
            <a:ext cx="178594" cy="190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0" y="3770843"/>
            <a:ext cx="952500" cy="990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6385" y="4334935"/>
            <a:ext cx="142875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963795"/>
            <a:ext cx="5181600" cy="1219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135245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009650"/>
            <a:ext cx="228600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600200"/>
            <a:ext cx="5181600" cy="476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91563" y="1704975"/>
            <a:ext cx="2190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2171700"/>
            <a:ext cx="2331690" cy="4762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99871" y="2276475"/>
            <a:ext cx="152400" cy="2667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50710" y="2171700"/>
            <a:ext cx="2331690" cy="4762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9780" y="2276475"/>
            <a:ext cx="152400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2743200"/>
            <a:ext cx="1554361" cy="4762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39855" y="2867025"/>
            <a:ext cx="133350" cy="2286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14420" y="2743200"/>
            <a:ext cx="1554361" cy="4762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53475" y="2867025"/>
            <a:ext cx="133350" cy="2286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28039" y="2743200"/>
            <a:ext cx="1554361" cy="4762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67095" y="2867025"/>
            <a:ext cx="133350" cy="2286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3425" y="3529013"/>
            <a:ext cx="257175" cy="342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0" y="3467100"/>
            <a:ext cx="457200" cy="4572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2600" y="3529013"/>
            <a:ext cx="257175" cy="3429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4181474"/>
            <a:ext cx="5181600" cy="447675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23015" y="4280208"/>
            <a:ext cx="152400" cy="2667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37612" y="4299258"/>
            <a:ext cx="133350" cy="2286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43950" y="4299258"/>
            <a:ext cx="133350" cy="228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50288" y="4299258"/>
            <a:ext cx="133350" cy="2286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56627" y="4299258"/>
            <a:ext cx="133350" cy="2286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00800" y="5078305"/>
            <a:ext cx="5181600" cy="990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5249755"/>
            <a:ext cx="114300" cy="1524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457200" y="228600"/>
            <a:ext cx="6880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 변화: 사일로 파괴와 계층 압축</a:t>
            </a:r>
            <a:endParaRPr lang="en-US" sz="2700" dirty="0"/>
          </a:p>
        </p:txBody>
      </p:sp>
      <p:sp>
        <p:nvSpPr>
          <p:cNvPr id="53" name="Text 1"/>
          <p:cNvSpPr/>
          <p:nvPr/>
        </p:nvSpPr>
        <p:spPr>
          <a:xfrm>
            <a:off x="914400" y="990600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사일로 파괴 (Breaking Silos)</a:t>
            </a:r>
            <a:endParaRPr lang="en-US" sz="1800" dirty="0"/>
          </a:p>
        </p:txBody>
      </p:sp>
      <p:sp>
        <p:nvSpPr>
          <p:cNvPr id="54" name="Text 2"/>
          <p:cNvSpPr/>
          <p:nvPr/>
        </p:nvSpPr>
        <p:spPr>
          <a:xfrm>
            <a:off x="1057275" y="226695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</a:t>
            </a:r>
            <a:endParaRPr lang="en-US" sz="1050" dirty="0"/>
          </a:p>
        </p:txBody>
      </p:sp>
      <p:sp>
        <p:nvSpPr>
          <p:cNvPr id="55" name="Text 3"/>
          <p:cNvSpPr/>
          <p:nvPr/>
        </p:nvSpPr>
        <p:spPr>
          <a:xfrm>
            <a:off x="2419350" y="2266950"/>
            <a:ext cx="320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</a:t>
            </a:r>
            <a:endParaRPr lang="en-US" sz="1050" dirty="0"/>
          </a:p>
        </p:txBody>
      </p:sp>
      <p:sp>
        <p:nvSpPr>
          <p:cNvPr id="56" name="Text 4"/>
          <p:cNvSpPr/>
          <p:nvPr/>
        </p:nvSpPr>
        <p:spPr>
          <a:xfrm>
            <a:off x="3514725" y="226695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엔지니어링</a:t>
            </a:r>
            <a:endParaRPr lang="en-US" sz="1050" dirty="0"/>
          </a:p>
        </p:txBody>
      </p:sp>
      <p:sp>
        <p:nvSpPr>
          <p:cNvPr id="57" name="Text 5"/>
          <p:cNvSpPr/>
          <p:nvPr/>
        </p:nvSpPr>
        <p:spPr>
          <a:xfrm>
            <a:off x="4943475" y="226695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</a:t>
            </a:r>
            <a:endParaRPr lang="en-US" sz="1050" dirty="0"/>
          </a:p>
        </p:txBody>
      </p:sp>
      <p:sp>
        <p:nvSpPr>
          <p:cNvPr id="62" name="Text 10"/>
          <p:cNvSpPr/>
          <p:nvPr/>
        </p:nvSpPr>
        <p:spPr>
          <a:xfrm>
            <a:off x="972614" y="5116195"/>
            <a:ext cx="47042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통해 부서 간의 보이지 않는 벽이 허물어집니다.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데이터와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정보가 조직 전체에 </a:t>
            </a:r>
            <a:r>
              <a:rPr lang="en-US" sz="1200" dirty="0" err="1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원활하게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공유되</a:t>
            </a:r>
            <a:r>
              <a:rPr lang="ko-KR" alt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면서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여러 부서의 전문가들이 프로젝트 단위로 모여 즉흥 연주를 하듯 협업하는 </a:t>
            </a:r>
            <a:r>
              <a:rPr lang="en-US" sz="12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'재즈 세션(Jam Session)'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방식의 업무 문화가 확산됩니다.</a:t>
            </a:r>
            <a:endParaRPr lang="en-US" sz="1200" dirty="0"/>
          </a:p>
        </p:txBody>
      </p:sp>
      <p:sp>
        <p:nvSpPr>
          <p:cNvPr id="63" name="Text 11"/>
          <p:cNvSpPr/>
          <p:nvPr/>
        </p:nvSpPr>
        <p:spPr>
          <a:xfrm>
            <a:off x="6705600" y="990600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 압축 (From Flat to Fair)</a:t>
            </a:r>
            <a:endParaRPr lang="en-US" sz="1800" dirty="0"/>
          </a:p>
        </p:txBody>
      </p:sp>
      <p:sp>
        <p:nvSpPr>
          <p:cNvPr id="64" name="Text 12"/>
          <p:cNvSpPr/>
          <p:nvPr/>
        </p:nvSpPr>
        <p:spPr>
          <a:xfrm>
            <a:off x="8986838" y="172402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</a:t>
            </a:r>
            <a:endParaRPr lang="en-US" sz="1200" dirty="0"/>
          </a:p>
        </p:txBody>
      </p:sp>
      <p:sp>
        <p:nvSpPr>
          <p:cNvPr id="65" name="Text 13"/>
          <p:cNvSpPr/>
          <p:nvPr/>
        </p:nvSpPr>
        <p:spPr>
          <a:xfrm>
            <a:off x="7528471" y="229552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</a:t>
            </a:r>
            <a:endParaRPr lang="en-US" sz="1200" dirty="0"/>
          </a:p>
        </p:txBody>
      </p:sp>
      <p:sp>
        <p:nvSpPr>
          <p:cNvPr id="66" name="Text 14"/>
          <p:cNvSpPr/>
          <p:nvPr/>
        </p:nvSpPr>
        <p:spPr>
          <a:xfrm>
            <a:off x="10378380" y="229552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</a:t>
            </a:r>
            <a:endParaRPr lang="en-US" sz="1200" dirty="0"/>
          </a:p>
        </p:txBody>
      </p:sp>
      <p:sp>
        <p:nvSpPr>
          <p:cNvPr id="67" name="Text 15"/>
          <p:cNvSpPr/>
          <p:nvPr/>
        </p:nvSpPr>
        <p:spPr>
          <a:xfrm>
            <a:off x="7111305" y="286702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</a:t>
            </a:r>
            <a:endParaRPr lang="en-US" sz="1200" dirty="0"/>
          </a:p>
        </p:txBody>
      </p:sp>
      <p:sp>
        <p:nvSpPr>
          <p:cNvPr id="68" name="Text 16"/>
          <p:cNvSpPr/>
          <p:nvPr/>
        </p:nvSpPr>
        <p:spPr>
          <a:xfrm>
            <a:off x="8924925" y="286702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</a:t>
            </a:r>
            <a:endParaRPr lang="en-US" sz="1200" dirty="0"/>
          </a:p>
        </p:txBody>
      </p:sp>
      <p:sp>
        <p:nvSpPr>
          <p:cNvPr id="69" name="Text 17"/>
          <p:cNvSpPr/>
          <p:nvPr/>
        </p:nvSpPr>
        <p:spPr>
          <a:xfrm>
            <a:off x="10738545" y="286702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</a:t>
            </a:r>
            <a:endParaRPr lang="en-US" sz="1200" dirty="0"/>
          </a:p>
        </p:txBody>
      </p:sp>
      <p:sp>
        <p:nvSpPr>
          <p:cNvPr id="70" name="Text 18"/>
          <p:cNvSpPr/>
          <p:nvPr/>
        </p:nvSpPr>
        <p:spPr>
          <a:xfrm>
            <a:off x="7451614" y="4299258"/>
            <a:ext cx="4815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00FFF5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매니저</a:t>
            </a:r>
            <a:endParaRPr lang="en-US" sz="1200" dirty="0"/>
          </a:p>
        </p:txBody>
      </p:sp>
      <p:sp>
        <p:nvSpPr>
          <p:cNvPr id="71" name="Text 19"/>
          <p:cNvSpPr/>
          <p:nvPr/>
        </p:nvSpPr>
        <p:spPr>
          <a:xfrm>
            <a:off x="7921823" y="4299258"/>
            <a:ext cx="4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</a:t>
            </a:r>
            <a:endParaRPr lang="en-US" sz="1200" dirty="0"/>
          </a:p>
        </p:txBody>
      </p:sp>
      <p:sp>
        <p:nvSpPr>
          <p:cNvPr id="72" name="Text 20"/>
          <p:cNvSpPr/>
          <p:nvPr/>
        </p:nvSpPr>
        <p:spPr>
          <a:xfrm>
            <a:off x="8247162" y="42992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00FFF5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</a:t>
            </a:r>
            <a:endParaRPr lang="en-US" altLang="ko-KR" sz="1200" dirty="0"/>
          </a:p>
        </p:txBody>
      </p:sp>
      <p:sp>
        <p:nvSpPr>
          <p:cNvPr id="73" name="Text 21"/>
          <p:cNvSpPr/>
          <p:nvPr/>
        </p:nvSpPr>
        <p:spPr>
          <a:xfrm>
            <a:off x="8628162" y="4299258"/>
            <a:ext cx="4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</a:t>
            </a:r>
            <a:endParaRPr lang="en-US" sz="1200" dirty="0"/>
          </a:p>
        </p:txBody>
      </p:sp>
      <p:sp>
        <p:nvSpPr>
          <p:cNvPr id="74" name="Text 22"/>
          <p:cNvSpPr/>
          <p:nvPr/>
        </p:nvSpPr>
        <p:spPr>
          <a:xfrm>
            <a:off x="8953500" y="42992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00FFF5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</a:t>
            </a:r>
            <a:endParaRPr lang="en-US" altLang="ko-KR" sz="1200" dirty="0"/>
          </a:p>
        </p:txBody>
      </p:sp>
      <p:sp>
        <p:nvSpPr>
          <p:cNvPr id="75" name="Text 23"/>
          <p:cNvSpPr/>
          <p:nvPr/>
        </p:nvSpPr>
        <p:spPr>
          <a:xfrm>
            <a:off x="9334500" y="4299258"/>
            <a:ext cx="4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</a:t>
            </a:r>
            <a:endParaRPr lang="en-US" sz="1200" dirty="0"/>
          </a:p>
        </p:txBody>
      </p:sp>
      <p:sp>
        <p:nvSpPr>
          <p:cNvPr id="76" name="Text 24"/>
          <p:cNvSpPr/>
          <p:nvPr/>
        </p:nvSpPr>
        <p:spPr>
          <a:xfrm>
            <a:off x="9659838" y="42992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00FFF5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</a:t>
            </a:r>
            <a:endParaRPr lang="en-US" altLang="ko-KR" sz="1200" dirty="0"/>
          </a:p>
        </p:txBody>
      </p:sp>
      <p:sp>
        <p:nvSpPr>
          <p:cNvPr id="77" name="Text 25"/>
          <p:cNvSpPr/>
          <p:nvPr/>
        </p:nvSpPr>
        <p:spPr>
          <a:xfrm>
            <a:off x="10040838" y="4299258"/>
            <a:ext cx="475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</a:t>
            </a:r>
            <a:endParaRPr lang="en-US" sz="1200" dirty="0"/>
          </a:p>
        </p:txBody>
      </p:sp>
      <p:sp>
        <p:nvSpPr>
          <p:cNvPr id="78" name="Text 26"/>
          <p:cNvSpPr/>
          <p:nvPr/>
        </p:nvSpPr>
        <p:spPr>
          <a:xfrm>
            <a:off x="10366177" y="429925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>
                <a:solidFill>
                  <a:srgbClr val="00FFF5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</a:t>
            </a:r>
            <a:endParaRPr lang="en-US" altLang="ko-KR" sz="1200" dirty="0"/>
          </a:p>
        </p:txBody>
      </p:sp>
      <p:sp>
        <p:nvSpPr>
          <p:cNvPr id="79" name="Text 27"/>
          <p:cNvSpPr/>
          <p:nvPr/>
        </p:nvSpPr>
        <p:spPr>
          <a:xfrm>
            <a:off x="6774965" y="5230705"/>
            <a:ext cx="46931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조직의 수직적 계층 구조가 급격하게 압축됩니다.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이는 조직 구조가 </a:t>
            </a:r>
            <a:r>
              <a:rPr lang="ko-KR" altLang="en-US" sz="12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평평해지는 것이 아니라 공평해지는 것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200" dirty="0" err="1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ko-KR" altLang="en-US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통해 모두 고수준 작업이 가능해져 역량의 기회가 공평하게 분배됩니다</a:t>
            </a:r>
            <a:r>
              <a:rPr lang="en-US" altLang="ko-KR" sz="12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>
              <a:solidFill>
                <a:srgbClr val="CFFAFE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783C52DF-0A0F-31D0-7F0F-11E2A715C0DE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C8FBDB9C-1567-AF48-74E6-9205C3B3067D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pic>
        <p:nvPicPr>
          <p:cNvPr id="80" name="Image 14" descr="preencoded.png">
            <a:extLst>
              <a:ext uri="{FF2B5EF4-FFF2-40B4-BE49-F238E27FC236}">
                <a16:creationId xmlns:a16="http://schemas.microsoft.com/office/drawing/2014/main" id="{D1B45232-96C9-3628-289B-73A0D843B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405" y="3998386"/>
            <a:ext cx="178594" cy="190500"/>
          </a:xfrm>
          <a:prstGeom prst="rect">
            <a:avLst/>
          </a:prstGeom>
        </p:spPr>
      </p:pic>
      <p:pic>
        <p:nvPicPr>
          <p:cNvPr id="83" name="Image 17" descr="preencoded.png">
            <a:extLst>
              <a:ext uri="{FF2B5EF4-FFF2-40B4-BE49-F238E27FC236}">
                <a16:creationId xmlns:a16="http://schemas.microsoft.com/office/drawing/2014/main" id="{014C2424-7D28-2E24-52E6-4297CE7895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9078" y="4185712"/>
            <a:ext cx="142875" cy="190500"/>
          </a:xfrm>
          <a:prstGeom prst="rect">
            <a:avLst/>
          </a:prstGeom>
        </p:spPr>
      </p:pic>
      <p:pic>
        <p:nvPicPr>
          <p:cNvPr id="84" name="Image 20" descr="preencoded.png">
            <a:extLst>
              <a:ext uri="{FF2B5EF4-FFF2-40B4-BE49-F238E27FC236}">
                <a16:creationId xmlns:a16="http://schemas.microsoft.com/office/drawing/2014/main" id="{A87A4F85-8611-4BC7-35D1-FCE49654AE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9293" y="4219050"/>
            <a:ext cx="178594" cy="190500"/>
          </a:xfrm>
          <a:prstGeom prst="rect">
            <a:avLst/>
          </a:prstGeom>
        </p:spPr>
      </p:pic>
      <p:pic>
        <p:nvPicPr>
          <p:cNvPr id="85" name="Image 23" descr="preencoded.png">
            <a:extLst>
              <a:ext uri="{FF2B5EF4-FFF2-40B4-BE49-F238E27FC236}">
                <a16:creationId xmlns:a16="http://schemas.microsoft.com/office/drawing/2014/main" id="{C7A98F68-43A6-B1F4-30CB-36F8E60266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0252" y="4385737"/>
            <a:ext cx="142875" cy="190500"/>
          </a:xfrm>
          <a:prstGeom prst="rect">
            <a:avLst/>
          </a:prstGeom>
        </p:spPr>
      </p:pic>
      <p:pic>
        <p:nvPicPr>
          <p:cNvPr id="86" name="Image 14" descr="preencoded.png">
            <a:extLst>
              <a:ext uri="{FF2B5EF4-FFF2-40B4-BE49-F238E27FC236}">
                <a16:creationId xmlns:a16="http://schemas.microsoft.com/office/drawing/2014/main" id="{C46BF9F8-1BB3-73A7-7662-30722E69C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2274" y="3964517"/>
            <a:ext cx="178594" cy="190500"/>
          </a:xfrm>
          <a:prstGeom prst="rect">
            <a:avLst/>
          </a:prstGeom>
        </p:spPr>
      </p:pic>
      <p:pic>
        <p:nvPicPr>
          <p:cNvPr id="87" name="Image 17" descr="preencoded.png">
            <a:extLst>
              <a:ext uri="{FF2B5EF4-FFF2-40B4-BE49-F238E27FC236}">
                <a16:creationId xmlns:a16="http://schemas.microsoft.com/office/drawing/2014/main" id="{6254B822-C284-1ACD-66D9-F04EE5D507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2947" y="4151843"/>
            <a:ext cx="142875" cy="190500"/>
          </a:xfrm>
          <a:prstGeom prst="rect">
            <a:avLst/>
          </a:prstGeom>
        </p:spPr>
      </p:pic>
      <p:pic>
        <p:nvPicPr>
          <p:cNvPr id="88" name="Image 20" descr="preencoded.png">
            <a:extLst>
              <a:ext uri="{FF2B5EF4-FFF2-40B4-BE49-F238E27FC236}">
                <a16:creationId xmlns:a16="http://schemas.microsoft.com/office/drawing/2014/main" id="{F727695F-2607-7AEF-D5B2-D1D1B06868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3162" y="4185181"/>
            <a:ext cx="178594" cy="190500"/>
          </a:xfrm>
          <a:prstGeom prst="rect">
            <a:avLst/>
          </a:prstGeom>
        </p:spPr>
      </p:pic>
      <p:pic>
        <p:nvPicPr>
          <p:cNvPr id="89" name="Image 23" descr="preencoded.png">
            <a:extLst>
              <a:ext uri="{FF2B5EF4-FFF2-40B4-BE49-F238E27FC236}">
                <a16:creationId xmlns:a16="http://schemas.microsoft.com/office/drawing/2014/main" id="{E7E0FAF1-FD22-98E2-58FC-E4F45447D7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4121" y="4351868"/>
            <a:ext cx="142875" cy="190500"/>
          </a:xfrm>
          <a:prstGeom prst="rect">
            <a:avLst/>
          </a:prstGeom>
        </p:spPr>
      </p:pic>
      <p:pic>
        <p:nvPicPr>
          <p:cNvPr id="90" name="Image 14" descr="preencoded.png">
            <a:extLst>
              <a:ext uri="{FF2B5EF4-FFF2-40B4-BE49-F238E27FC236}">
                <a16:creationId xmlns:a16="http://schemas.microsoft.com/office/drawing/2014/main" id="{800BA21C-21F6-D8F4-AE4B-8461BEBD3E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2270" y="3964517"/>
            <a:ext cx="178594" cy="190500"/>
          </a:xfrm>
          <a:prstGeom prst="rect">
            <a:avLst/>
          </a:prstGeom>
        </p:spPr>
      </p:pic>
      <p:pic>
        <p:nvPicPr>
          <p:cNvPr id="91" name="Image 17" descr="preencoded.png">
            <a:extLst>
              <a:ext uri="{FF2B5EF4-FFF2-40B4-BE49-F238E27FC236}">
                <a16:creationId xmlns:a16="http://schemas.microsoft.com/office/drawing/2014/main" id="{C8E35F4D-C3B5-7140-C426-4657917373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943" y="4151843"/>
            <a:ext cx="142875" cy="190500"/>
          </a:xfrm>
          <a:prstGeom prst="rect">
            <a:avLst/>
          </a:prstGeom>
        </p:spPr>
      </p:pic>
      <p:pic>
        <p:nvPicPr>
          <p:cNvPr id="92" name="Image 20" descr="preencoded.png">
            <a:extLst>
              <a:ext uri="{FF2B5EF4-FFF2-40B4-BE49-F238E27FC236}">
                <a16:creationId xmlns:a16="http://schemas.microsoft.com/office/drawing/2014/main" id="{5835A55C-286D-8BD4-6B37-80895A84F9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3158" y="4185181"/>
            <a:ext cx="178594" cy="190500"/>
          </a:xfrm>
          <a:prstGeom prst="rect">
            <a:avLst/>
          </a:prstGeom>
        </p:spPr>
      </p:pic>
      <p:pic>
        <p:nvPicPr>
          <p:cNvPr id="93" name="Image 23" descr="preencoded.png">
            <a:extLst>
              <a:ext uri="{FF2B5EF4-FFF2-40B4-BE49-F238E27FC236}">
                <a16:creationId xmlns:a16="http://schemas.microsoft.com/office/drawing/2014/main" id="{8C0DF166-5824-8704-4C65-F847FEAC9A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4117" y="4351868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556058"/>
            <a:ext cx="1828800" cy="1828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738" y="1832283"/>
            <a:ext cx="390525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1575108"/>
            <a:ext cx="1828800" cy="1828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0" y="1556058"/>
            <a:ext cx="1828800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4550" y="1832283"/>
            <a:ext cx="34290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665963"/>
            <a:ext cx="3454301" cy="1371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75513"/>
            <a:ext cx="1714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8701" y="3665963"/>
            <a:ext cx="3454450" cy="1371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201" y="3875513"/>
            <a:ext cx="20002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3665963"/>
            <a:ext cx="3454301" cy="1371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450" y="3875513"/>
            <a:ext cx="285750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57200" y="228600"/>
            <a:ext cx="77965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문화의 혁신: </a:t>
            </a:r>
            <a:r>
              <a:rPr lang="en-US" sz="27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Learn-Unlearn-Relearn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609600" y="990600"/>
            <a:ext cx="1097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시대에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적응하려면</a:t>
            </a:r>
            <a:r>
              <a:rPr lang="ko-KR" alt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</a:t>
            </a:r>
            <a:r>
              <a:rPr lang="en-US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사이클을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문화로 </a:t>
            </a:r>
            <a:r>
              <a:rPr lang="en-US" sz="15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정착시켜야</a:t>
            </a: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합니다.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974652" y="2356158"/>
            <a:ext cx="7470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1600200" y="2737158"/>
            <a:ext cx="137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기술과 지식을 끊임없이 학습하고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5670352" y="2279958"/>
            <a:ext cx="10213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Unlearn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5410200" y="2660958"/>
            <a:ext cx="137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과거의 성공 방식과 고정관념을 과감히 버리며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9486602" y="2260908"/>
            <a:ext cx="10063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Relearn</a:t>
            </a:r>
            <a:endParaRPr lang="en-US" sz="1800" dirty="0"/>
          </a:p>
        </p:txBody>
      </p:sp>
      <p:sp>
        <p:nvSpPr>
          <p:cNvPr id="25" name="Text 7"/>
          <p:cNvSpPr/>
          <p:nvPr/>
        </p:nvSpPr>
        <p:spPr>
          <a:xfrm>
            <a:off x="9173705" y="2641908"/>
            <a:ext cx="148912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환경에 맞춰 학습한 것을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재해석하고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1085850" y="3875513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학습의 의지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800100" y="4275563"/>
            <a:ext cx="30733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기술을 포함한 새로운 지식을 지속적으로 탐색하고 습득할 준비가 되어야 합니다. </a:t>
            </a:r>
            <a:r>
              <a:rPr lang="ko-KR" alt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변화를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두려워하지 않고 새로운 것을 배우는 자세가 필요합니다.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4873526" y="3875513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고정관념 탈피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4559201" y="4275563"/>
            <a:ext cx="307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기존의 성공 방식에 너무 의존하지 않으며,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관점을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받아들이는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마인드셋이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필요합니다.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유연성</a:t>
            </a:r>
            <a:r>
              <a:rPr lang="ko-KR" alt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용기는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변화에 적응하는 데 필수적입니다.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8718500" y="3875513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응용의 재구성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8318450" y="4275563"/>
            <a:ext cx="307330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환경에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맞춰</a:t>
            </a:r>
            <a:r>
              <a:rPr lang="ko-KR" alt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학습한 것을 재해석하고 </a:t>
            </a:r>
            <a:r>
              <a:rPr lang="ko-KR" alt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적용합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니다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도입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후에도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방식대로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일하면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진정한 </a:t>
            </a:r>
            <a:r>
              <a:rPr lang="en-US" sz="105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가치를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얻지 못합니다</a:t>
            </a: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새로운 맥락에서의 창의적 응용이 필요합니다.</a:t>
            </a:r>
            <a:endParaRPr lang="en-US" sz="1050" dirty="0"/>
          </a:p>
        </p:txBody>
      </p:sp>
      <p:pic>
        <p:nvPicPr>
          <p:cNvPr id="35" name="Image 13" descr="preencoded.png">
            <a:extLst>
              <a:ext uri="{FF2B5EF4-FFF2-40B4-BE49-F238E27FC236}">
                <a16:creationId xmlns:a16="http://schemas.microsoft.com/office/drawing/2014/main" id="{EAD0EE1B-3E27-A100-5B23-FC0176708A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249440"/>
            <a:ext cx="10972800" cy="1077487"/>
          </a:xfrm>
          <a:prstGeom prst="rect">
            <a:avLst/>
          </a:prstGeom>
        </p:spPr>
      </p:pic>
      <p:pic>
        <p:nvPicPr>
          <p:cNvPr id="36" name="Image 14" descr="preencoded.png">
            <a:extLst>
              <a:ext uri="{FF2B5EF4-FFF2-40B4-BE49-F238E27FC236}">
                <a16:creationId xmlns:a16="http://schemas.microsoft.com/office/drawing/2014/main" id="{83787650-C30D-F539-35E0-0452363194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5601865"/>
            <a:ext cx="257175" cy="342900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63A0C57C-5D46-26F2-2815-FB9A3342D85D}"/>
              </a:ext>
            </a:extLst>
          </p:cNvPr>
          <p:cNvSpPr/>
          <p:nvPr/>
        </p:nvSpPr>
        <p:spPr>
          <a:xfrm>
            <a:off x="1323975" y="5401840"/>
            <a:ext cx="1002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지속가능한 성장의 투자</a:t>
            </a:r>
            <a:endParaRPr lang="en-US" sz="15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7A7ADE66-0F05-D8AD-B276-04725DF4EF1A}"/>
              </a:ext>
            </a:extLst>
          </p:cNvPr>
          <p:cNvSpPr/>
          <p:nvPr/>
        </p:nvSpPr>
        <p:spPr>
          <a:xfrm>
            <a:off x="1323975" y="5706640"/>
            <a:ext cx="10029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사이클을 개인과 조직의 일상적인 문화로 내재화해야 합니다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새로운 기술이 도입될 때마다 이 과정을 반복해야 하며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가장 중요한 것은 이 사이클을 조직의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DNA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만드는 것입니다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9" name="Image 8" descr="preencoded.png">
            <a:extLst>
              <a:ext uri="{FF2B5EF4-FFF2-40B4-BE49-F238E27FC236}">
                <a16:creationId xmlns:a16="http://schemas.microsoft.com/office/drawing/2014/main" id="{0849D7E1-489A-58C1-686E-26F5A3836FD6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prstClr val="black"/>
              <a:srgbClr val="66E8F9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5241"/>
                    </a14:imgEffect>
                    <a14:imgEffect>
                      <a14:saturation sat="56000"/>
                    </a14:imgEffect>
                    <a14:imgEffect>
                      <a14:brightnessContrast bright="49000" contrast="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8637" y="1700521"/>
            <a:ext cx="434578" cy="579437"/>
          </a:xfrm>
          <a:prstGeom prst="rect">
            <a:avLst/>
          </a:prstGeom>
          <a:noFill/>
        </p:spPr>
      </p:pic>
      <p:sp>
        <p:nvSpPr>
          <p:cNvPr id="6" name="Text 23">
            <a:extLst>
              <a:ext uri="{FF2B5EF4-FFF2-40B4-BE49-F238E27FC236}">
                <a16:creationId xmlns:a16="http://schemas.microsoft.com/office/drawing/2014/main" id="{E20A0E7B-A461-0C69-4AD1-955CE1B2F3C2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3115F01-AECC-A0B1-C3CD-A6C9DA68BE10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14097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943100"/>
            <a:ext cx="26670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0884" y="2105025"/>
            <a:ext cx="361950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2552700"/>
            <a:ext cx="1143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27813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00990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2875" y="2614613"/>
            <a:ext cx="666750" cy="28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0" y="1943100"/>
            <a:ext cx="26670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5634" y="2105025"/>
            <a:ext cx="3619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255270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278130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300990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2375" y="2614613"/>
            <a:ext cx="666750" cy="285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1943100"/>
            <a:ext cx="2667000" cy="1371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07984" y="2105025"/>
            <a:ext cx="285750" cy="2857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255270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278130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4400" y="3009900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" y="3619500"/>
            <a:ext cx="3276600" cy="1371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000" y="3771900"/>
            <a:ext cx="3048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9200" y="38671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7700" y="3619500"/>
            <a:ext cx="3276600" cy="1371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0100" y="3771900"/>
            <a:ext cx="3429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6300" y="386715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24800" y="3619500"/>
            <a:ext cx="3276600" cy="1371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7200" y="3771900"/>
            <a:ext cx="3429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3400" y="386715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0600" y="5219700"/>
            <a:ext cx="10210800" cy="1371600"/>
          </a:xfrm>
          <a:prstGeom prst="rect">
            <a:avLst/>
          </a:prstGeom>
        </p:spPr>
      </p:pic>
      <p:sp>
        <p:nvSpPr>
          <p:cNvPr id="43" name="Text 1"/>
          <p:cNvSpPr/>
          <p:nvPr/>
        </p:nvSpPr>
        <p:spPr>
          <a:xfrm>
            <a:off x="1314450" y="990600"/>
            <a:ext cx="957932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</a:t>
            </a:r>
            <a:r>
              <a:rPr lang="en-US" sz="15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편향</a:t>
            </a:r>
            <a:r>
              <a:rPr lang="en-US" sz="15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줄이고 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</a:t>
            </a:r>
            <a:r>
              <a:rPr lang="en-US" sz="15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높이며 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윤리적 가치</a:t>
            </a:r>
            <a:r>
              <a:rPr lang="en-US" sz="15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보존하는</a:t>
            </a:r>
            <a:r>
              <a:rPr lang="en-US" sz="225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인간과 AI의 협력적 의사결정 프로세스</a:t>
            </a:r>
            <a:endParaRPr lang="en-US" sz="1500" dirty="0"/>
          </a:p>
        </p:txBody>
      </p:sp>
      <p:sp>
        <p:nvSpPr>
          <p:cNvPr id="44" name="Text 2"/>
          <p:cNvSpPr/>
          <p:nvPr/>
        </p:nvSpPr>
        <p:spPr>
          <a:xfrm>
            <a:off x="2307134" y="2133600"/>
            <a:ext cx="97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입력</a:t>
            </a:r>
            <a:endParaRPr lang="en-US" sz="1500" dirty="0"/>
          </a:p>
        </p:txBody>
      </p:sp>
      <p:sp>
        <p:nvSpPr>
          <p:cNvPr id="45" name="Text 3"/>
          <p:cNvSpPr/>
          <p:nvPr/>
        </p:nvSpPr>
        <p:spPr>
          <a:xfrm>
            <a:off x="1485900" y="2514600"/>
            <a:ext cx="1893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크레이션 및 클린징</a:t>
            </a:r>
            <a:endParaRPr lang="en-US" sz="1050" dirty="0"/>
          </a:p>
        </p:txBody>
      </p:sp>
      <p:sp>
        <p:nvSpPr>
          <p:cNvPr id="46" name="Text 4"/>
          <p:cNvSpPr/>
          <p:nvPr/>
        </p:nvSpPr>
        <p:spPr>
          <a:xfrm>
            <a:off x="1485900" y="2743200"/>
            <a:ext cx="16180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설정 및 정책 정의</a:t>
            </a:r>
            <a:endParaRPr lang="en-US" sz="1050" dirty="0"/>
          </a:p>
        </p:txBody>
      </p:sp>
      <p:sp>
        <p:nvSpPr>
          <p:cNvPr id="47" name="Text 5"/>
          <p:cNvSpPr/>
          <p:nvPr/>
        </p:nvSpPr>
        <p:spPr>
          <a:xfrm>
            <a:off x="1485900" y="2971800"/>
            <a:ext cx="16180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문맥 해석 및 직관 적용</a:t>
            </a:r>
            <a:endParaRPr lang="en-US" sz="1050" dirty="0"/>
          </a:p>
        </p:txBody>
      </p:sp>
      <p:sp>
        <p:nvSpPr>
          <p:cNvPr id="48" name="Text 6"/>
          <p:cNvSpPr/>
          <p:nvPr/>
        </p:nvSpPr>
        <p:spPr>
          <a:xfrm>
            <a:off x="6021884" y="2133600"/>
            <a:ext cx="749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처리</a:t>
            </a:r>
            <a:endParaRPr lang="en-US" sz="1500" dirty="0"/>
          </a:p>
        </p:txBody>
      </p:sp>
      <p:sp>
        <p:nvSpPr>
          <p:cNvPr id="49" name="Text 7"/>
          <p:cNvSpPr/>
          <p:nvPr/>
        </p:nvSpPr>
        <p:spPr>
          <a:xfrm>
            <a:off x="5105400" y="2514600"/>
            <a:ext cx="17780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및 패턴 추출</a:t>
            </a:r>
            <a:endParaRPr lang="en-US" sz="1050" dirty="0"/>
          </a:p>
        </p:txBody>
      </p:sp>
      <p:sp>
        <p:nvSpPr>
          <p:cNvPr id="50" name="Text 8"/>
          <p:cNvSpPr/>
          <p:nvPr/>
        </p:nvSpPr>
        <p:spPr>
          <a:xfrm>
            <a:off x="5105400" y="2743200"/>
            <a:ext cx="16180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기반 예측 및 제안</a:t>
            </a:r>
            <a:endParaRPr lang="en-US" sz="1050" dirty="0"/>
          </a:p>
        </p:txBody>
      </p:sp>
      <p:sp>
        <p:nvSpPr>
          <p:cNvPr id="51" name="Text 9"/>
          <p:cNvSpPr/>
          <p:nvPr/>
        </p:nvSpPr>
        <p:spPr>
          <a:xfrm>
            <a:off x="5105400" y="2971800"/>
            <a:ext cx="1573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및 확장성 구현</a:t>
            </a:r>
            <a:endParaRPr lang="en-US" sz="1050" dirty="0"/>
          </a:p>
        </p:txBody>
      </p:sp>
      <p:sp>
        <p:nvSpPr>
          <p:cNvPr id="52" name="Text 10"/>
          <p:cNvSpPr/>
          <p:nvPr/>
        </p:nvSpPr>
        <p:spPr>
          <a:xfrm>
            <a:off x="9508034" y="2133600"/>
            <a:ext cx="97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검토</a:t>
            </a:r>
            <a:endParaRPr lang="en-US" sz="1500" dirty="0"/>
          </a:p>
        </p:txBody>
      </p:sp>
      <p:sp>
        <p:nvSpPr>
          <p:cNvPr id="53" name="Text 11"/>
          <p:cNvSpPr/>
          <p:nvPr/>
        </p:nvSpPr>
        <p:spPr>
          <a:xfrm>
            <a:off x="8724900" y="2514600"/>
            <a:ext cx="14492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결과 검증 및 수정</a:t>
            </a:r>
            <a:endParaRPr lang="en-US" sz="1050" dirty="0"/>
          </a:p>
        </p:txBody>
      </p:sp>
      <p:sp>
        <p:nvSpPr>
          <p:cNvPr id="54" name="Text 12"/>
          <p:cNvSpPr/>
          <p:nvPr/>
        </p:nvSpPr>
        <p:spPr>
          <a:xfrm>
            <a:off x="8724900" y="2743200"/>
            <a:ext cx="1733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윤리적 판단 및 예외처리</a:t>
            </a:r>
            <a:endParaRPr lang="en-US" sz="1050" dirty="0"/>
          </a:p>
        </p:txBody>
      </p:sp>
      <p:sp>
        <p:nvSpPr>
          <p:cNvPr id="55" name="Text 13"/>
          <p:cNvSpPr/>
          <p:nvPr/>
        </p:nvSpPr>
        <p:spPr>
          <a:xfrm>
            <a:off x="8724900" y="2971800"/>
            <a:ext cx="1733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성능 피드백 제공</a:t>
            </a:r>
            <a:endParaRPr lang="en-US" sz="1050" dirty="0"/>
          </a:p>
        </p:txBody>
      </p:sp>
      <p:sp>
        <p:nvSpPr>
          <p:cNvPr id="56" name="Text 14"/>
          <p:cNvSpPr/>
          <p:nvPr/>
        </p:nvSpPr>
        <p:spPr>
          <a:xfrm>
            <a:off x="1562100" y="3829050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 증대</a:t>
            </a:r>
            <a:endParaRPr lang="en-US" sz="1350" dirty="0"/>
          </a:p>
        </p:txBody>
      </p:sp>
      <p:sp>
        <p:nvSpPr>
          <p:cNvPr id="57" name="Text 15"/>
          <p:cNvSpPr/>
          <p:nvPr/>
        </p:nvSpPr>
        <p:spPr>
          <a:xfrm>
            <a:off x="1143000" y="426720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리스크와 오류 감소로 사용자 신뢰 확보. 투명하고 설명 가능한 AI를 통한 더 강력한 의사결정.</a:t>
            </a:r>
            <a:endParaRPr lang="en-US" sz="1050" dirty="0"/>
          </a:p>
        </p:txBody>
      </p:sp>
      <p:sp>
        <p:nvSpPr>
          <p:cNvPr id="58" name="Text 16"/>
          <p:cNvSpPr/>
          <p:nvPr/>
        </p:nvSpPr>
        <p:spPr>
          <a:xfrm>
            <a:off x="5067300" y="382905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개선</a:t>
            </a:r>
            <a:endParaRPr lang="en-US" sz="1350" dirty="0"/>
          </a:p>
        </p:txBody>
      </p:sp>
      <p:sp>
        <p:nvSpPr>
          <p:cNvPr id="59" name="Text 17"/>
          <p:cNvSpPr/>
          <p:nvPr/>
        </p:nvSpPr>
        <p:spPr>
          <a:xfrm>
            <a:off x="4610100" y="4267200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 피드백을 통해 지속적으로 학습하고 성능을 개선하는 시스템 구축. 원활한 자기개선 및 학습 순환.</a:t>
            </a:r>
            <a:endParaRPr lang="en-US" sz="1050" dirty="0"/>
          </a:p>
        </p:txBody>
      </p:sp>
      <p:sp>
        <p:nvSpPr>
          <p:cNvPr id="60" name="Text 18"/>
          <p:cNvSpPr/>
          <p:nvPr/>
        </p:nvSpPr>
        <p:spPr>
          <a:xfrm>
            <a:off x="8534400" y="3829050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고도한 의사결정</a:t>
            </a:r>
            <a:endParaRPr lang="en-US" sz="1350" dirty="0"/>
          </a:p>
        </p:txBody>
      </p:sp>
      <p:sp>
        <p:nvSpPr>
          <p:cNvPr id="61" name="Text 19"/>
          <p:cNvSpPr/>
          <p:nvPr/>
        </p:nvSpPr>
        <p:spPr>
          <a:xfrm>
            <a:off x="8077200" y="426720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인간의 감성적 지능과 AI의 분석적 능력을 결합한 더 균형있고 정확한 의사결정 프로세스 제공.</a:t>
            </a:r>
            <a:endParaRPr lang="en-US" sz="1050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1FC0976E-00B1-17A3-5932-DE9605A306CC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BBC41E0E-84EE-05A0-AF6D-BE13B19D3D18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  <p:sp>
        <p:nvSpPr>
          <p:cNvPr id="72" name="Text 0">
            <a:extLst>
              <a:ext uri="{FF2B5EF4-FFF2-40B4-BE49-F238E27FC236}">
                <a16:creationId xmlns:a16="http://schemas.microsoft.com/office/drawing/2014/main" id="{CC9DCDBF-0828-82C9-8F6C-BDD6D56118FF}"/>
              </a:ext>
            </a:extLst>
          </p:cNvPr>
          <p:cNvSpPr/>
          <p:nvPr/>
        </p:nvSpPr>
        <p:spPr>
          <a:xfrm>
            <a:off x="457200" y="228600"/>
            <a:ext cx="3520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in the Loop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75" y="1790700"/>
            <a:ext cx="40005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357438"/>
            <a:ext cx="48768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5050" y="1790700"/>
            <a:ext cx="5715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303762"/>
            <a:ext cx="3454301" cy="2095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41887"/>
            <a:ext cx="3619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8701" y="3303762"/>
            <a:ext cx="3454450" cy="2095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301" y="3541887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3303762"/>
            <a:ext cx="3454301" cy="2095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6550" y="3541887"/>
            <a:ext cx="361950" cy="2857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228600"/>
            <a:ext cx="35206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리더십의 역할 변화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0" y="1143000"/>
            <a:ext cx="1219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리더는 지시와 통제를 넘어, 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구성원의 </a:t>
            </a:r>
            <a:r>
              <a:rPr lang="en-US" altLang="ko-KR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활용과 창의적 문제 해결을 돕는 </a:t>
            </a:r>
            <a:r>
              <a:rPr lang="ko-KR" altLang="en-US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조력자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</a:t>
            </a:r>
            <a:r>
              <a:rPr lang="ko-KR" alt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실무적 전문가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진화해야 합니다.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1638300" y="242887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지시자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1412200" y="2771775"/>
            <a:ext cx="1137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통제, 계획, 예측</a:t>
            </a:r>
            <a:endParaRPr lang="en-US" sz="1050" dirty="0"/>
          </a:p>
        </p:txBody>
      </p:sp>
      <p:sp>
        <p:nvSpPr>
          <p:cNvPr id="16" name="Text 4"/>
          <p:cNvSpPr/>
          <p:nvPr/>
        </p:nvSpPr>
        <p:spPr>
          <a:xfrm>
            <a:off x="9867900" y="2428875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조력자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9641800" y="2771775"/>
            <a:ext cx="1137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협력, 토론, </a:t>
            </a:r>
            <a:r>
              <a:rPr lang="ko-KR" altLang="en-US" sz="105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동기부여</a:t>
            </a:r>
            <a:endParaRPr lang="en-US" sz="1050" dirty="0"/>
          </a:p>
        </p:txBody>
      </p:sp>
      <p:sp>
        <p:nvSpPr>
          <p:cNvPr id="18" name="Text 6"/>
          <p:cNvSpPr/>
          <p:nvPr/>
        </p:nvSpPr>
        <p:spPr>
          <a:xfrm>
            <a:off x="1352550" y="3570462"/>
            <a:ext cx="19305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조력자(Facilitator)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838200" y="4027662"/>
            <a:ext cx="299710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조직이 수평화되고 구성원 개개인이 AI라는 강력한 파트너를 갖게 되면서, 리더의 역할은 구성원들이 AI를 효과적으로 활용하고 창의적인 문제 해결에 몰입하도록 판을 깔아주는 '조력자'로 전환되어야 합니다.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5035451" y="3570462"/>
            <a:ext cx="16637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시행착오의 안전망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4597301" y="4027662"/>
            <a:ext cx="29972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구성원들이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실패를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두려워하지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다양한 시도를 할 수 있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도록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깊은 심리적 안정감을 조성해야 합니다. 이는 구성원들이 자신의 약점을 드러낼 수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’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시도하고 실패할 수 있는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용기'를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장려하는 리더십을 통해 가능합니다.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8870900" y="3570462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실무적 전문가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8356550" y="4027662"/>
            <a:ext cx="299710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리더는 더 이상 관리만 하는 역할이 아니라, AI 리터러시를 갖추고 직접 실무적인 업무를 수행할 수 있는 역량을 함께 갖추어야 합니다. 실무적 문제 해결 능력과 함께 AI 활용 능력을 갖춘 리더가 조직의 성공을 이끌 것입니다.</a:t>
            </a:r>
            <a:endParaRPr lang="en-US" sz="1200" dirty="0"/>
          </a:p>
        </p:txBody>
      </p:sp>
      <p:pic>
        <p:nvPicPr>
          <p:cNvPr id="30" name="Image 10" descr="preencoded.png">
            <a:extLst>
              <a:ext uri="{FF2B5EF4-FFF2-40B4-BE49-F238E27FC236}">
                <a16:creationId xmlns:a16="http://schemas.microsoft.com/office/drawing/2014/main" id="{3E59A002-DA03-2D04-682B-BDA027A460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641127"/>
            <a:ext cx="10972800" cy="533400"/>
          </a:xfrm>
          <a:prstGeom prst="rect">
            <a:avLst/>
          </a:prstGeom>
        </p:spPr>
      </p:pic>
      <p:pic>
        <p:nvPicPr>
          <p:cNvPr id="31" name="Image 11" descr="preencoded.png">
            <a:extLst>
              <a:ext uri="{FF2B5EF4-FFF2-40B4-BE49-F238E27FC236}">
                <a16:creationId xmlns:a16="http://schemas.microsoft.com/office/drawing/2014/main" id="{7339A06E-1FFA-12FC-48BE-0DEC3DCD8B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812577"/>
            <a:ext cx="142875" cy="152400"/>
          </a:xfrm>
          <a:prstGeom prst="rect">
            <a:avLst/>
          </a:prstGeom>
        </p:spPr>
      </p:pic>
      <p:pic>
        <p:nvPicPr>
          <p:cNvPr id="32" name="Image 12" descr="preencoded.png">
            <a:extLst>
              <a:ext uri="{FF2B5EF4-FFF2-40B4-BE49-F238E27FC236}">
                <a16:creationId xmlns:a16="http://schemas.microsoft.com/office/drawing/2014/main" id="{2915F3EC-ADE0-3939-EABA-39CBB58867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0702" y="5812577"/>
            <a:ext cx="142875" cy="152400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605A6435-8AE9-148B-73D4-A47082000C19}"/>
              </a:ext>
            </a:extLst>
          </p:cNvPr>
          <p:cNvSpPr/>
          <p:nvPr/>
        </p:nvSpPr>
        <p:spPr>
          <a:xfrm>
            <a:off x="981075" y="5793527"/>
            <a:ext cx="5966135" cy="27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리더는 구성원에게 동기부여와 영감을 통해 잠재력을 </a:t>
            </a:r>
            <a:r>
              <a:rPr lang="ko-KR" alt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폭발시키는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코치이자 가드레일이 </a:t>
            </a:r>
            <a:r>
              <a:rPr lang="ko-KR" alt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되어야합니다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A2EE156-3410-A93F-7C04-CDA490BA20E1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F6367E3D-8CE4-3709-E225-EF314321823B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34586"/>
            <a:ext cx="5334000" cy="1943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63186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1996536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634586"/>
            <a:ext cx="5334000" cy="1943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863186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925" y="1996536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882486"/>
            <a:ext cx="5334000" cy="1943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111086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175" y="4244436"/>
            <a:ext cx="2476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3882486"/>
            <a:ext cx="5334000" cy="1943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111086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0825" y="4244436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879486"/>
            <a:ext cx="109728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5996576"/>
            <a:ext cx="17145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28600"/>
            <a:ext cx="68808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발굴: 용기와 호기심을 가진 인재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-2" y="990600"/>
            <a:ext cx="121920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학벌을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넘어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EC489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실력과 용기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AI 협업 잠재력을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갖춘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4ADE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능동적 인재</a:t>
            </a:r>
            <a:r>
              <a:rPr lang="ko-KR" altLang="en-US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발굴해야 합니다.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600200" y="1863186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학벌주의의 종말, 실력주의의 부상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600200" y="220608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기존의 학력이나 배경 같은 과거 지표는 더 이상 미래의 성과를 보장하지 않습니다. 실제 문제 해결 능력, 프로젝트 경험, 그리고 자기주도적 학습 능력을 검증할 수 있는 </a:t>
            </a: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실력 중심의 인재 발굴(Meritocracy)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필요합니다.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7239000" y="1863186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능동적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발굴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7239000" y="2206086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기존의 채용 공고에 의존하는 수동적 방식으로는 최고의 인재를 확보하기 어렵습니다. 링크드인과 같은 플랫폼을 통해 현업에서 뛰어난 성과를 내고 있지만 적극적으로 이직을 고려하지 않는 </a:t>
            </a: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수동적 후보자(Passive Candidate)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HR이 직접 탐색하고 영입하는 적극적인 전략이 필수적입니다.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1600200" y="4111086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역량을 넘어 용기로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600200" y="4453986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것이 자동화되고 예측 불가능성이 높아지는 시대에, 기술적 역량만큼이나 중요한 것은 불확실성 속에서 새로운 것을 시도하려는 </a:t>
            </a: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용기(Courage</a:t>
            </a:r>
            <a:r>
              <a:rPr lang="ko-KR" alt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ko-KR" altLang="en-US" sz="1200" dirty="0" err="1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주도성</a:t>
            </a:r>
            <a:r>
              <a:rPr lang="en-US" altLang="ko-KR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(Agency</a:t>
            </a: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정해진 길을 따르는 인재가 아니라, 스스로 새로운 것을 만들려는 용기를 가진 인재를 식별하고 영입하는 것이 미래 경쟁력의 핵심이 될 것입니다.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7239000" y="4111086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협업 잠재력 검증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239000" y="4453986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채용의 가장 중요한 과제 중 하나는 지원자의 </a:t>
            </a: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AI와의 협업 능력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평가하는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것입니다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면접 과정에서 AI와 협업하여 문제를 해결한 경험, AI의 답변을 비판적으로 검토하고 개선한 경험 등을 질문하여 검증할 수 있습니다.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1047750" y="6031886"/>
            <a:ext cx="1038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팔란티어(Palantir)가 명문대 합격생을 대학 입학 전에 채용하는 방식으로, 제도권 교육의 틀을 넘어서는 과감한 실력 중심의 인재 발굴을 실천하고 있습니다.</a:t>
            </a:r>
            <a:endParaRPr lang="en-US" sz="12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B0F3F6F2-5309-350F-513F-FEFB5F70EA78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3C3524FB-D25D-0875-7252-5219EFBF7A64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00125"/>
            <a:ext cx="342900" cy="342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100" y="253365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00" y="253365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3588" y="2533650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1972" y="2286000"/>
            <a:ext cx="1832372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286000"/>
            <a:ext cx="1832372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7656" y="2286000"/>
            <a:ext cx="1832372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200400"/>
            <a:ext cx="3505200" cy="2400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400425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3924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44577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49911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3400" y="3200400"/>
            <a:ext cx="3505200" cy="2400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3900" y="3400425"/>
            <a:ext cx="285750" cy="285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39243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4229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10100" y="4555067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200400"/>
            <a:ext cx="3505200" cy="2400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7700" y="3400425"/>
            <a:ext cx="361950" cy="2857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0" y="39243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0" y="42291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3900" y="45339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24100" y="5839885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3125" y="5839885"/>
            <a:ext cx="28575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53588" y="5839885"/>
            <a:ext cx="200025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41972" y="6049435"/>
            <a:ext cx="1832372" cy="381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6049435"/>
            <a:ext cx="1832372" cy="381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17656" y="6049435"/>
            <a:ext cx="1832372" cy="381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228600"/>
            <a:ext cx="53163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 육성: </a:t>
            </a:r>
            <a:r>
              <a:rPr lang="en-US" sz="27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'경험의 공백' 해소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1104900" y="1028700"/>
            <a:ext cx="34529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인한 '경험의 공백' 문제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1143000" y="1524000"/>
            <a:ext cx="1043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단순 반복 업무와 초급 수준의 과제를 자동화하면서, 신입 사원들이 실무를 통해 배우는 '경험 습득 기회 상실' 문제가 발생하고 있습니다. 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이는</a:t>
            </a:r>
            <a:r>
              <a:rPr lang="en-US" sz="13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조직의 미래 리더십 파이프라인 중심에 놓인 시한폭탄입니다.</a:t>
            </a:r>
            <a:endParaRPr lang="en-US" sz="1300" dirty="0"/>
          </a:p>
        </p:txBody>
      </p:sp>
      <p:sp>
        <p:nvSpPr>
          <p:cNvPr id="34" name="Text 3"/>
          <p:cNvSpPr/>
          <p:nvPr/>
        </p:nvSpPr>
        <p:spPr>
          <a:xfrm>
            <a:off x="2047116" y="28956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인력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5704716" y="28956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업무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9270876" y="2895600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주니어 인력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1200150" y="3429000"/>
            <a:ext cx="24765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의도적인 성장 기회 설계</a:t>
            </a:r>
            <a:endParaRPr lang="en-US" sz="1500" dirty="0"/>
          </a:p>
        </p:txBody>
      </p:sp>
      <p:sp>
        <p:nvSpPr>
          <p:cNvPr id="38" name="Text 7"/>
          <p:cNvSpPr/>
          <p:nvPr/>
        </p:nvSpPr>
        <p:spPr>
          <a:xfrm>
            <a:off x="1104900" y="38862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샌드박스: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안전한 실패가 보장되는 환경에서 신기술 실험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1104900" y="44196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멘토링 프로그램: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시니어와 주니어의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지속적인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통해 경험이 흐름으로 전파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1104900" y="49530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의도적 프로젝트: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주니어에게 책임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ko-KR" alt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</a:t>
            </a: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</a:t>
            </a:r>
            <a:r>
              <a:rPr lang="ko-KR" alt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겨 압축적인 성장을 지원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4933950" y="3429000"/>
            <a:ext cx="1727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재교육 투자 모델</a:t>
            </a:r>
            <a:endParaRPr lang="en-US" sz="1500" dirty="0"/>
          </a:p>
        </p:txBody>
      </p:sp>
      <p:sp>
        <p:nvSpPr>
          <p:cNvPr id="42" name="Text 11"/>
          <p:cNvSpPr/>
          <p:nvPr/>
        </p:nvSpPr>
        <p:spPr>
          <a:xfrm>
            <a:off x="4838700" y="3886200"/>
            <a:ext cx="276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 향상분에 재교육 투자 집중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4838700" y="41910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가능한 'Learn-Unlearn-Relearn' 사이클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4838700" y="4516967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도입으로 확보된 비용을 재교육에 재투자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8743950" y="3429000"/>
            <a:ext cx="2413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AI와 토론하는 마인드셋</a:t>
            </a:r>
            <a:endParaRPr lang="en-US" sz="1500" dirty="0"/>
          </a:p>
        </p:txBody>
      </p:sp>
      <p:sp>
        <p:nvSpPr>
          <p:cNvPr id="46" name="Text 15"/>
          <p:cNvSpPr/>
          <p:nvPr/>
        </p:nvSpPr>
        <p:spPr>
          <a:xfrm>
            <a:off x="8572500" y="3886200"/>
            <a:ext cx="3302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파트너로 인식하는 사고방식 내재화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8572500" y="4191000"/>
            <a:ext cx="3230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깊이 있는 대화와 토론을 통한 문제 해결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8572500" y="4495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비판적 사고로 AI 결과물 검증 능력 기르기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2047116" y="6201835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인력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5592916" y="6201835"/>
            <a:ext cx="1006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학습</a:t>
            </a:r>
            <a:endParaRPr lang="en-US" sz="1200" dirty="0"/>
          </a:p>
        </p:txBody>
      </p:sp>
      <p:sp>
        <p:nvSpPr>
          <p:cNvPr id="51" name="Text 20"/>
          <p:cNvSpPr/>
          <p:nvPr/>
        </p:nvSpPr>
        <p:spPr>
          <a:xfrm>
            <a:off x="9270876" y="6201835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주니어 인력</a:t>
            </a:r>
            <a:endParaRPr lang="en-US" sz="120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16704F5A-0763-F230-F4DF-A114C25A8E05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400D70E2-CB98-237D-DEF7-AA3CE298462F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246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66800"/>
            <a:ext cx="3505200" cy="2765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30492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247900"/>
            <a:ext cx="3048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3622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43200"/>
            <a:ext cx="3048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857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238500"/>
            <a:ext cx="3048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352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066800"/>
            <a:ext cx="3505200" cy="276514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1304925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2247900"/>
            <a:ext cx="3048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00" y="23622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2743200"/>
            <a:ext cx="3048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00" y="2857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3238500"/>
            <a:ext cx="3048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00" y="3352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066800"/>
            <a:ext cx="3505200" cy="276514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800" y="1304925"/>
            <a:ext cx="361950" cy="2857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2247900"/>
            <a:ext cx="3048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23622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2743200"/>
            <a:ext cx="3048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2857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3238500"/>
            <a:ext cx="3048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33528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648200"/>
            <a:ext cx="10972800" cy="95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07805" y="4289144"/>
            <a:ext cx="428625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72484" y="4593944"/>
            <a:ext cx="76200" cy="76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72484" y="4627282"/>
            <a:ext cx="609600" cy="9525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9784" y="4289144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10709" y="4327244"/>
            <a:ext cx="20955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8884" y="4627282"/>
            <a:ext cx="609600" cy="9525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8884" y="4593944"/>
            <a:ext cx="76200" cy="76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17768" y="4289144"/>
            <a:ext cx="342900" cy="3810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457200" y="228600"/>
            <a:ext cx="4572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</a:t>
            </a:r>
            <a:r>
              <a:rPr lang="en-US" sz="27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역량</a:t>
            </a: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재정의</a:t>
            </a:r>
            <a:endParaRPr lang="en-US" sz="2700" dirty="0"/>
          </a:p>
        </p:txBody>
      </p:sp>
      <p:sp>
        <p:nvSpPr>
          <p:cNvPr id="37" name="Text 1"/>
          <p:cNvSpPr/>
          <p:nvPr/>
        </p:nvSpPr>
        <p:spPr>
          <a:xfrm>
            <a:off x="1238250" y="1314450"/>
            <a:ext cx="1447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역량</a:t>
            </a:r>
            <a:endParaRPr lang="en-US" sz="1800" dirty="0"/>
          </a:p>
        </p:txBody>
      </p:sp>
      <p:sp>
        <p:nvSpPr>
          <p:cNvPr id="38" name="Text 2"/>
          <p:cNvSpPr/>
          <p:nvPr/>
        </p:nvSpPr>
        <p:spPr>
          <a:xfrm>
            <a:off x="838200" y="1790700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활용할 줄 아는 기술적 토대</a:t>
            </a:r>
            <a:endParaRPr lang="en-US" sz="1350" dirty="0"/>
          </a:p>
        </p:txBody>
      </p:sp>
      <p:sp>
        <p:nvSpPr>
          <p:cNvPr id="39" name="Text 3"/>
          <p:cNvSpPr/>
          <p:nvPr/>
        </p:nvSpPr>
        <p:spPr>
          <a:xfrm>
            <a:off x="1143000" y="2324100"/>
            <a:ext cx="16562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이해 및 활용 능력</a:t>
            </a:r>
            <a:endParaRPr lang="en-US" sz="1200" dirty="0"/>
          </a:p>
        </p:txBody>
      </p:sp>
      <p:sp>
        <p:nvSpPr>
          <p:cNvPr id="40" name="Text 4"/>
          <p:cNvSpPr/>
          <p:nvPr/>
        </p:nvSpPr>
        <p:spPr>
          <a:xfrm>
            <a:off x="1143000" y="2819400"/>
            <a:ext cx="1348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Literacy</a:t>
            </a:r>
            <a:endParaRPr lang="en-US" sz="1200" dirty="0"/>
          </a:p>
        </p:txBody>
      </p:sp>
      <p:sp>
        <p:nvSpPr>
          <p:cNvPr id="41" name="Text 5"/>
          <p:cNvSpPr/>
          <p:nvPr/>
        </p:nvSpPr>
        <p:spPr>
          <a:xfrm>
            <a:off x="1143000" y="3314700"/>
            <a:ext cx="1077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Fluency</a:t>
            </a:r>
            <a:endParaRPr lang="en-US" sz="1200" dirty="0"/>
          </a:p>
        </p:txBody>
      </p:sp>
      <p:sp>
        <p:nvSpPr>
          <p:cNvPr id="42" name="Text 6"/>
          <p:cNvSpPr/>
          <p:nvPr/>
        </p:nvSpPr>
        <p:spPr>
          <a:xfrm>
            <a:off x="4972050" y="1314450"/>
            <a:ext cx="1447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인지적 역량</a:t>
            </a:r>
            <a:endParaRPr lang="en-US" sz="1800" dirty="0"/>
          </a:p>
        </p:txBody>
      </p:sp>
      <p:sp>
        <p:nvSpPr>
          <p:cNvPr id="43" name="Text 7"/>
          <p:cNvSpPr/>
          <p:nvPr/>
        </p:nvSpPr>
        <p:spPr>
          <a:xfrm>
            <a:off x="4572000" y="179070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못하는 사유의 깊이</a:t>
            </a:r>
            <a:endParaRPr lang="en-US" sz="1350" dirty="0"/>
          </a:p>
        </p:txBody>
      </p:sp>
      <p:sp>
        <p:nvSpPr>
          <p:cNvPr id="44" name="Text 8"/>
          <p:cNvSpPr/>
          <p:nvPr/>
        </p:nvSpPr>
        <p:spPr>
          <a:xfrm>
            <a:off x="4876800" y="2324100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비판적 사고</a:t>
            </a:r>
            <a:endParaRPr lang="en-US" sz="1200" dirty="0"/>
          </a:p>
        </p:txBody>
      </p:sp>
      <p:sp>
        <p:nvSpPr>
          <p:cNvPr id="45" name="Text 9"/>
          <p:cNvSpPr/>
          <p:nvPr/>
        </p:nvSpPr>
        <p:spPr>
          <a:xfrm>
            <a:off x="4876800" y="2819399"/>
            <a:ext cx="1405384" cy="26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창의적 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endParaRPr lang="en-US" sz="1200" dirty="0"/>
          </a:p>
        </p:txBody>
      </p:sp>
      <p:sp>
        <p:nvSpPr>
          <p:cNvPr id="46" name="Text 10"/>
          <p:cNvSpPr/>
          <p:nvPr/>
        </p:nvSpPr>
        <p:spPr>
          <a:xfrm>
            <a:off x="4876800" y="3314700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메타인지 능력</a:t>
            </a:r>
            <a:endParaRPr lang="en-US" sz="1200" dirty="0"/>
          </a:p>
        </p:txBody>
      </p:sp>
      <p:sp>
        <p:nvSpPr>
          <p:cNvPr id="47" name="Text 11"/>
          <p:cNvSpPr/>
          <p:nvPr/>
        </p:nvSpPr>
        <p:spPr>
          <a:xfrm>
            <a:off x="8782050" y="1314450"/>
            <a:ext cx="1447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사회적 역량</a:t>
            </a:r>
            <a:endParaRPr lang="en-US" sz="1800" dirty="0"/>
          </a:p>
        </p:txBody>
      </p:sp>
      <p:sp>
        <p:nvSpPr>
          <p:cNvPr id="48" name="Text 12"/>
          <p:cNvSpPr/>
          <p:nvPr/>
        </p:nvSpPr>
        <p:spPr>
          <a:xfrm>
            <a:off x="8305800" y="179070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r>
              <a:rPr lang="ko-KR" altLang="en-US" sz="135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시대에는 </a:t>
            </a:r>
            <a:r>
              <a:rPr lang="en-US" sz="1350" dirty="0" err="1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인간적인</a:t>
            </a:r>
            <a:r>
              <a:rPr lang="en-US" sz="135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능력이 차별화의 핵심</a:t>
            </a:r>
            <a:endParaRPr lang="en-US" sz="1350" dirty="0"/>
          </a:p>
        </p:txBody>
      </p:sp>
      <p:sp>
        <p:nvSpPr>
          <p:cNvPr id="49" name="Text 13"/>
          <p:cNvSpPr/>
          <p:nvPr/>
        </p:nvSpPr>
        <p:spPr>
          <a:xfrm>
            <a:off x="8610600" y="2324100"/>
            <a:ext cx="1747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커뮤니케이션 및 협업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8610600" y="2819400"/>
            <a:ext cx="1381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리더십 및 영향력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8610600" y="3314700"/>
            <a:ext cx="1494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윤리적</a:t>
            </a:r>
            <a:r>
              <a:rPr 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및 책임감</a:t>
            </a:r>
            <a:endParaRPr lang="en-US" sz="1200" dirty="0"/>
          </a:p>
        </p:txBody>
      </p:sp>
      <p:sp>
        <p:nvSpPr>
          <p:cNvPr id="52" name="Text 16"/>
          <p:cNvSpPr/>
          <p:nvPr/>
        </p:nvSpPr>
        <p:spPr>
          <a:xfrm>
            <a:off x="609600" y="5114925"/>
            <a:ext cx="10972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경쟁력은 </a:t>
            </a:r>
            <a:r>
              <a:rPr lang="en-US" sz="18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</a:t>
            </a: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아니라,기술을 </a:t>
            </a:r>
            <a:r>
              <a:rPr lang="en-US" sz="1800" b="1" dirty="0">
                <a:solidFill>
                  <a:srgbClr val="00FF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이해하고 협력하며 활용하는 인간의 힘</a:t>
            </a: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</a:t>
            </a:r>
            <a:endParaRPr lang="en-US" sz="1800" dirty="0"/>
          </a:p>
        </p:txBody>
      </p:sp>
      <p:sp>
        <p:nvSpPr>
          <p:cNvPr id="53" name="Text 17"/>
          <p:cNvSpPr/>
          <p:nvPr/>
        </p:nvSpPr>
        <p:spPr>
          <a:xfrm>
            <a:off x="4027438" y="4746344"/>
            <a:ext cx="5893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능력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5741164" y="47082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시너지</a:t>
            </a:r>
            <a:endParaRPr lang="en-US" sz="1200" dirty="0"/>
          </a:p>
        </p:txBody>
      </p:sp>
      <p:sp>
        <p:nvSpPr>
          <p:cNvPr id="55" name="Text 19"/>
          <p:cNvSpPr/>
          <p:nvPr/>
        </p:nvSpPr>
        <p:spPr>
          <a:xfrm>
            <a:off x="7398082" y="4746344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역량</a:t>
            </a:r>
            <a:endParaRPr lang="en-US" sz="12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410A37D6-21B5-F43C-2BB0-29A57BED3702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C36403AD-3A22-1802-38D9-68EBBA103538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66800"/>
            <a:ext cx="10972800" cy="1428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625" y="1066800"/>
            <a:ext cx="1428750" cy="1428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8" y="1485900"/>
            <a:ext cx="428625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24300"/>
            <a:ext cx="3454301" cy="1981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875" y="4162425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8701" y="3924300"/>
            <a:ext cx="3454450" cy="1981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2026" y="4162425"/>
            <a:ext cx="2476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3924300"/>
            <a:ext cx="3454301" cy="1981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4126" y="4162425"/>
            <a:ext cx="361950" cy="2857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228600"/>
            <a:ext cx="65281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조직만의 '신의 한 수'를 찾아서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1828800" y="2800350"/>
            <a:ext cx="853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진정한 경쟁력은 기술을 인간의 창의성과 잠재력을 극대화하는 지렛대로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활용하여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b="1" dirty="0" err="1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불가능한 </a:t>
            </a:r>
            <a:r>
              <a:rPr lang="en-US" sz="225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"제78수"</a:t>
            </a:r>
            <a:r>
              <a:rPr lang="en-US" sz="1800" b="1" dirty="0">
                <a:solidFill>
                  <a:srgbClr val="A5F3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만들어내는 데 있습니다.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1929259" y="4648200"/>
            <a:ext cx="9779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한계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838200" y="4991100"/>
            <a:ext cx="2997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데이터 기반으로 최적의 답을 찾지만, 인간의 직관과 통찰력은 전혀 다른 차원의 해답을 제공합니다.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5497860" y="4648200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불가능성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4597301" y="4991100"/>
            <a:ext cx="299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2016년 알파고와의 대국에서 이세돌 9단의 '신의 한 수'는 인공지능이 예측하지 못한 창의성의 빛을 발했습니다.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9352359" y="4648200"/>
            <a:ext cx="12065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인재의 역할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8356550" y="4991100"/>
            <a:ext cx="299710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HR 전략의 궁극적인 목표는 조직만의 '신의 한 수'를 만들어낼 수 있는 인재를 키우는 것입니다.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609600" y="62865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7E8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</a:t>
            </a: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우리 조직만의 '신의 한 수'를 찾기 위한 여정을 시작해야 합니다.</a:t>
            </a:r>
            <a:endParaRPr lang="en-US" sz="18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367704C1-33CD-EAC2-D653-BF4ADF8A2B68}"/>
              </a:ext>
            </a:extLst>
          </p:cNvPr>
          <p:cNvSpPr/>
          <p:nvPr/>
        </p:nvSpPr>
        <p:spPr>
          <a:xfrm>
            <a:off x="11173063" y="6517427"/>
            <a:ext cx="818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2025-10-09</a:t>
            </a:r>
            <a:endParaRPr lang="en-US" sz="10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3887EBC-D7F1-4F7E-421A-11934C169BF7}"/>
              </a:ext>
            </a:extLst>
          </p:cNvPr>
          <p:cNvSpPr/>
          <p:nvPr/>
        </p:nvSpPr>
        <p:spPr>
          <a:xfrm>
            <a:off x="497681" y="6517427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 개인과 기업의 성장 및 생존 전략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21463</TotalTime>
  <Words>4193</Words>
  <Application>Microsoft Macintosh PowerPoint</Application>
  <PresentationFormat>와이드스크린</PresentationFormat>
  <Paragraphs>478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Taejun Heo</cp:lastModifiedBy>
  <cp:revision>631</cp:revision>
  <dcterms:created xsi:type="dcterms:W3CDTF">2025-10-06T12:21:04Z</dcterms:created>
  <dcterms:modified xsi:type="dcterms:W3CDTF">2025-10-22T13:29:08Z</dcterms:modified>
</cp:coreProperties>
</file>